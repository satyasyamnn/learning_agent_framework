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2" r:id="rId2"/>
  </p:sldMasterIdLst>
  <p:notesMasterIdLst>
    <p:notesMasterId r:id="rId18"/>
  </p:notesMasterIdLst>
  <p:sldIdLst>
    <p:sldId id="256" r:id="rId3"/>
    <p:sldId id="440" r:id="rId4"/>
    <p:sldId id="435" r:id="rId5"/>
    <p:sldId id="332" r:id="rId6"/>
    <p:sldId id="259" r:id="rId7"/>
    <p:sldId id="445" r:id="rId8"/>
    <p:sldId id="454" r:id="rId9"/>
    <p:sldId id="447" r:id="rId10"/>
    <p:sldId id="463" r:id="rId11"/>
    <p:sldId id="464" r:id="rId12"/>
    <p:sldId id="476" r:id="rId13"/>
    <p:sldId id="365" r:id="rId14"/>
    <p:sldId id="467" r:id="rId15"/>
    <p:sldId id="473" r:id="rId16"/>
    <p:sldId id="48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4" d="100"/>
          <a:sy n="94" d="100"/>
        </p:scale>
        <p:origin x="40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02510-270C-494D-A8D0-193A3EB52C09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601A3E-DC76-4FBF-ADD7-F791ECB5C8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038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108265" tIns="54132" rIns="108265" bIns="5413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108265" tIns="54132" rIns="108265" bIns="54132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4135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0CFC0-E1B2-F239-D63B-0A09376C12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BED3CD-5D97-61DA-B616-7FA61B3DA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6BA92-0642-E70C-7498-C84A78E64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30267-8EA6-DB6D-A833-CBEDA3EBA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DCA1B-C8D2-1C8C-AFC8-F3D4F26D8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0959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D0DDE-1122-32F1-2F6D-3999C4E3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45B67-7B35-A355-3C68-84A69CD607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4BEB0-2ACE-985B-EDBD-BFD7660E0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5114D-83E5-B8D2-04C1-9E067860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D9B1C-2339-81E3-1B65-2BCC10201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44855-ADCF-1844-A80B-70AA64D2D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18AE2-47A2-2EB9-C906-88F5D9C27B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AF750-8F95-72BB-6344-40071712F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59DAC-7CAF-F2B3-C90C-BB36E2ADE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CFB5-45DF-87BF-B3A9-3D2D643C9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3445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39774-4E05-DCBD-1039-4E25FD159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DA012-3540-F966-287A-3EBB4420C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93CF5-8BDE-E981-45BC-4FC978ABB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C38EC3-3433-0205-5808-2CC62F54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D5CD0-A5C6-AAC9-FD56-3CCF1F3AB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0D436F-F6B5-6BB9-1DAF-CC8D33A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826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403D7-9B22-66B1-07FA-944549494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5D3215-28DE-C2B7-6956-F8EA60383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3211D5-1D6E-A3DB-5782-8B3CDA4CF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752EC-8F22-E85A-75AF-468AD2B42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7066-8AE9-776A-1DBC-77C1C17D9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86022-A146-D12C-1E9B-D1946EE6B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369A84-BAB8-5C91-173F-B8FCDD594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27C987-E439-BF3B-F107-51D15FB88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955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E7EDE-2052-F4DE-03D5-6A599985A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F9EE9B-2E28-F3FC-2F61-2D82C611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299C9-53C3-7623-ABB5-8425945AD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221FF8-B8E6-B78B-8C5D-66F62FA2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9768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9A1842-C076-4732-68DE-FB20F8732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728B7-5816-0D6E-BA4E-06D1E979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0215A-0B7A-A2F7-FA4A-E807718E0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8297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D6942-F288-E69F-8181-1F3C4E852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111B4-7689-13B8-F1E6-DDA366A4CD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F8A65-BE5C-F5E3-77C0-5F3F759D6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8F00A-1233-A8E4-DF18-5A2B9C6B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9E302-478B-08E4-DFDE-3ADAE27D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1B82D-802A-1109-33A6-EEB7D2179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43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9E390-1D91-C8C6-BD41-AB8828D00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8CA6F9-8F2B-5FF6-A1D4-3CA9CCD94E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24D52-5B4A-5D0B-A603-AFB6C55F5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C079ED-37B2-E24E-B521-F79F216B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42B6F-7DDF-E44F-A696-4C0D6A364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98101-514E-55D0-8933-28A10328F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3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041E3-2FC5-18B3-A309-BE8EAC75C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B54BC-9670-BBA6-5C6A-A4CB4637B4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59E0E-7B16-76FC-98CC-F8C6C60E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4FE95-F76C-6FBF-20AF-E24445EB4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34E783-A4B4-1FB9-2715-73AA85D02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416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704F52-D3F5-A6C9-8D63-24CE8D12C7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023D55-3DDD-C89C-52C3-21C35800A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EDEDD-4C25-436C-DFF3-5E6B6D479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DF087-9649-8C44-0889-0E579229C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D70878-DED3-F7D8-3AD7-01E66C92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445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3530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DD76C-8FDB-4F21-0FBC-76A7D769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046E2-CCCC-95DD-BCFA-CB08CEC205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5CA04-1675-6373-27F2-D80D58D0E8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335A2-7F5B-480A-91D3-B4A6105BFEAD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6FBD97-2FB0-8B95-4AE3-9284735160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07CD9-3D3F-0741-3F4A-09CA383B1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FD8E77-BA19-4E37-8E1E-4BAEBD7E77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2991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1376" cy="6858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046720" y="-1463040"/>
            <a:ext cx="5852160" cy="5852160"/>
          </a:xfrm>
          <a:prstGeom prst="ellipse">
            <a:avLst/>
          </a:prstGeom>
          <a:solidFill>
            <a:srgbClr val="0078D4">
              <a:alpha val="13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753600" y="3657600"/>
            <a:ext cx="3413760" cy="3413760"/>
          </a:xfrm>
          <a:prstGeom prst="ellipse">
            <a:avLst/>
          </a:prstGeom>
          <a:solidFill>
            <a:srgbClr val="00B4D8">
              <a:alpha val="18000"/>
            </a:srgbClr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670560"/>
            <a:ext cx="7559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267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2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194816"/>
            <a:ext cx="75590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</a:t>
            </a:r>
            <a:endParaRPr lang="en-US" sz="6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31520" y="2779776"/>
            <a:ext cx="6705600" cy="487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901696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133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.NET Core &amp; C# Developer's Guide</a:t>
            </a:r>
            <a:endParaRPr lang="en-US" sz="2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3621024"/>
            <a:ext cx="755904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Microsoft Learn Docs  ·   Microsoft GitHub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9184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29184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52160" y="4206240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852160" y="4255008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3152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29184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29184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52160" y="4730496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852160" y="4779264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1520" y="5254752"/>
            <a:ext cx="2340864" cy="402336"/>
          </a:xfrm>
          <a:prstGeom prst="rect">
            <a:avLst/>
          </a:prstGeom>
          <a:solidFill>
            <a:srgbClr val="2B88D8">
              <a:alpha val="40000"/>
            </a:srgbClr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31520" y="5303520"/>
            <a:ext cx="23408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2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0720" y="1158240"/>
            <a:ext cx="2560320" cy="25603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 ·    Successor to Semantic Kernel &amp; AutoGen  ·  github.com/microsoft/agent-framework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LLM Fundamentals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How LLMs work, what they excel at, and where they need help</a:t>
            </a:r>
          </a:p>
        </p:txBody>
      </p:sp>
      <p:sp>
        <p:nvSpPr>
          <p:cNvPr id="104" name="DefBannerBg"/>
          <p:cNvSpPr>
            <a:spLocks noGrp="1"/>
          </p:cNvSpPr>
          <p:nvPr/>
        </p:nvSpPr>
        <p:spPr>
          <a:xfrm>
            <a:off x="338667" y="1286933"/>
            <a:ext cx="11514667" cy="508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DefAccent"/>
          <p:cNvSpPr>
            <a:spLocks noGrp="1"/>
          </p:cNvSpPr>
          <p:nvPr/>
        </p:nvSpPr>
        <p:spPr>
          <a:xfrm>
            <a:off x="338667" y="1238553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DefText"/>
          <p:cNvSpPr>
            <a:spLocks noGrp="1"/>
          </p:cNvSpPr>
          <p:nvPr/>
        </p:nvSpPr>
        <p:spPr>
          <a:xfrm>
            <a:off x="508000" y="1238553"/>
            <a:ext cx="11311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an LLM? 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Large Language Model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— neural network trained on massive text; splits input into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→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attention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 weighs context → predicts </a:t>
            </a: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next token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, one at a time.</a:t>
            </a:r>
          </a:p>
        </p:txBody>
      </p:sp>
      <p:sp>
        <p:nvSpPr>
          <p:cNvPr id="110" name="SecABg"/>
          <p:cNvSpPr>
            <a:spLocks noGrp="1"/>
          </p:cNvSpPr>
          <p:nvPr/>
        </p:nvSpPr>
        <p:spPr>
          <a:xfrm>
            <a:off x="338667" y="1788887"/>
            <a:ext cx="11514667" cy="237067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00" dirty="0">
                <a:solidFill>
                  <a:srgbClr val="C7E0F4"/>
                </a:solidFill>
                <a:latin typeface="Calibri" pitchFamily="34" charset="0"/>
              </a:rPr>
              <a:t>HOW LLMs WORK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338667" y="2074333"/>
            <a:ext cx="2743200" cy="15240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338667" y="2074333"/>
            <a:ext cx="84667" cy="1524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49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Tokens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Sub-word units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words, subwords, chars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Context window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max tokens per request (4K–1M+)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78D4"/>
                </a:solidFill>
                <a:latin typeface="Calibri" pitchFamily="34" charset="0"/>
              </a:rPr>
              <a:t>Cost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priced per token (input + output)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6265333" y="2074333"/>
            <a:ext cx="2743200" cy="1524000"/>
          </a:xfrm>
          <a:prstGeom prst="rect">
            <a:avLst/>
          </a:prstGeom>
          <a:solidFill>
            <a:srgbClr val="E6F4F3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6265333" y="2074333"/>
            <a:ext cx="84667" cy="1524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6417733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Transformer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Decoder-only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GPT-family uses the decoder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Self-attention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weigh each other for context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008272"/>
                </a:solidFill>
                <a:latin typeface="Calibri" pitchFamily="34" charset="0"/>
              </a:rPr>
              <a:t>Parallel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replaces sequential recurrence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9228667" y="2074333"/>
            <a:ext cx="2743200" cy="1524000"/>
          </a:xfrm>
          <a:prstGeom prst="rect">
            <a:avLst/>
          </a:prstGeom>
          <a:solidFill>
            <a:srgbClr val="F5EEF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9228667" y="2074333"/>
            <a:ext cx="84667" cy="1524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9381067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Inference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Autoregressive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one token generated at a time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Streaming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tokens sent as produced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7B2D8B"/>
                </a:solidFill>
                <a:latin typeface="Calibri" pitchFamily="34" charset="0"/>
              </a:rPr>
              <a:t>Temperature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controls randomness (0–1)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89467" y="6485467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 learn.microsoft.com/en-us/agent-framework</a:t>
            </a:r>
          </a:p>
        </p:txBody>
      </p:sp>
      <p:sp>
        <p:nvSpPr>
          <p:cNvPr id="230" name="Card230Bg"/>
          <p:cNvSpPr>
            <a:spLocks noGrp="1"/>
          </p:cNvSpPr>
          <p:nvPr/>
        </p:nvSpPr>
        <p:spPr>
          <a:xfrm>
            <a:off x="3302000" y="2074333"/>
            <a:ext cx="2743200" cy="1524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1" name="Card230Stripe"/>
          <p:cNvSpPr>
            <a:spLocks noGrp="1"/>
          </p:cNvSpPr>
          <p:nvPr/>
        </p:nvSpPr>
        <p:spPr>
          <a:xfrm>
            <a:off x="3302000" y="2074333"/>
            <a:ext cx="84667" cy="152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2" name="Card230Text"/>
          <p:cNvSpPr>
            <a:spLocks noGrp="1"/>
          </p:cNvSpPr>
          <p:nvPr/>
        </p:nvSpPr>
        <p:spPr>
          <a:xfrm>
            <a:off x="3454400" y="2159000"/>
            <a:ext cx="2523067" cy="1354667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 fontScale="92500" lnSpcReduction="10000"/>
          </a:bodyPr>
          <a:lstStyle/>
          <a:p>
            <a:pPr defTabSz="1219170"/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Training Stages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Pre-training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next-token prediction on web-scale text; produces a base model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Post-training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fine-tunes on curated examples; human feedback aligns to preferences</a:t>
            </a:r>
          </a:p>
          <a:p>
            <a:pPr defTabSz="1219170">
              <a:spcBef>
                <a:spcPts val="160"/>
              </a:spcBef>
            </a:pPr>
            <a:r>
              <a:rPr lang="en-US" sz="1093" b="1" dirty="0">
                <a:solidFill>
                  <a:srgbClr val="E65100"/>
                </a:solidFill>
                <a:latin typeface="Calibri" pitchFamily="34" charset="0"/>
              </a:rPr>
              <a:t>Reasoning RL</a:t>
            </a:r>
            <a:r>
              <a:rPr lang="en-US" sz="1040" dirty="0">
                <a:solidFill>
                  <a:srgbClr val="4A5568"/>
                </a:solidFill>
                <a:latin typeface="Calibri" pitchFamily="34" charset="0"/>
              </a:rPr>
              <a:t> — chain-of-thought RL; powers o-series reasoning models</a:t>
            </a:r>
          </a:p>
        </p:txBody>
      </p:sp>
      <p:sp>
        <p:nvSpPr>
          <p:cNvPr id="300" name="SecBBg"/>
          <p:cNvSpPr>
            <a:spLocks noGrp="1"/>
          </p:cNvSpPr>
          <p:nvPr/>
        </p:nvSpPr>
        <p:spPr>
          <a:xfrm>
            <a:off x="355600" y="3655181"/>
            <a:ext cx="115146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067" b="1" spc="267" dirty="0">
                <a:solidFill>
                  <a:srgbClr val="C7E0F4"/>
                </a:solidFill>
                <a:latin typeface="Calibri" pitchFamily="34" charset="0"/>
              </a:rPr>
              <a:t>LLM CAPABILITIES  ·  LIMITATIONS  ·  WHY THE AGENT FRAMEWORK EXISTS</a:t>
            </a:r>
          </a:p>
        </p:txBody>
      </p:sp>
      <p:sp>
        <p:nvSpPr>
          <p:cNvPr id="311" name="HdrLeft"/>
          <p:cNvSpPr>
            <a:spLocks noGrp="1"/>
          </p:cNvSpPr>
          <p:nvPr/>
        </p:nvSpPr>
        <p:spPr>
          <a:xfrm>
            <a:off x="355600" y="3877733"/>
            <a:ext cx="3708400" cy="203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✓  What LLMs Excel At</a:t>
            </a:r>
          </a:p>
        </p:txBody>
      </p:sp>
      <p:sp>
        <p:nvSpPr>
          <p:cNvPr id="312" name="HdrMid"/>
          <p:cNvSpPr>
            <a:spLocks noGrp="1"/>
          </p:cNvSpPr>
          <p:nvPr/>
        </p:nvSpPr>
        <p:spPr>
          <a:xfrm>
            <a:off x="4064000" y="3877733"/>
            <a:ext cx="3742267" cy="203200"/>
          </a:xfrm>
          <a:prstGeom prst="rect">
            <a:avLst/>
          </a:prstGeom>
          <a:solidFill>
            <a:srgbClr val="C7380A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⚠  LLM Limitation</a:t>
            </a:r>
          </a:p>
        </p:txBody>
      </p:sp>
      <p:sp>
        <p:nvSpPr>
          <p:cNvPr id="314" name="HdrArrow"/>
          <p:cNvSpPr>
            <a:spLocks noGrp="1"/>
          </p:cNvSpPr>
          <p:nvPr/>
        </p:nvSpPr>
        <p:spPr>
          <a:xfrm>
            <a:off x="7806267" y="3877734"/>
            <a:ext cx="372533" cy="2201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313" name="HdrRight"/>
          <p:cNvSpPr>
            <a:spLocks noGrp="1"/>
          </p:cNvSpPr>
          <p:nvPr/>
        </p:nvSpPr>
        <p:spPr>
          <a:xfrm>
            <a:off x="8178800" y="3877734"/>
            <a:ext cx="3691467" cy="220133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FFFFFF"/>
                </a:solidFill>
                <a:latin typeface="Calibri" pitchFamily="34" charset="0"/>
              </a:rPr>
              <a:t>⚡  Agent Framework Solves This</a:t>
            </a:r>
          </a:p>
        </p:txBody>
      </p:sp>
      <p:sp>
        <p:nvSpPr>
          <p:cNvPr id="400" name="Row0Bg"/>
          <p:cNvSpPr>
            <a:spLocks noGrp="1"/>
          </p:cNvSpPr>
          <p:nvPr/>
        </p:nvSpPr>
        <p:spPr>
          <a:xfrm>
            <a:off x="355600" y="4097867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1" name="Cell0_cap"/>
          <p:cNvSpPr>
            <a:spLocks noGrp="1"/>
          </p:cNvSpPr>
          <p:nvPr/>
        </p:nvSpPr>
        <p:spPr>
          <a:xfrm>
            <a:off x="423333" y="40978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Reasoning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analyze and compare options</a:t>
            </a:r>
          </a:p>
        </p:txBody>
      </p:sp>
      <p:sp>
        <p:nvSpPr>
          <p:cNvPr id="402" name="Cell0_lim"/>
          <p:cNvSpPr>
            <a:spLocks noGrp="1"/>
          </p:cNvSpPr>
          <p:nvPr/>
        </p:nvSpPr>
        <p:spPr>
          <a:xfrm>
            <a:off x="4047067" y="40978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Hallucinations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confident but factually wrong</a:t>
            </a:r>
          </a:p>
        </p:txBody>
      </p:sp>
      <p:sp>
        <p:nvSpPr>
          <p:cNvPr id="403" name="Cell0_arrow"/>
          <p:cNvSpPr>
            <a:spLocks noGrp="1"/>
          </p:cNvSpPr>
          <p:nvPr/>
        </p:nvSpPr>
        <p:spPr>
          <a:xfrm>
            <a:off x="7806267" y="40978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04" name="Cell0_sol"/>
          <p:cNvSpPr>
            <a:spLocks noGrp="1"/>
          </p:cNvSpPr>
          <p:nvPr/>
        </p:nvSpPr>
        <p:spPr>
          <a:xfrm>
            <a:off x="8178800" y="40978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Grounding tools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retrieval (RAG) pins answers to verified sources</a:t>
            </a:r>
          </a:p>
        </p:txBody>
      </p:sp>
      <p:sp>
        <p:nvSpPr>
          <p:cNvPr id="410" name="Row1Bg"/>
          <p:cNvSpPr>
            <a:spLocks noGrp="1"/>
          </p:cNvSpPr>
          <p:nvPr/>
        </p:nvSpPr>
        <p:spPr>
          <a:xfrm>
            <a:off x="355600" y="4470400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1" name="Cell1_cap"/>
          <p:cNvSpPr>
            <a:spLocks noGrp="1"/>
          </p:cNvSpPr>
          <p:nvPr/>
        </p:nvSpPr>
        <p:spPr>
          <a:xfrm>
            <a:off x="423333" y="44704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Generation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articles, emails, code</a:t>
            </a:r>
          </a:p>
        </p:txBody>
      </p:sp>
      <p:sp>
        <p:nvSpPr>
          <p:cNvPr id="412" name="Cell1_lim"/>
          <p:cNvSpPr>
            <a:spLocks noGrp="1"/>
          </p:cNvSpPr>
          <p:nvPr/>
        </p:nvSpPr>
        <p:spPr>
          <a:xfrm>
            <a:off x="4047067" y="44704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 real-time data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knowledge stops at training cutoff</a:t>
            </a:r>
          </a:p>
        </p:txBody>
      </p:sp>
      <p:sp>
        <p:nvSpPr>
          <p:cNvPr id="413" name="Cell1_arrow"/>
          <p:cNvSpPr>
            <a:spLocks noGrp="1"/>
          </p:cNvSpPr>
          <p:nvPr/>
        </p:nvSpPr>
        <p:spPr>
          <a:xfrm>
            <a:off x="7806267" y="44704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14" name="Cell1_sol"/>
          <p:cNvSpPr>
            <a:spLocks noGrp="1"/>
          </p:cNvSpPr>
          <p:nvPr/>
        </p:nvSpPr>
        <p:spPr>
          <a:xfrm>
            <a:off x="8178800" y="44704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Live tool calls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MCP/functions fetch current data on every request</a:t>
            </a:r>
          </a:p>
        </p:txBody>
      </p:sp>
      <p:sp>
        <p:nvSpPr>
          <p:cNvPr id="420" name="Row2Bg"/>
          <p:cNvSpPr>
            <a:spLocks noGrp="1"/>
          </p:cNvSpPr>
          <p:nvPr/>
        </p:nvSpPr>
        <p:spPr>
          <a:xfrm>
            <a:off x="355600" y="4842934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1" name="Cell2_cap"/>
          <p:cNvSpPr>
            <a:spLocks noGrp="1"/>
          </p:cNvSpPr>
          <p:nvPr/>
        </p:nvSpPr>
        <p:spPr>
          <a:xfrm>
            <a:off x="423333" y="48429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Summarization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distill long docs to key points</a:t>
            </a:r>
          </a:p>
        </p:txBody>
      </p:sp>
      <p:sp>
        <p:nvSpPr>
          <p:cNvPr id="422" name="Cell2_lim"/>
          <p:cNvSpPr>
            <a:spLocks noGrp="1"/>
          </p:cNvSpPr>
          <p:nvPr/>
        </p:nvSpPr>
        <p:spPr>
          <a:xfrm>
            <a:off x="4047067" y="48429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Stateless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no memory across calls</a:t>
            </a:r>
          </a:p>
        </p:txBody>
      </p:sp>
      <p:sp>
        <p:nvSpPr>
          <p:cNvPr id="423" name="Cell2_arrow"/>
          <p:cNvSpPr>
            <a:spLocks noGrp="1"/>
          </p:cNvSpPr>
          <p:nvPr/>
        </p:nvSpPr>
        <p:spPr>
          <a:xfrm>
            <a:off x="7806267" y="48429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24" name="Cell2_sol"/>
          <p:cNvSpPr>
            <a:spLocks noGrp="1"/>
          </p:cNvSpPr>
          <p:nvPr/>
        </p:nvSpPr>
        <p:spPr>
          <a:xfrm>
            <a:off x="8178800" y="48429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Session memory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framework persists context across the full conversation</a:t>
            </a:r>
          </a:p>
        </p:txBody>
      </p:sp>
      <p:sp>
        <p:nvSpPr>
          <p:cNvPr id="430" name="Row3Bg"/>
          <p:cNvSpPr>
            <a:spLocks noGrp="1"/>
          </p:cNvSpPr>
          <p:nvPr/>
        </p:nvSpPr>
        <p:spPr>
          <a:xfrm>
            <a:off x="355600" y="5215467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1" name="Cell3_cap"/>
          <p:cNvSpPr>
            <a:spLocks noGrp="1"/>
          </p:cNvSpPr>
          <p:nvPr/>
        </p:nvSpPr>
        <p:spPr>
          <a:xfrm>
            <a:off x="423333" y="5215467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Code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write, explain, debug</a:t>
            </a:r>
          </a:p>
        </p:txBody>
      </p:sp>
      <p:sp>
        <p:nvSpPr>
          <p:cNvPr id="432" name="Cell3_lim"/>
          <p:cNvSpPr>
            <a:spLocks noGrp="1"/>
          </p:cNvSpPr>
          <p:nvPr/>
        </p:nvSpPr>
        <p:spPr>
          <a:xfrm>
            <a:off x="4047067" y="5215467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Cannot act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generates text only, can't run code or APIs</a:t>
            </a:r>
          </a:p>
        </p:txBody>
      </p:sp>
      <p:sp>
        <p:nvSpPr>
          <p:cNvPr id="433" name="Cell3_arrow"/>
          <p:cNvSpPr>
            <a:spLocks noGrp="1"/>
          </p:cNvSpPr>
          <p:nvPr/>
        </p:nvSpPr>
        <p:spPr>
          <a:xfrm>
            <a:off x="7806267" y="5215467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34" name="Cell3_sol"/>
          <p:cNvSpPr>
            <a:spLocks noGrp="1"/>
          </p:cNvSpPr>
          <p:nvPr/>
        </p:nvSpPr>
        <p:spPr>
          <a:xfrm>
            <a:off x="8178800" y="5215467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Actions + approvals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execute functions with human-in-the-loop controls</a:t>
            </a:r>
          </a:p>
        </p:txBody>
      </p:sp>
      <p:sp>
        <p:nvSpPr>
          <p:cNvPr id="440" name="Row4Bg"/>
          <p:cNvSpPr>
            <a:spLocks noGrp="1"/>
          </p:cNvSpPr>
          <p:nvPr/>
        </p:nvSpPr>
        <p:spPr>
          <a:xfrm>
            <a:off x="355600" y="5588000"/>
            <a:ext cx="11514667" cy="372533"/>
          </a:xfrm>
          <a:prstGeom prst="rect">
            <a:avLst/>
          </a:prstGeom>
          <a:solidFill>
            <a:srgbClr val="FFFFFF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41" name="Cell4_cap"/>
          <p:cNvSpPr>
            <a:spLocks noGrp="1"/>
          </p:cNvSpPr>
          <p:nvPr/>
        </p:nvSpPr>
        <p:spPr>
          <a:xfrm>
            <a:off x="423333" y="5588000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Translation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convert languages and formats</a:t>
            </a:r>
          </a:p>
        </p:txBody>
      </p:sp>
      <p:sp>
        <p:nvSpPr>
          <p:cNvPr id="442" name="Cell4_lim"/>
          <p:cNvSpPr>
            <a:spLocks noGrp="1"/>
          </p:cNvSpPr>
          <p:nvPr/>
        </p:nvSpPr>
        <p:spPr>
          <a:xfrm>
            <a:off x="4047067" y="5588000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Non-deterministic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same prompt yields different results</a:t>
            </a:r>
          </a:p>
        </p:txBody>
      </p:sp>
      <p:sp>
        <p:nvSpPr>
          <p:cNvPr id="443" name="Cell4_arrow"/>
          <p:cNvSpPr>
            <a:spLocks noGrp="1"/>
          </p:cNvSpPr>
          <p:nvPr/>
        </p:nvSpPr>
        <p:spPr>
          <a:xfrm>
            <a:off x="7806267" y="5588000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44" name="Cell4_sol"/>
          <p:cNvSpPr>
            <a:spLocks noGrp="1"/>
          </p:cNvSpPr>
          <p:nvPr/>
        </p:nvSpPr>
        <p:spPr>
          <a:xfrm>
            <a:off x="8178800" y="5588000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Instructions + retry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system prompt locks behavior; middleware enforces consistency</a:t>
            </a:r>
          </a:p>
        </p:txBody>
      </p:sp>
      <p:sp>
        <p:nvSpPr>
          <p:cNvPr id="450" name="Row5Bg"/>
          <p:cNvSpPr>
            <a:spLocks noGrp="1"/>
          </p:cNvSpPr>
          <p:nvPr/>
        </p:nvSpPr>
        <p:spPr>
          <a:xfrm>
            <a:off x="355600" y="5960534"/>
            <a:ext cx="11514667" cy="372533"/>
          </a:xfrm>
          <a:prstGeom prst="rect">
            <a:avLst/>
          </a:prstGeom>
          <a:solidFill>
            <a:srgbClr val="F8FAFC"/>
          </a:solidFill>
          <a:ln w="4572">
            <a:solidFill>
              <a:srgbClr val="E2E8F0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51" name="Cell5_cap"/>
          <p:cNvSpPr>
            <a:spLocks noGrp="1"/>
          </p:cNvSpPr>
          <p:nvPr/>
        </p:nvSpPr>
        <p:spPr>
          <a:xfrm>
            <a:off x="423333" y="5960534"/>
            <a:ext cx="3081867" cy="37253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067" b="1" dirty="0">
                <a:solidFill>
                  <a:srgbClr val="006B3C"/>
                </a:solidFill>
                <a:latin typeface="Calibri" pitchFamily="34" charset="0"/>
              </a:rPr>
              <a:t>Classification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categorize and extract data</a:t>
            </a:r>
          </a:p>
        </p:txBody>
      </p:sp>
      <p:sp>
        <p:nvSpPr>
          <p:cNvPr id="452" name="Cell5_lim"/>
          <p:cNvSpPr>
            <a:spLocks noGrp="1"/>
          </p:cNvSpPr>
          <p:nvPr/>
        </p:nvSpPr>
        <p:spPr>
          <a:xfrm>
            <a:off x="4047067" y="5960534"/>
            <a:ext cx="3759200" cy="372533"/>
          </a:xfrm>
          <a:prstGeom prst="rect">
            <a:avLst/>
          </a:prstGeom>
          <a:solidFill>
            <a:srgbClr val="FFF8F6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C7380A"/>
                </a:solidFill>
                <a:latin typeface="Calibri" pitchFamily="34" charset="0"/>
              </a:rPr>
              <a:t>Single model lock-in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hard to switch LLM providers</a:t>
            </a:r>
          </a:p>
        </p:txBody>
      </p:sp>
      <p:sp>
        <p:nvSpPr>
          <p:cNvPr id="453" name="Cell5_arrow"/>
          <p:cNvSpPr>
            <a:spLocks noGrp="1"/>
          </p:cNvSpPr>
          <p:nvPr/>
        </p:nvSpPr>
        <p:spPr>
          <a:xfrm>
            <a:off x="7806267" y="5960534"/>
            <a:ext cx="372533" cy="372533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454" name="Cell5_sol"/>
          <p:cNvSpPr>
            <a:spLocks noGrp="1"/>
          </p:cNvSpPr>
          <p:nvPr/>
        </p:nvSpPr>
        <p:spPr>
          <a:xfrm>
            <a:off x="8178800" y="5960534"/>
            <a:ext cx="3691467" cy="372533"/>
          </a:xfrm>
          <a:prstGeom prst="rect">
            <a:avLst/>
          </a:prstGeom>
          <a:solidFill>
            <a:srgbClr val="F8F4FF"/>
          </a:solidFill>
          <a:ln>
            <a:noFill/>
          </a:ln>
        </p:spPr>
        <p:txBody>
          <a:bodyPr anchor="ctr"/>
          <a:lstStyle/>
          <a:p>
            <a:pPr marL="67732" defTabSz="1219170"/>
            <a:r>
              <a:rPr lang="en-US" sz="1067" b="1" dirty="0">
                <a:solidFill>
                  <a:srgbClr val="5C2D91"/>
                </a:solidFill>
                <a:latin typeface="Calibri" pitchFamily="34" charset="0"/>
              </a:rPr>
              <a:t>Provider-agnostic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 — swap GPT → Gemini → Claude with zero code changes</a:t>
            </a:r>
          </a:p>
        </p:txBody>
      </p:sp>
      <p:sp>
        <p:nvSpPr>
          <p:cNvPr id="320" name="LeftAccent"/>
          <p:cNvSpPr>
            <a:spLocks noGrp="1"/>
          </p:cNvSpPr>
          <p:nvPr/>
        </p:nvSpPr>
        <p:spPr>
          <a:xfrm>
            <a:off x="355600" y="4097867"/>
            <a:ext cx="50800" cy="2235200"/>
          </a:xfrm>
          <a:prstGeom prst="rect">
            <a:avLst/>
          </a:prstGeom>
          <a:solidFill>
            <a:srgbClr val="006B3C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1" name="RightAccent"/>
          <p:cNvSpPr>
            <a:spLocks noGrp="1"/>
          </p:cNvSpPr>
          <p:nvPr/>
        </p:nvSpPr>
        <p:spPr>
          <a:xfrm>
            <a:off x="8178800" y="4097867"/>
            <a:ext cx="50800" cy="2235200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2" name="DivL"/>
          <p:cNvSpPr>
            <a:spLocks noGrp="1"/>
          </p:cNvSpPr>
          <p:nvPr/>
        </p:nvSpPr>
        <p:spPr>
          <a:xfrm>
            <a:off x="4047067" y="4097867"/>
            <a:ext cx="16933" cy="223520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02" name="Graphic 902" descr="Tokens — text/documen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9334" y="2125134"/>
            <a:ext cx="270933" cy="270933"/>
          </a:xfrm>
          <a:prstGeom prst="rect">
            <a:avLst/>
          </a:prstGeom>
        </p:spPr>
      </p:pic>
      <p:pic>
        <p:nvPicPr>
          <p:cNvPr id="903" name="Graphic 903" descr="Training Stages — database/data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2667" y="2125134"/>
            <a:ext cx="270933" cy="270933"/>
          </a:xfrm>
          <a:prstGeom prst="rect">
            <a:avLst/>
          </a:prstGeom>
        </p:spPr>
      </p:pic>
      <p:pic>
        <p:nvPicPr>
          <p:cNvPr id="904" name="Graphic 904" descr="Transformer — network/attention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36000" y="2125134"/>
            <a:ext cx="270933" cy="270933"/>
          </a:xfrm>
          <a:prstGeom prst="rect">
            <a:avLst/>
          </a:prstGeom>
        </p:spPr>
      </p:pic>
      <p:pic>
        <p:nvPicPr>
          <p:cNvPr id="905" name="Graphic 905" descr="Inference — chat/output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99334" y="2125134"/>
            <a:ext cx="270933" cy="270933"/>
          </a:xfrm>
          <a:prstGeom prst="rect">
            <a:avLst/>
          </a:prstGeom>
        </p:spPr>
      </p:pic>
      <p:pic>
        <p:nvPicPr>
          <p:cNvPr id="906" name="Graphic 906" descr="Excel At — lightbulb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68133" y="3894667"/>
            <a:ext cx="186267" cy="186267"/>
          </a:xfrm>
          <a:prstGeom prst="rect">
            <a:avLst/>
          </a:prstGeom>
        </p:spPr>
      </p:pic>
      <p:pic>
        <p:nvPicPr>
          <p:cNvPr id="907" name="Graphic 907" descr="Agent Framework — network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700933" y="3894667"/>
            <a:ext cx="186267" cy="18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706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HeaderBg"/>
          <p:cNvSpPr>
            <a:spLocks noGrp="1"/>
          </p:cNvSpPr>
          <p:nvPr/>
        </p:nvSpPr>
        <p:spPr>
          <a:xfrm>
            <a:off x="0" y="0"/>
            <a:ext cx="12192000" cy="8805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AccentStripe"/>
          <p:cNvSpPr>
            <a:spLocks noGrp="1"/>
          </p:cNvSpPr>
          <p:nvPr/>
        </p:nvSpPr>
        <p:spPr>
          <a:xfrm>
            <a:off x="0" y="0"/>
            <a:ext cx="203200" cy="880533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3" name="HeaderTitle"/>
          <p:cNvSpPr>
            <a:spLocks noGrp="1"/>
          </p:cNvSpPr>
          <p:nvPr/>
        </p:nvSpPr>
        <p:spPr>
          <a:xfrm>
            <a:off x="338667" y="33867"/>
            <a:ext cx="11684000" cy="812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2933" b="1" dirty="0">
                <a:solidFill>
                  <a:srgbClr val="FFFFFF"/>
                </a:solidFill>
                <a:latin typeface="Calibri" pitchFamily="34" charset="0"/>
              </a:rPr>
              <a:t>Agent Fundamentals</a:t>
            </a:r>
          </a:p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The three pillars that turn an LLM into an autonomous AI agent</a:t>
            </a:r>
          </a:p>
        </p:txBody>
      </p:sp>
      <p:sp>
        <p:nvSpPr>
          <p:cNvPr id="110" name="DefBg"/>
          <p:cNvSpPr>
            <a:spLocks noGrp="1"/>
          </p:cNvSpPr>
          <p:nvPr/>
        </p:nvSpPr>
        <p:spPr>
          <a:xfrm>
            <a:off x="237067" y="914400"/>
            <a:ext cx="11717867" cy="50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DefAccent"/>
          <p:cNvSpPr>
            <a:spLocks noGrp="1"/>
          </p:cNvSpPr>
          <p:nvPr/>
        </p:nvSpPr>
        <p:spPr>
          <a:xfrm>
            <a:off x="237067" y="914400"/>
            <a:ext cx="84667" cy="50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2" name="DefText"/>
          <p:cNvSpPr>
            <a:spLocks noGrp="1"/>
          </p:cNvSpPr>
          <p:nvPr/>
        </p:nvSpPr>
        <p:spPr>
          <a:xfrm>
            <a:off x="389467" y="914400"/>
            <a:ext cx="11565467" cy="50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What is an AI Agent?  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An LLM augmented with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instructions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tools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, and </a:t>
            </a:r>
            <a:r>
              <a:rPr lang="en-US" sz="1333" b="1" dirty="0">
                <a:solidFill>
                  <a:srgbClr val="0F1F3D"/>
                </a:solidFill>
                <a:latin typeface="Calibri" pitchFamily="34" charset="0"/>
              </a:rPr>
              <a:t>memory</a:t>
            </a:r>
            <a:r>
              <a:rPr lang="en-US" sz="1333" dirty="0">
                <a:solidFill>
                  <a:srgbClr val="4A5568"/>
                </a:solidFill>
                <a:latin typeface="Calibri" pitchFamily="34" charset="0"/>
              </a:rPr>
              <a:t> that can perceive context, reason across steps, use tools, and act toward goals — all orchestrated by the Agent Framework.</a:t>
            </a:r>
          </a:p>
        </p:txBody>
      </p:sp>
      <p:sp>
        <p:nvSpPr>
          <p:cNvPr id="120" name="SecABg"/>
          <p:cNvSpPr>
            <a:spLocks noGrp="1"/>
          </p:cNvSpPr>
          <p:nvPr/>
        </p:nvSpPr>
        <p:spPr>
          <a:xfrm>
            <a:off x="237067" y="1482409"/>
            <a:ext cx="11717867" cy="203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/>
          <a:p>
            <a:pPr algn="ctr" defTabSz="1219170"/>
            <a:r>
              <a:rPr lang="en-US" sz="1200" b="1" spc="267" dirty="0">
                <a:solidFill>
                  <a:srgbClr val="C7E0F4"/>
                </a:solidFill>
                <a:latin typeface="Calibri" pitchFamily="34" charset="0"/>
              </a:rPr>
              <a:t>THE THREE PILLARS</a:t>
            </a:r>
          </a:p>
        </p:txBody>
      </p:sp>
      <p:sp>
        <p:nvSpPr>
          <p:cNvPr id="200" name="Card200Bg"/>
          <p:cNvSpPr>
            <a:spLocks noGrp="1"/>
          </p:cNvSpPr>
          <p:nvPr/>
        </p:nvSpPr>
        <p:spPr>
          <a:xfrm>
            <a:off x="237067" y="1740644"/>
            <a:ext cx="3793067" cy="1778000"/>
          </a:xfrm>
          <a:prstGeom prst="rect">
            <a:avLst/>
          </a:prstGeom>
          <a:solidFill>
            <a:srgbClr val="EBF4FB"/>
          </a:solidFill>
          <a:ln w="9144">
            <a:solidFill>
              <a:srgbClr val="0078D4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1" name="Card200Stripe"/>
          <p:cNvSpPr>
            <a:spLocks noGrp="1"/>
          </p:cNvSpPr>
          <p:nvPr/>
        </p:nvSpPr>
        <p:spPr>
          <a:xfrm>
            <a:off x="237067" y="1740644"/>
            <a:ext cx="84667" cy="177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2" name="Card200Text"/>
          <p:cNvSpPr>
            <a:spLocks noGrp="1"/>
          </p:cNvSpPr>
          <p:nvPr/>
        </p:nvSpPr>
        <p:spPr>
          <a:xfrm>
            <a:off x="3894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Reasoning &amp; Decision-Making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LLM-powered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understands language, context, intent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Goal-oriented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keeps track of objectives across steps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Adaptive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revises plan when new info arrives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78D4"/>
                </a:solidFill>
                <a:latin typeface="Calibri" pitchFamily="34" charset="0"/>
              </a:rPr>
              <a:t>Autonomous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decides next action without re-prompting</a:t>
            </a:r>
          </a:p>
        </p:txBody>
      </p:sp>
      <p:sp>
        <p:nvSpPr>
          <p:cNvPr id="210" name="Card210Bg"/>
          <p:cNvSpPr>
            <a:spLocks noGrp="1"/>
          </p:cNvSpPr>
          <p:nvPr/>
        </p:nvSpPr>
        <p:spPr>
          <a:xfrm>
            <a:off x="4199467" y="1740644"/>
            <a:ext cx="3793067" cy="1778000"/>
          </a:xfrm>
          <a:prstGeom prst="rect">
            <a:avLst/>
          </a:prstGeom>
          <a:solidFill>
            <a:srgbClr val="E6F4F2"/>
          </a:solidFill>
          <a:ln w="9144">
            <a:solidFill>
              <a:srgbClr val="008272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1" name="Card210Stripe"/>
          <p:cNvSpPr>
            <a:spLocks noGrp="1"/>
          </p:cNvSpPr>
          <p:nvPr/>
        </p:nvSpPr>
        <p:spPr>
          <a:xfrm>
            <a:off x="4199467" y="1740644"/>
            <a:ext cx="84667" cy="1778000"/>
          </a:xfrm>
          <a:prstGeom prst="rect">
            <a:avLst/>
          </a:prstGeom>
          <a:solidFill>
            <a:srgbClr val="008272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2" name="Card210Text"/>
          <p:cNvSpPr>
            <a:spLocks noGrp="1"/>
          </p:cNvSpPr>
          <p:nvPr/>
        </p:nvSpPr>
        <p:spPr>
          <a:xfrm>
            <a:off x="43518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Context Awareness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External data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pulls live info via tools and APIs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History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reads prior turns in the conversation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Memory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stores and retrieves long-term facts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008272"/>
                </a:solidFill>
                <a:latin typeface="Calibri" pitchFamily="34" charset="0"/>
              </a:rPr>
              <a:t>State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tracks what has been done in this session</a:t>
            </a:r>
          </a:p>
        </p:txBody>
      </p:sp>
      <p:sp>
        <p:nvSpPr>
          <p:cNvPr id="220" name="Card220Bg"/>
          <p:cNvSpPr>
            <a:spLocks noGrp="1"/>
          </p:cNvSpPr>
          <p:nvPr/>
        </p:nvSpPr>
        <p:spPr>
          <a:xfrm>
            <a:off x="8161867" y="1740644"/>
            <a:ext cx="3793067" cy="1778000"/>
          </a:xfrm>
          <a:prstGeom prst="rect">
            <a:avLst/>
          </a:prstGeom>
          <a:solidFill>
            <a:srgbClr val="F3E8F8"/>
          </a:solidFill>
          <a:ln w="9144">
            <a:solidFill>
              <a:srgbClr val="7B2D8B"/>
            </a:solidFill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1" name="Card220Stripe"/>
          <p:cNvSpPr>
            <a:spLocks noGrp="1"/>
          </p:cNvSpPr>
          <p:nvPr/>
        </p:nvSpPr>
        <p:spPr>
          <a:xfrm>
            <a:off x="8161867" y="1740644"/>
            <a:ext cx="84667" cy="1778000"/>
          </a:xfrm>
          <a:prstGeom prst="rect">
            <a:avLst/>
          </a:prstGeom>
          <a:solidFill>
            <a:srgbClr val="7B2D8B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2" name="Card220Text"/>
          <p:cNvSpPr>
            <a:spLocks noGrp="1"/>
          </p:cNvSpPr>
          <p:nvPr/>
        </p:nvSpPr>
        <p:spPr>
          <a:xfrm>
            <a:off x="8314267" y="1825311"/>
            <a:ext cx="3556000" cy="1642533"/>
          </a:xfrm>
          <a:prstGeom prst="rect">
            <a:avLst/>
          </a:prstGeom>
          <a:noFill/>
          <a:ln>
            <a:noFill/>
          </a:ln>
        </p:spPr>
        <p:txBody>
          <a:bodyPr anchor="t">
            <a:normAutofit/>
          </a:bodyPr>
          <a:lstStyle/>
          <a:p>
            <a:pPr defTabSz="1219170"/>
            <a:r>
              <a:rPr lang="en-US" sz="1400" b="1" dirty="0">
                <a:solidFill>
                  <a:srgbClr val="0F1F3D"/>
                </a:solidFill>
                <a:latin typeface="Calibri" pitchFamily="34" charset="0"/>
              </a:rPr>
              <a:t>Tool Usage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Function tools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call APIs, run code, read files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MCP integration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connect any MCP-compatible server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Extend not decide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tools do work; LLM chooses which</a:t>
            </a:r>
          </a:p>
          <a:p>
            <a:pPr defTabSz="1219170">
              <a:spcBef>
                <a:spcPts val="173"/>
              </a:spcBef>
            </a:pPr>
            <a:r>
              <a:rPr lang="en-US" sz="1133" b="1" dirty="0">
                <a:solidFill>
                  <a:srgbClr val="7B2D8B"/>
                </a:solidFill>
                <a:latin typeface="Calibri" pitchFamily="34" charset="0"/>
              </a:rPr>
              <a:t>Action chaining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 — multi-step sequences across tools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1" name="FooterText"/>
          <p:cNvSpPr>
            <a:spLocks noGrp="1"/>
          </p:cNvSpPr>
          <p:nvPr/>
        </p:nvSpPr>
        <p:spPr>
          <a:xfrm>
            <a:off x="338667" y="6400800"/>
            <a:ext cx="11514667" cy="457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defTabSz="1219170"/>
            <a:r>
              <a:rPr lang="en-US" sz="933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pic>
        <p:nvPicPr>
          <p:cNvPr id="902" name="Graphic 902" descr="Reasoning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49600" y="1774511"/>
            <a:ext cx="338667" cy="247891"/>
          </a:xfrm>
          <a:prstGeom prst="rect">
            <a:avLst/>
          </a:prstGeom>
        </p:spPr>
      </p:pic>
      <p:pic>
        <p:nvPicPr>
          <p:cNvPr id="903" name="Graphic 903" descr="Context awareness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12000" y="1774511"/>
            <a:ext cx="338667" cy="2478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E3B30BA-EFF7-4133-BDDC-20F33601984E}"/>
              </a:ext>
            </a:extLst>
          </p:cNvPr>
          <p:cNvSpPr txBox="1"/>
          <p:nvPr/>
        </p:nvSpPr>
        <p:spPr>
          <a:xfrm>
            <a:off x="237067" y="3586316"/>
            <a:ext cx="11717867" cy="220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anchor="ctr"/>
          <a:lstStyle>
            <a:lvl1pPr indent="0" algn="ctr">
              <a:buNone/>
              <a:defRPr sz="900" b="1" spc="200">
                <a:solidFill>
                  <a:srgbClr val="C7E0F4"/>
                </a:solidFill>
                <a:latin typeface="Calibri" pitchFamily="34" charset="0"/>
              </a:defRPr>
            </a:lvl1pPr>
          </a:lstStyle>
          <a:p>
            <a:pPr defTabSz="1219170"/>
            <a:r>
              <a:rPr lang="en-US" sz="1200" spc="267" dirty="0"/>
              <a:t>THE AGENT ABSTRACTION — FIVE CONFIGURABLE LAYERS</a:t>
            </a:r>
            <a:endParaRPr lang="en-IN" sz="1200" spc="267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F32046-8CE8-49CE-B481-7C225A25F42B}"/>
              </a:ext>
            </a:extLst>
          </p:cNvPr>
          <p:cNvSpPr/>
          <p:nvPr/>
        </p:nvSpPr>
        <p:spPr>
          <a:xfrm>
            <a:off x="237067" y="3857253"/>
            <a:ext cx="2235200" cy="2540000"/>
          </a:xfrm>
          <a:prstGeom prst="rect">
            <a:avLst/>
          </a:prstGeom>
          <a:solidFill>
            <a:srgbClr val="EBF4FB"/>
          </a:solidFill>
          <a:ln w="9525" cap="flat" cmpd="sng" algn="ctr">
            <a:solidFill>
              <a:srgbClr val="0078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AB1A15-665A-40F7-A7EC-2EE59A2B02AC}"/>
              </a:ext>
            </a:extLst>
          </p:cNvPr>
          <p:cNvSpPr/>
          <p:nvPr/>
        </p:nvSpPr>
        <p:spPr>
          <a:xfrm>
            <a:off x="237067" y="3857253"/>
            <a:ext cx="2235200" cy="84667"/>
          </a:xfrm>
          <a:prstGeom prst="rect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98848A-FF07-461F-AC6B-8109A69EA774}"/>
              </a:ext>
            </a:extLst>
          </p:cNvPr>
          <p:cNvSpPr/>
          <p:nvPr/>
        </p:nvSpPr>
        <p:spPr>
          <a:xfrm>
            <a:off x="1066800" y="4026587"/>
            <a:ext cx="575733" cy="575733"/>
          </a:xfrm>
          <a:prstGeom prst="ellipse">
            <a:avLst/>
          </a:prstGeom>
          <a:solidFill>
            <a:srgbClr val="0078D4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26822C-4847-403C-AA29-FE7D4E6573DF}"/>
              </a:ext>
            </a:extLst>
          </p:cNvPr>
          <p:cNvSpPr txBox="1"/>
          <p:nvPr/>
        </p:nvSpPr>
        <p:spPr>
          <a:xfrm>
            <a:off x="304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78D4"/>
                </a:solidFill>
                <a:latin typeface="Calibri" panose="020F0502020204030204"/>
              </a:rPr>
              <a:t>Instructions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02EBF-1380-42C2-A9AB-D6043D92F418}"/>
              </a:ext>
            </a:extLst>
          </p:cNvPr>
          <p:cNvSpPr txBox="1"/>
          <p:nvPr/>
        </p:nvSpPr>
        <p:spPr>
          <a:xfrm>
            <a:off x="321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System prompt defining identity, persona, goals, and guardrails. Persists across every turn. The foundation of consistent agent behavior.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7DD2F-C757-4D60-B542-0F90F0555EAF}"/>
              </a:ext>
            </a:extLst>
          </p:cNvPr>
          <p:cNvSpPr/>
          <p:nvPr/>
        </p:nvSpPr>
        <p:spPr>
          <a:xfrm>
            <a:off x="2607733" y="3857253"/>
            <a:ext cx="2235200" cy="2540000"/>
          </a:xfrm>
          <a:prstGeom prst="rect">
            <a:avLst/>
          </a:prstGeom>
          <a:solidFill>
            <a:srgbClr val="E0F7FB"/>
          </a:solidFill>
          <a:ln w="9525" cap="flat" cmpd="sng" algn="ctr">
            <a:solidFill>
              <a:srgbClr val="00B4D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155DC-E54A-4B85-BBBB-3BE0DDAE42C9}"/>
              </a:ext>
            </a:extLst>
          </p:cNvPr>
          <p:cNvSpPr/>
          <p:nvPr/>
        </p:nvSpPr>
        <p:spPr>
          <a:xfrm>
            <a:off x="2607733" y="3857253"/>
            <a:ext cx="2235200" cy="84667"/>
          </a:xfrm>
          <a:prstGeom prst="rect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DC751BF-236C-4BDD-B9A7-F61527827148}"/>
              </a:ext>
            </a:extLst>
          </p:cNvPr>
          <p:cNvSpPr/>
          <p:nvPr/>
        </p:nvSpPr>
        <p:spPr>
          <a:xfrm>
            <a:off x="3437467" y="4026587"/>
            <a:ext cx="575733" cy="575733"/>
          </a:xfrm>
          <a:prstGeom prst="ellipse">
            <a:avLst/>
          </a:prstGeom>
          <a:solidFill>
            <a:srgbClr val="0077A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0BE99-684C-4924-AF6C-06F629B51F5B}"/>
              </a:ext>
            </a:extLst>
          </p:cNvPr>
          <p:cNvSpPr txBox="1"/>
          <p:nvPr/>
        </p:nvSpPr>
        <p:spPr>
          <a:xfrm>
            <a:off x="2675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00B4D8"/>
                </a:solidFill>
                <a:latin typeface="Calibri" panose="020F0502020204030204"/>
              </a:rPr>
              <a:t>Tools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5E6E8-1225-44AF-8E17-EE7FDFB37B95}"/>
              </a:ext>
            </a:extLst>
          </p:cNvPr>
          <p:cNvSpPr txBox="1"/>
          <p:nvPr/>
        </p:nvSpPr>
        <p:spPr>
          <a:xfrm>
            <a:off x="2692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Function declarations and MCP servers the agent can invoke. Enables real-time actions — search, code execution, database reads, API calls.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C063DF-1384-4F3B-9902-F19E35E8FEAD}"/>
              </a:ext>
            </a:extLst>
          </p:cNvPr>
          <p:cNvSpPr/>
          <p:nvPr/>
        </p:nvSpPr>
        <p:spPr>
          <a:xfrm>
            <a:off x="4978400" y="3857253"/>
            <a:ext cx="2235200" cy="2540000"/>
          </a:xfrm>
          <a:prstGeom prst="rect">
            <a:avLst/>
          </a:prstGeom>
          <a:solidFill>
            <a:srgbClr val="F0EAFE"/>
          </a:solidFill>
          <a:ln w="9525" cap="flat" cmpd="sng" algn="ctr">
            <a:solidFill>
              <a:srgbClr val="7B2FF7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9E245D-22E9-4773-910D-8F46B60FB60B}"/>
              </a:ext>
            </a:extLst>
          </p:cNvPr>
          <p:cNvSpPr/>
          <p:nvPr/>
        </p:nvSpPr>
        <p:spPr>
          <a:xfrm>
            <a:off x="4978400" y="3857253"/>
            <a:ext cx="2235200" cy="84667"/>
          </a:xfrm>
          <a:prstGeom prst="rect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33961E2-D5A0-431F-A1A3-555D07E87E17}"/>
              </a:ext>
            </a:extLst>
          </p:cNvPr>
          <p:cNvSpPr/>
          <p:nvPr/>
        </p:nvSpPr>
        <p:spPr>
          <a:xfrm>
            <a:off x="5808134" y="4026587"/>
            <a:ext cx="575733" cy="575733"/>
          </a:xfrm>
          <a:prstGeom prst="ellipse">
            <a:avLst/>
          </a:prstGeom>
          <a:solidFill>
            <a:srgbClr val="7B2FF7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63AD0B-EBD4-4CBB-9557-DCB50972609E}"/>
              </a:ext>
            </a:extLst>
          </p:cNvPr>
          <p:cNvSpPr txBox="1"/>
          <p:nvPr/>
        </p:nvSpPr>
        <p:spPr>
          <a:xfrm>
            <a:off x="5046134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7B2FF7"/>
                </a:solidFill>
                <a:latin typeface="Calibri" panose="020F0502020204030204"/>
              </a:rPr>
              <a:t>Session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D67D5E-004C-4372-A2E3-9A750DAD1552}"/>
              </a:ext>
            </a:extLst>
          </p:cNvPr>
          <p:cNvSpPr txBox="1"/>
          <p:nvPr/>
        </p:nvSpPr>
        <p:spPr>
          <a:xfrm>
            <a:off x="5063067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Conversation history and memory store. Gives the agent continuity and recall across turns within a session or across sessions.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C74D1A-6DD4-4CF7-9D61-29C4FAEC3BF2}"/>
              </a:ext>
            </a:extLst>
          </p:cNvPr>
          <p:cNvSpPr/>
          <p:nvPr/>
        </p:nvSpPr>
        <p:spPr>
          <a:xfrm>
            <a:off x="7349067" y="3857253"/>
            <a:ext cx="2235200" cy="2540000"/>
          </a:xfrm>
          <a:prstGeom prst="rect">
            <a:avLst/>
          </a:prstGeom>
          <a:solidFill>
            <a:srgbClr val="FFF3E0"/>
          </a:solidFill>
          <a:ln w="9525" cap="flat" cmpd="sng" algn="ctr">
            <a:solidFill>
              <a:srgbClr val="E65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7D2B94-BBF2-4A56-AEA0-8DAB45306F6F}"/>
              </a:ext>
            </a:extLst>
          </p:cNvPr>
          <p:cNvSpPr/>
          <p:nvPr/>
        </p:nvSpPr>
        <p:spPr>
          <a:xfrm>
            <a:off x="7349067" y="3857253"/>
            <a:ext cx="2235200" cy="84667"/>
          </a:xfrm>
          <a:prstGeom prst="rect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2AB3C29-22D3-461F-B46E-32E072E41D78}"/>
              </a:ext>
            </a:extLst>
          </p:cNvPr>
          <p:cNvSpPr/>
          <p:nvPr/>
        </p:nvSpPr>
        <p:spPr>
          <a:xfrm>
            <a:off x="8178800" y="4026587"/>
            <a:ext cx="575733" cy="575733"/>
          </a:xfrm>
          <a:prstGeom prst="ellipse">
            <a:avLst/>
          </a:prstGeom>
          <a:solidFill>
            <a:srgbClr val="BF46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 dirty="0">
                <a:solidFill>
                  <a:srgbClr val="FFFFFF"/>
                </a:solidFill>
                <a:latin typeface="Calibri" panose="020F0502020204030204"/>
              </a:rPr>
              <a:t>⚡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4BE303-0E3D-4A3C-9517-F4E5EA9A7F3F}"/>
              </a:ext>
            </a:extLst>
          </p:cNvPr>
          <p:cNvSpPr txBox="1"/>
          <p:nvPr/>
        </p:nvSpPr>
        <p:spPr>
          <a:xfrm>
            <a:off x="7416800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E65100"/>
                </a:solidFill>
                <a:latin typeface="Calibri" panose="020F0502020204030204"/>
              </a:rPr>
              <a:t>Middleware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EC749A-B45C-4155-8245-EC3D15C90E28}"/>
              </a:ext>
            </a:extLst>
          </p:cNvPr>
          <p:cNvSpPr txBox="1"/>
          <p:nvPr/>
        </p:nvSpPr>
        <p:spPr>
          <a:xfrm>
            <a:off x="7433733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Request/response interceptors for auth, rate-limiting, logging, and PII filtering. Applied before and after every LLM call.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43486D-9C21-4E98-9F5C-FAB4A198A07B}"/>
              </a:ext>
            </a:extLst>
          </p:cNvPr>
          <p:cNvSpPr/>
          <p:nvPr/>
        </p:nvSpPr>
        <p:spPr>
          <a:xfrm>
            <a:off x="9719733" y="3857253"/>
            <a:ext cx="2235200" cy="2540000"/>
          </a:xfrm>
          <a:prstGeom prst="rect">
            <a:avLst/>
          </a:prstGeom>
          <a:solidFill>
            <a:srgbClr val="E8F5E9"/>
          </a:solidFill>
          <a:ln w="9525" cap="flat" cmpd="sng" algn="ctr">
            <a:solidFill>
              <a:srgbClr val="2E7D32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2BF251-6295-427C-9F18-B8EFAF0681DD}"/>
              </a:ext>
            </a:extLst>
          </p:cNvPr>
          <p:cNvSpPr/>
          <p:nvPr/>
        </p:nvSpPr>
        <p:spPr>
          <a:xfrm>
            <a:off x="9719733" y="3857253"/>
            <a:ext cx="2235200" cy="84667"/>
          </a:xfrm>
          <a:prstGeom prst="rect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defTabSz="1219170"/>
            <a:endParaRPr lang="en-IN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FB51122-E5EE-454A-96EF-D73110EDE384}"/>
              </a:ext>
            </a:extLst>
          </p:cNvPr>
          <p:cNvSpPr/>
          <p:nvPr/>
        </p:nvSpPr>
        <p:spPr>
          <a:xfrm>
            <a:off x="10549467" y="4026587"/>
            <a:ext cx="575733" cy="575733"/>
          </a:xfrm>
          <a:prstGeom prst="ellipse">
            <a:avLst/>
          </a:prstGeom>
          <a:solidFill>
            <a:srgbClr val="2E7D3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defTabSz="1219170"/>
            <a:r>
              <a:rPr lang="en-IN" sz="1867" b="1">
                <a:solidFill>
                  <a:srgbClr val="FFFFFF"/>
                </a:solidFill>
                <a:latin typeface="Calibri" panose="020F0502020204030204"/>
              </a:rPr>
              <a:t>◈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9C4F11-7ACE-40B7-AEAB-F86A0610514E}"/>
              </a:ext>
            </a:extLst>
          </p:cNvPr>
          <p:cNvSpPr txBox="1"/>
          <p:nvPr/>
        </p:nvSpPr>
        <p:spPr>
          <a:xfrm>
            <a:off x="9787467" y="4670053"/>
            <a:ext cx="2099733" cy="379656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defTabSz="1219170"/>
            <a:r>
              <a:rPr lang="en-IN" sz="1867" b="1">
                <a:solidFill>
                  <a:srgbClr val="2E7D32"/>
                </a:solidFill>
                <a:latin typeface="Calibri" panose="020F0502020204030204"/>
              </a:rPr>
              <a:t>LLM Provider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DA09D4-7180-4F05-9803-5ED559AA0718}"/>
              </a:ext>
            </a:extLst>
          </p:cNvPr>
          <p:cNvSpPr txBox="1"/>
          <p:nvPr/>
        </p:nvSpPr>
        <p:spPr>
          <a:xfrm>
            <a:off x="9804400" y="5042587"/>
            <a:ext cx="2065867" cy="128693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defTabSz="1219170"/>
            <a:r>
              <a:rPr lang="en-US" sz="1200">
                <a:solidFill>
                  <a:srgbClr val="4A5568"/>
                </a:solidFill>
                <a:latin typeface="Calibri" panose="020F0502020204030204"/>
              </a:rPr>
              <a:t>The underlying model (GPT-4o, Claude, Gemini…). Swappable without changing agent logic — just update the provider config.</a:t>
            </a:r>
            <a:endParaRPr lang="en-IN" sz="1200">
              <a:solidFill>
                <a:srgbClr val="4A5568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03114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Microsoft Agent Framework?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unified .NET framework for building AI agents and agentic workflows at enterprise scale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96640" cy="1365504"/>
          </a:xfrm>
          <a:prstGeom prst="rect">
            <a:avLst/>
          </a:prstGeom>
          <a:solidFill>
            <a:srgbClr val="0078D4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41376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</a:p>
        </p:txBody>
      </p:sp>
      <p:sp>
        <p:nvSpPr>
          <p:cNvPr id="8" name="Text 6"/>
          <p:cNvSpPr/>
          <p:nvPr/>
        </p:nvSpPr>
        <p:spPr>
          <a:xfrm>
            <a:off x="341376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LLM-powered reasoning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threads, context</a:t>
            </a:r>
          </a:p>
        </p:txBody>
      </p:sp>
      <p:sp>
        <p:nvSpPr>
          <p:cNvPr id="9" name="Shape 7"/>
          <p:cNvSpPr/>
          <p:nvPr/>
        </p:nvSpPr>
        <p:spPr>
          <a:xfrm>
            <a:off x="4328160" y="1341120"/>
            <a:ext cx="3596640" cy="1365504"/>
          </a:xfrm>
          <a:prstGeom prst="rect">
            <a:avLst/>
          </a:prstGeom>
          <a:solidFill>
            <a:srgbClr val="2B88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28160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</a:p>
        </p:txBody>
      </p:sp>
      <p:sp>
        <p:nvSpPr>
          <p:cNvPr id="11" name="Text 9"/>
          <p:cNvSpPr/>
          <p:nvPr/>
        </p:nvSpPr>
        <p:spPr>
          <a:xfrm>
            <a:off x="4328160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Graph-based orchestration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control flow</a:t>
            </a:r>
          </a:p>
        </p:txBody>
      </p:sp>
      <p:sp>
        <p:nvSpPr>
          <p:cNvPr id="12" name="Shape 10"/>
          <p:cNvSpPr/>
          <p:nvPr/>
        </p:nvSpPr>
        <p:spPr>
          <a:xfrm>
            <a:off x="8314944" y="1341120"/>
            <a:ext cx="3596640" cy="1365504"/>
          </a:xfrm>
          <a:prstGeom prst="rect">
            <a:avLst/>
          </a:prstGeom>
          <a:solidFill>
            <a:srgbClr val="00B4D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14944" y="1438656"/>
            <a:ext cx="35966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</a:p>
        </p:txBody>
      </p:sp>
      <p:sp>
        <p:nvSpPr>
          <p:cNvPr id="14" name="Text 12"/>
          <p:cNvSpPr/>
          <p:nvPr/>
        </p:nvSpPr>
        <p:spPr>
          <a:xfrm>
            <a:off x="8314944" y="1950720"/>
            <a:ext cx="359664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Middleware, safety, observability</a:t>
            </a:r>
          </a:p>
          <a:p>
            <a:pPr algn="ctr" defTabSz="1219170"/>
            <a:r>
              <a:rPr lang="en-US" sz="1333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deployment</a:t>
            </a:r>
          </a:p>
        </p:txBody>
      </p:sp>
      <p:sp>
        <p:nvSpPr>
          <p:cNvPr id="15" name="Text 13"/>
          <p:cNvSpPr/>
          <p:nvPr/>
        </p:nvSpPr>
        <p:spPr>
          <a:xfrm>
            <a:off x="1889760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6" name="Text 14"/>
          <p:cNvSpPr/>
          <p:nvPr/>
        </p:nvSpPr>
        <p:spPr>
          <a:xfrm>
            <a:off x="5876544" y="1816608"/>
            <a:ext cx="8534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933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</a:p>
        </p:txBody>
      </p:sp>
      <p:sp>
        <p:nvSpPr>
          <p:cNvPr id="17" name="Shape 15"/>
          <p:cNvSpPr/>
          <p:nvPr/>
        </p:nvSpPr>
        <p:spPr>
          <a:xfrm>
            <a:off x="341376" y="2901696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41376" y="2901696"/>
            <a:ext cx="11509248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2913888"/>
            <a:ext cx="731520" cy="731520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045562"/>
            <a:ext cx="468173" cy="468173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41120" y="2987040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.NET AI Framework</a:t>
            </a:r>
          </a:p>
        </p:txBody>
      </p:sp>
      <p:sp>
        <p:nvSpPr>
          <p:cNvPr id="22" name="Text 19"/>
          <p:cNvSpPr/>
          <p:nvPr/>
        </p:nvSpPr>
        <p:spPr>
          <a:xfrm>
            <a:off x="4876800" y="2987040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Framework is Microsoft's primary .NET AI investment. One unified SDK for agents, tools, threads, workflows, and enterprise-grade deployment.</a:t>
            </a:r>
          </a:p>
        </p:txBody>
      </p:sp>
      <p:sp>
        <p:nvSpPr>
          <p:cNvPr id="23" name="Shape 20"/>
          <p:cNvSpPr/>
          <p:nvPr/>
        </p:nvSpPr>
        <p:spPr>
          <a:xfrm>
            <a:off x="341376" y="3803904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41376" y="3803904"/>
            <a:ext cx="11509248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63296" y="3816096"/>
            <a:ext cx="731520" cy="731520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3947770"/>
            <a:ext cx="468173" cy="46817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341120" y="3889248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Apache 2.0 · Public Preview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4876800" y="3889248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since late 2025 on NuGet (prerelease). Built and maintained by the same Microsoft teams. 149-star community samples on GitHub.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5"/>
          <p:cNvSpPr/>
          <p:nvPr/>
        </p:nvSpPr>
        <p:spPr>
          <a:xfrm>
            <a:off x="341376" y="4706112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341376" y="4706112"/>
            <a:ext cx="11509248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7"/>
          <p:cNvSpPr/>
          <p:nvPr/>
        </p:nvSpPr>
        <p:spPr>
          <a:xfrm>
            <a:off x="463296" y="4718304"/>
            <a:ext cx="731520" cy="731520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4849978"/>
            <a:ext cx="468173" cy="46817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41120" y="4791456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Core Pillars: Agents + Workflows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Text 29"/>
          <p:cNvSpPr/>
          <p:nvPr/>
        </p:nvSpPr>
        <p:spPr>
          <a:xfrm>
            <a:off x="4876800" y="4791456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Agents (LLM-driven, dynamic) and graph-based Workflows (deterministic, explicit control flow). Mix and match as needed for each use case.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30"/>
          <p:cNvSpPr/>
          <p:nvPr/>
        </p:nvSpPr>
        <p:spPr>
          <a:xfrm>
            <a:off x="341376" y="5608320"/>
            <a:ext cx="11509248" cy="78028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/>
          <p:cNvSpPr/>
          <p:nvPr/>
        </p:nvSpPr>
        <p:spPr>
          <a:xfrm>
            <a:off x="341376" y="5608320"/>
            <a:ext cx="11509248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2"/>
          <p:cNvSpPr/>
          <p:nvPr/>
        </p:nvSpPr>
        <p:spPr>
          <a:xfrm>
            <a:off x="463296" y="5620512"/>
            <a:ext cx="731520" cy="731520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0" y="5752186"/>
            <a:ext cx="468173" cy="468173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1341120" y="5693664"/>
            <a:ext cx="3413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Enterprise-Ready from Day One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Text 34"/>
          <p:cNvSpPr/>
          <p:nvPr/>
        </p:nvSpPr>
        <p:spPr>
          <a:xfrm>
            <a:off x="4876800" y="5693664"/>
            <a:ext cx="6827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Session-based state, type safety, middleware pipeline, OpenTelemetry, MCP and A2A open standards built in. Works with Azure, OpenAI, Ollama, GitHub Models.</a:t>
            </a:r>
            <a:endParaRPr lang="en-US" sz="1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35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Text 36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894122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Architecture &amp; Building Blocks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 sits on top of Microsoft.Extensions.AI (IChatClient abstraction)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353568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60832" y="1572768"/>
            <a:ext cx="780288" cy="780288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84" y="1713220"/>
            <a:ext cx="499384" cy="4993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12064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abstraction. Created via .AsAIAgent() or new ChatClientAgent(). Two modes: RunAsync() for full response, RunStreamingAsync() for token streaming.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145280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145280" y="1341120"/>
            <a:ext cx="3535680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364736" y="1572768"/>
            <a:ext cx="780288" cy="78028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5188" y="1713220"/>
            <a:ext cx="499384" cy="4993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66944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4315968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 model interface from Microsoft.Extensions.AI. Swap Azure OpenAI, OpenAI, Ollama, GitHub Models without changing a single line of agent code.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7949184" y="1341120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7949184" y="1341120"/>
            <a:ext cx="353568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8168640" y="1572768"/>
            <a:ext cx="780288" cy="780288"/>
          </a:xfrm>
          <a:prstGeom prst="ellipse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9092" y="1713220"/>
            <a:ext cx="499384" cy="4993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70848" y="1633728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8119872" y="2499360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multi-turn conversation state. Persist to disk, Cosmos DB, or any IChatMessageStore. Pass the same thread across calls to maintain memory.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341376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341376" y="4120896"/>
            <a:ext cx="35356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560832" y="4352544"/>
            <a:ext cx="780288" cy="780288"/>
          </a:xfrm>
          <a:prstGeom prst="ellipse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284" y="4492996"/>
            <a:ext cx="499384" cy="4993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463040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/ Plugins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512064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methods decorated with [AgentTool] or created via AIFunctionFactory.Create(). MCP servers auto-register as tools. LLM invokes them automatically.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4"/>
          <p:cNvSpPr/>
          <p:nvPr/>
        </p:nvSpPr>
        <p:spPr>
          <a:xfrm>
            <a:off x="4145280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Shape 25"/>
          <p:cNvSpPr/>
          <p:nvPr/>
        </p:nvSpPr>
        <p:spPr>
          <a:xfrm>
            <a:off x="4145280" y="4120896"/>
            <a:ext cx="3535680" cy="85344"/>
          </a:xfrm>
          <a:prstGeom prst="rect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364736" y="4352544"/>
            <a:ext cx="780288" cy="780288"/>
          </a:xfrm>
          <a:prstGeom prst="ellipse">
            <a:avLst/>
          </a:prstGeom>
          <a:solidFill>
            <a:srgbClr val="7B2D8B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5188" y="4492996"/>
            <a:ext cx="499384" cy="499384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266944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4315968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interception via agent.Use(). Chain logging, safety filters, rate-limiting, retry logic and custom processors around every agent call.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29"/>
          <p:cNvSpPr/>
          <p:nvPr/>
        </p:nvSpPr>
        <p:spPr>
          <a:xfrm>
            <a:off x="7949184" y="4120896"/>
            <a:ext cx="3535680" cy="2511552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0"/>
          <p:cNvSpPr/>
          <p:nvPr/>
        </p:nvSpPr>
        <p:spPr>
          <a:xfrm>
            <a:off x="7949184" y="4120896"/>
            <a:ext cx="35356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8168640" y="4352544"/>
            <a:ext cx="780288" cy="780288"/>
          </a:xfrm>
          <a:prstGeom prst="ellipse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9092" y="4492996"/>
            <a:ext cx="499384" cy="499384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070848" y="4413504"/>
            <a:ext cx="2267712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6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8119872" y="5279136"/>
            <a:ext cx="3194304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0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Microsoft.Agents.AI.Workflows package. WorkflowBuilder with executors (agents/functions) and typed edges. Sequential, Concurrent, Handoff, Magentic.</a:t>
            </a:r>
            <a:endParaRPr lang="en-US" sz="130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to First Agent in C#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NuGet packages + config from appsettings.json = a fully working AI agent with streaming support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11509248" cy="853440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11509248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26464"/>
            <a:ext cx="1116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C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Add NuGet Packages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2064" y="1901952"/>
            <a:ext cx="1116787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Azure.AI.OpenAI 2.1.0  |  Azure.Identity 1.13.2  |  Microsoft.Agents.AI 1.1.0  |  Microsoft.Agents.AI.OpenAI 1.1.0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" y="2377440"/>
            <a:ext cx="5669280" cy="412089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41376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2064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Create &amp; Run the Agent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2064" y="2938272"/>
            <a:ext cx="5327904" cy="343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Azure.AI.OpenAI;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endpoint + deployment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config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chatClient = 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Uri(config["AzureOpenAI:Endpoint"]!),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.GetChatClient(config["AzureOpenAI:DeploymentName"]!);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((IChatClient)chatClient)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.AsAIAgent("BasicAgent", "You are helpful.");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"What is the capital of France?")).Text;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Console.WriteLine(resp);</a:t>
            </a:r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5669280" cy="1926336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81344" y="2377440"/>
            <a:ext cx="566928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52032" y="2462784"/>
            <a:ext cx="532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Streaming Response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52032" y="2938272"/>
            <a:ext cx="532790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Token-by-token streaming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"List three benefits of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renewable energy."))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Console.Write(update);</a:t>
            </a:r>
          </a:p>
          <a:p>
            <a:pPr defTabSz="1219170"/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</p:txBody>
      </p:sp>
      <p:sp>
        <p:nvSpPr>
          <p:cNvPr id="18" name="Shape 16"/>
          <p:cNvSpPr/>
          <p:nvPr/>
        </p:nvSpPr>
        <p:spPr>
          <a:xfrm>
            <a:off x="6181344" y="4486656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1344" y="4486656"/>
            <a:ext cx="5669280" cy="85344"/>
          </a:xfrm>
          <a:prstGeom prst="rect">
            <a:avLst/>
          </a:prstGeom>
          <a:solidFill>
            <a:srgbClr val="00CC6A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64224" y="4608576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DefaultAzureCredential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64224" y="4998720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DefaultAzureCredential — works with az login locally and Managed Identity in production. No secrets in code.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81344" y="5510784"/>
            <a:ext cx="5669280" cy="87782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181344" y="5510784"/>
            <a:ext cx="5669280" cy="85344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4224" y="5632704"/>
            <a:ext cx="53035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Provider-Agnostic Design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364224" y="6022848"/>
            <a:ext cx="53035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to IChatClient before .AsAIAgent(). Swap AzureOpenAIClient for OpenAIClient, OllamaClient, or any IChatClient — agent code stays identical.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5120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Memory Problem in LLM Agents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are stateless by default — without explicit memory management, every call starts from zero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0" name="LeftPanelBg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1" name="LeftPanelBar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2" name="LeftPanelHeader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Memory Management Matters</a:t>
            </a:r>
          </a:p>
        </p:txBody>
      </p:sp>
      <p:sp>
        <p:nvSpPr>
          <p:cNvPr id="70" name="RowBg70"/>
          <p:cNvSpPr/>
          <p:nvPr/>
        </p:nvSpPr>
        <p:spPr>
          <a:xfrm>
            <a:off x="463296" y="1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1" name="RowBar71"/>
          <p:cNvSpPr/>
          <p:nvPr/>
        </p:nvSpPr>
        <p:spPr>
          <a:xfrm>
            <a:off x="463296" y="1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2" name="RowTitle72"/>
          <p:cNvSpPr/>
          <p:nvPr/>
        </p:nvSpPr>
        <p:spPr>
          <a:xfrm>
            <a:off x="608640" y="2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Memory Between Sessions</a:t>
            </a:r>
          </a:p>
        </p:txBody>
      </p:sp>
      <p:sp>
        <p:nvSpPr>
          <p:cNvPr id="73" name="RowBody73"/>
          <p:cNvSpPr/>
          <p:nvPr/>
        </p:nvSpPr>
        <p:spPr>
          <a:xfrm>
            <a:off x="608640" y="2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LLMs are stateless by default. Every call starts fresh — the agent has no knowledge of prior turns without explicit session tracking.</a:t>
            </a:r>
          </a:p>
        </p:txBody>
      </p:sp>
      <p:sp>
        <p:nvSpPr>
          <p:cNvPr id="74" name="RowBg74"/>
          <p:cNvSpPr/>
          <p:nvPr/>
        </p:nvSpPr>
        <p:spPr>
          <a:xfrm>
            <a:off x="463296" y="2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5" name="RowBar75"/>
          <p:cNvSpPr/>
          <p:nvPr/>
        </p:nvSpPr>
        <p:spPr>
          <a:xfrm>
            <a:off x="463296" y="2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RowTitle76"/>
          <p:cNvSpPr/>
          <p:nvPr/>
        </p:nvSpPr>
        <p:spPr>
          <a:xfrm>
            <a:off x="608640" y="3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Context Window Overflow</a:t>
            </a:r>
          </a:p>
        </p:txBody>
      </p:sp>
      <p:sp>
        <p:nvSpPr>
          <p:cNvPr id="77" name="RowBody77"/>
          <p:cNvSpPr/>
          <p:nvPr/>
        </p:nvSpPr>
        <p:spPr>
          <a:xfrm>
            <a:off x="608640" y="3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Naively appending all history hits token limits fast. Long conversations cause truncation or silent failures mid-reasoning.</a:t>
            </a:r>
          </a:p>
        </p:txBody>
      </p:sp>
      <p:sp>
        <p:nvSpPr>
          <p:cNvPr id="78" name="RowBg78"/>
          <p:cNvSpPr/>
          <p:nvPr/>
        </p:nvSpPr>
        <p:spPr>
          <a:xfrm>
            <a:off x="463296" y="3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79" name="RowBar79"/>
          <p:cNvSpPr/>
          <p:nvPr/>
        </p:nvSpPr>
        <p:spPr>
          <a:xfrm>
            <a:off x="463296" y="3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0" name="RowTitle80"/>
          <p:cNvSpPr/>
          <p:nvPr/>
        </p:nvSpPr>
        <p:spPr>
          <a:xfrm>
            <a:off x="608640" y="4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Unbounded Cost &amp; Latency</a:t>
            </a:r>
          </a:p>
        </p:txBody>
      </p:sp>
      <p:sp>
        <p:nvSpPr>
          <p:cNvPr id="81" name="RowBody81"/>
          <p:cNvSpPr/>
          <p:nvPr/>
        </p:nvSpPr>
        <p:spPr>
          <a:xfrm>
            <a:off x="608640" y="4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Without trimming, every prompt grows larger over time. Token costs and response latency compound rapidly across turns.</a:t>
            </a:r>
          </a:p>
        </p:txBody>
      </p:sp>
      <p:sp>
        <p:nvSpPr>
          <p:cNvPr id="82" name="RowBg82"/>
          <p:cNvSpPr/>
          <p:nvPr/>
        </p:nvSpPr>
        <p:spPr>
          <a:xfrm>
            <a:off x="463296" y="4975104"/>
            <a:ext cx="5181600" cy="914400"/>
          </a:xfrm>
        </p:spPr>
        <p:txBody>
          <a:bodyPr/>
          <a:lstStyle/>
          <a:p>
            <a:endParaRPr lang="en-IN"/>
          </a:p>
        </p:txBody>
      </p:sp>
      <p:sp>
        <p:nvSpPr>
          <p:cNvPr id="83" name="RowBar83"/>
          <p:cNvSpPr/>
          <p:nvPr/>
        </p:nvSpPr>
        <p:spPr>
          <a:xfrm>
            <a:off x="463296" y="4975104"/>
            <a:ext cx="85344" cy="914400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4" name="RowTitle84"/>
          <p:cNvSpPr/>
          <p:nvPr/>
        </p:nvSpPr>
        <p:spPr>
          <a:xfrm>
            <a:off x="608640" y="5055104"/>
            <a:ext cx="5016256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No Persistence Across Restarts</a:t>
            </a:r>
          </a:p>
        </p:txBody>
      </p:sp>
      <p:sp>
        <p:nvSpPr>
          <p:cNvPr id="85" name="RowBody85"/>
          <p:cNvSpPr/>
          <p:nvPr/>
        </p:nvSpPr>
        <p:spPr>
          <a:xfrm>
            <a:off x="608640" y="5372096"/>
            <a:ext cx="5016256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</a:rPr>
              <a:t>Restarting the process wipes all conversation state. Users lose context; agents lose their full reasoning history.</a:t>
            </a:r>
          </a:p>
        </p:txBody>
      </p:sp>
      <p:sp>
        <p:nvSpPr>
          <p:cNvPr id="90" name="RightPanelBg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9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1" name="RightPanelHeaderBar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2" name="RightPanelHeaderText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</a:rPr>
              <a:t>Without Memory Management...</a:t>
            </a:r>
          </a:p>
        </p:txBody>
      </p:sp>
      <p:sp>
        <p:nvSpPr>
          <p:cNvPr id="93" name="ConseqItem93"/>
          <p:cNvSpPr/>
          <p:nvPr/>
        </p:nvSpPr>
        <p:spPr>
          <a:xfrm>
            <a:off x="6205728" y="1908800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Users repeat themselves every session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Agent has no knowledge of who the user is or what was previously discussed.</a:t>
            </a:r>
          </a:p>
        </p:txBody>
      </p:sp>
      <p:sp>
        <p:nvSpPr>
          <p:cNvPr id="94" name="ConseqItem94"/>
          <p:cNvSpPr/>
          <p:nvPr/>
        </p:nvSpPr>
        <p:spPr>
          <a:xfrm>
            <a:off x="6205728" y="3022656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Agents forget tool results mid-task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Multi-step reasoning breaks — agent re-calls tools or contradicts prior answers.</a:t>
            </a:r>
          </a:p>
        </p:txBody>
      </p:sp>
      <p:sp>
        <p:nvSpPr>
          <p:cNvPr id="95" name="ConseqItem95"/>
          <p:cNvSpPr/>
          <p:nvPr/>
        </p:nvSpPr>
        <p:spPr>
          <a:xfrm>
            <a:off x="6205728" y="4136512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Costs spiral as context grows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Every turn sends the full history — token costs and latency compound rapidly.</a:t>
            </a:r>
          </a:p>
        </p:txBody>
      </p:sp>
      <p:sp>
        <p:nvSpPr>
          <p:cNvPr id="96" name="ConseqItem96"/>
          <p:cNvSpPr/>
          <p:nvPr/>
        </p:nvSpPr>
        <p:spPr>
          <a:xfrm>
            <a:off x="6205728" y="5250368"/>
            <a:ext cx="5474208" cy="108385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defTabSz="1219170"/>
            <a:r>
              <a:rPr lang="en-US" sz="1200" b="1" dirty="0">
                <a:solidFill>
                  <a:srgbClr val="FF6B6B"/>
                </a:solidFill>
                <a:latin typeface="Calibri" pitchFamily="34" charset="0"/>
              </a:rPr>
              <a:t>✘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</a:rPr>
              <a:t>No auditability or session replay</a:t>
            </a:r>
          </a:p>
          <a:p>
            <a:pPr defTabSz="1219170"/>
            <a:r>
              <a:rPr lang="en-US" sz="1067" dirty="0">
                <a:solidFill>
                  <a:srgbClr val="9BBBDD"/>
                </a:solidFill>
                <a:latin typeface="Calibri" pitchFamily="34" charset="0"/>
              </a:rPr>
              <a:t>Restarting wipes everything — impossible to debug what the agent did or why.</a:t>
            </a:r>
          </a:p>
        </p:txBody>
      </p:sp>
      <p:sp>
        <p:nvSpPr>
          <p:cNvPr id="8" name="Text 24">
            <a:extLst>
              <a:ext uri="{FF2B5EF4-FFF2-40B4-BE49-F238E27FC236}">
                <a16:creationId xmlns:a16="http://schemas.microsoft.com/office/drawing/2014/main" id="{139DC793-851D-B766-F5FE-250C192B02FC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014738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Conversation Management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holds all conversation history — serialize with SerializeSessionAsync() to persist across restarts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Concepts</a:t>
            </a:r>
            <a:endParaRPr lang="en-US" sz="17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63296" y="1975104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75104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072640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4" y="2438400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CreateSessionAsync() once per conversation. Pass session to every RunAsync() / RunStreamingAsync() call to accumulate history.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3035808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63296" y="3035808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3984" y="3133344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3984" y="3499104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via SerializeSessionAsync(), restore with DeserializeSessionAsync(). Save to DB, Redis, or file between user visits.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3296" y="4096512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3296" y="4096512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3984" y="4194048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559808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AIAgent itself is stateless — all memory lives in the AgentSession. Scale agents horizontally with no session-affinity requirement.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3296" y="5157216"/>
            <a:ext cx="5181600" cy="926592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157216"/>
            <a:ext cx="85344" cy="926592"/>
          </a:xfrm>
          <a:prstGeom prst="rect">
            <a:avLst/>
          </a:prstGeom>
          <a:solidFill>
            <a:srgbClr val="2B88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254752"/>
            <a:ext cx="49377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Management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3984" y="5620512"/>
            <a:ext cx="493776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67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turn sends the full history to the model. Long sessions consume the context window — summarize or trim old turns periodically.</a:t>
            </a:r>
            <a:endParaRPr lang="en-US" sz="12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2B8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+ Persistent Session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agent from appsettings.json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cfg = new ConfigurationBuilder()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.AddJsonFile("appsettings.json").Build();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((IChatClient)new AzureOpenAIClient(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Uri(cfg["AzureOpenAI:Endpoint"]!),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.GetChatClient(cfg["AzureOpenAI:DeploymentName"]!))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.AsAIAgent("ContextAwareAgent",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helpful assistant.");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holds full conversation history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session = await agent.CreateSessionAsync();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Multi-turn — agent remembers context across turns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r1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"My name is Alice, I work in ML.", session)).Text;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r2 = 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"What is my name?", session)).Text;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Streaming with accumulated session context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 agent.RunStreamingAsync(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"Give me 3 ML career tips.", session))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Console.Write(update); }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Persist &amp; restore session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data = await agent.SerializeSessionAsync(session);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AgentSession restored =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agent.DeserializeSessionAsync(data);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 learn.microsoft.com/en-us/agent-framework   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138448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The Problem with LLM Responses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LLMs return free-text by default — unpredictable, unstructured, and impossible to reliably parse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Why This Is a Problem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Unpredictable format — prose, JSON, YAML, or mixed depending on mood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Fragile parsing — regex and string-splitting break silently on any variation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No type safety — raw strings can't bind to C# models or pass compile-time checks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Model updates break pipelines — a new version changes output format without warning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Unusable in pipelines — one agent's raw text output can't feed the next agent's typed input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The Old Way — Brittle by Design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Ask the LLM a question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reply = await chat.GetResponseAsync(prompt);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Hope it returned JSON... then guess where it starts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json = reply.Substring(reply.IndexOf("{"));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Pray the schema matches your C#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data = JsonSerializer.Deserialize&lt;MyModel&gt;(json);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NullReferenceException at runtime — model changed its output</a:t>
            </a:r>
          </a:p>
          <a:p>
            <a:pPr defTabSz="1219170"/>
            <a:r>
              <a:rPr lang="en-US" sz="1000" dirty="0">
                <a:solidFill>
                  <a:srgbClr val="E06C75"/>
                </a:solidFill>
                <a:latin typeface="Consolas" pitchFamily="34" charset="0"/>
              </a:rPr>
              <a:t>Console.WriteLine(data.City); // 💥 NullReferenceException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Without structured output, every LLM call is a gamble.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195345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Reasoning Effort in LLMs</a:t>
            </a:r>
          </a:p>
        </p:txBody>
      </p:sp>
      <p:sp>
        <p:nvSpPr>
          <p:cNvPr id="6" name="Shape 4"/>
          <p:cNvSpPr/>
          <p:nvPr/>
        </p:nvSpPr>
        <p:spPr>
          <a:xfrm>
            <a:off x="341376" y="1341120"/>
            <a:ext cx="5425440" cy="5023104"/>
          </a:xfrm>
          <a:prstGeom prst="rect">
            <a:avLst/>
          </a:prstGeom>
          <a:solidFill>
            <a:srgbClr val="F0F5FA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76" y="1341120"/>
            <a:ext cx="5425440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512064" y="1438656"/>
            <a:ext cx="50596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733" b="1" dirty="0">
                <a:solidFill>
                  <a:srgbClr val="0F1F3D"/>
                </a:solidFill>
                <a:latin typeface="Calibri" pitchFamily="34" charset="0"/>
              </a:rPr>
              <a:t>What Is LLM Reasoning?</a:t>
            </a:r>
          </a:p>
        </p:txBody>
      </p:sp>
      <p:sp>
        <p:nvSpPr>
          <p:cNvPr id="9" name="Shape 7"/>
          <p:cNvSpPr/>
          <p:nvPr/>
        </p:nvSpPr>
        <p:spPr>
          <a:xfrm>
            <a:off x="463296" y="1999488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3296" y="1999488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3984" y="2121408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Chain-of-Thought Before Responding — Models silently "think" before answering</a:t>
            </a:r>
          </a:p>
        </p:txBody>
      </p:sp>
      <p:sp>
        <p:nvSpPr>
          <p:cNvPr id="12" name="Shape 10"/>
          <p:cNvSpPr/>
          <p:nvPr/>
        </p:nvSpPr>
        <p:spPr>
          <a:xfrm>
            <a:off x="463296" y="2828544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3296" y="2828544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3984" y="2950464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Configurable Effort Levels — Low · Medium · High — speed vs. accuracy</a:t>
            </a:r>
          </a:p>
        </p:txBody>
      </p:sp>
      <p:sp>
        <p:nvSpPr>
          <p:cNvPr id="15" name="Shape 13"/>
          <p:cNvSpPr/>
          <p:nvPr/>
        </p:nvSpPr>
        <p:spPr>
          <a:xfrm>
            <a:off x="463296" y="3657600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3296" y="3657600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3984" y="3779520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Reasoning Tokens Are Billed — Hidden from output but counted toward cost</a:t>
            </a:r>
          </a:p>
        </p:txBody>
      </p:sp>
      <p:sp>
        <p:nvSpPr>
          <p:cNvPr id="18" name="Shape 16"/>
          <p:cNvSpPr/>
          <p:nvPr/>
        </p:nvSpPr>
        <p:spPr>
          <a:xfrm>
            <a:off x="463296" y="4486656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3296" y="4486656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3984" y="4608576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Higher Effort = Better Answers — More internal compute → richer output</a:t>
            </a:r>
          </a:p>
        </p:txBody>
      </p:sp>
      <p:sp>
        <p:nvSpPr>
          <p:cNvPr id="21" name="Shape 19"/>
          <p:cNvSpPr/>
          <p:nvPr/>
        </p:nvSpPr>
        <p:spPr>
          <a:xfrm>
            <a:off x="463296" y="5315712"/>
            <a:ext cx="5181600" cy="719328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63296" y="5315712"/>
            <a:ext cx="85344" cy="719328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3984" y="5437632"/>
            <a:ext cx="4937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00" b="1" dirty="0">
                <a:solidFill>
                  <a:srgbClr val="0078D4"/>
                </a:solidFill>
                <a:latin typeface="Calibri" pitchFamily="34" charset="0"/>
              </a:rPr>
              <a:t>▸ 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</a:rPr>
              <a:t>Best For Complex Tasks — Math, code review, planning, legal analysis</a:t>
            </a:r>
          </a:p>
        </p:txBody>
      </p:sp>
      <p:sp>
        <p:nvSpPr>
          <p:cNvPr id="24" name="Shape 22"/>
          <p:cNvSpPr/>
          <p:nvPr/>
        </p:nvSpPr>
        <p:spPr>
          <a:xfrm>
            <a:off x="6035040" y="1341120"/>
            <a:ext cx="5815584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35040" y="1341120"/>
            <a:ext cx="5815584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05728" y="1426464"/>
            <a:ext cx="5474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0078D4"/>
                </a:solidFill>
                <a:latin typeface="Calibri" pitchFamily="34" charset="0"/>
              </a:rPr>
              <a:t>How the Code Works — Program.cs</a:t>
            </a:r>
          </a:p>
        </p:txBody>
      </p:sp>
      <p:sp>
        <p:nvSpPr>
          <p:cNvPr id="27" name="Text 25"/>
          <p:cNvSpPr/>
          <p:nvPr/>
        </p:nvSpPr>
        <p:spPr>
          <a:xfrm>
            <a:off x="6205728" y="1901952"/>
            <a:ext cx="5474208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1. Create agent with a reasoning model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var agent = new AzureOpenAIClient(...)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.AsAIAgent("o4-mini", instructions);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2. Run same prompt at each effort level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foreach (var level in new[] { Low, Medium, High })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opts = new AgentRunOptions {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  ReasoningEffortLevel = level };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result = await agent.RunAsync(prompt, opts);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// 3. Read token usage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  var usage = result.Usage;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InputTokenCount  — prompt tokens sent</a:t>
            </a:r>
          </a:p>
          <a:p>
            <a:pPr defTabSz="1219170"/>
            <a:r>
              <a:rPr lang="en-US" sz="1000" dirty="0">
                <a:solidFill>
                  <a:srgbClr val="6A9CC7"/>
                </a:solidFill>
                <a:latin typeface="Consolas" pitchFamily="34" charset="0"/>
              </a:rPr>
              <a:t>  // OutputTokenCount — response tokens</a:t>
            </a:r>
          </a:p>
          <a:p>
            <a:pPr defTabSz="1219170"/>
            <a:r>
              <a:rPr lang="en-US" sz="1000" dirty="0">
                <a:solidFill>
                  <a:srgbClr val="0078D4"/>
                </a:solidFill>
                <a:latin typeface="Consolas" pitchFamily="34" charset="0"/>
              </a:rPr>
              <a:t>  // ReasoningTokenCount — hidden think tokens</a:t>
            </a:r>
          </a:p>
          <a:p>
            <a:pPr defTabSz="1219170"/>
            <a:r>
              <a:rPr lang="en-US" sz="1000" dirty="0">
                <a:solidFill>
                  <a:srgbClr val="D4D4D4"/>
                </a:solidFill>
                <a:latin typeface="Consolas" pitchFamily="34" charset="0"/>
              </a:rPr>
              <a:t>}</a:t>
            </a:r>
          </a:p>
          <a:p>
            <a:pPr defTabSz="1219170"/>
            <a:endParaRPr lang="en-US" sz="1000" dirty="0">
              <a:solidFill>
                <a:prstClr val="black"/>
              </a:solidFill>
            </a:endParaRPr>
          </a:p>
          <a:p>
            <a:pPr defTabSz="1219170"/>
            <a:r>
              <a:rPr lang="en-US" sz="1000" i="1" dirty="0">
                <a:solidFill>
                  <a:srgbClr val="C7E0F4"/>
                </a:solidFill>
                <a:latin typeface="Calibri" pitchFamily="34" charset="0"/>
              </a:rPr>
              <a:t>Higher effort = more reasoning tokens = smarter answers.</a:t>
            </a:r>
          </a:p>
        </p:txBody>
      </p:sp>
      <p:sp>
        <p:nvSpPr>
          <p:cNvPr id="28" name="Shape 26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33CE15C-2C05-77BF-C743-3BBF7F142AA5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29744398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Middleware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Intercept, modify, and enhance agent interactions at every layer of execution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Middleware?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pipeline of functions that wrap agent runs, function calls, and LLM requests — enabling cross-cutting concerns without touching core logic.</a:t>
            </a: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3 Middleware Types — Execution Pipeline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
Middleware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Function
Middleware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Chat
Middleware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
Call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Response
Returned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Agent Run Middleware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Outermost layer — fires once per agent turn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Wraps entire run: inspect inputs &amp; outputs end-to-end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Implement via .Use() delegate or IAgentMiddleware class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&amp; Chat Middleware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Function MW: intercepts every tool call — validate, transform, block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Chat MW: intercepts raw LLM requests — inspect messages &amp; responses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All types support function-based and class-based (.NET) styles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🔗 Chain Order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Registered order = execution order in chain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⛔ Early Termination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Skip call_next() to short-circuit pipeline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Block sensitive inputs before they reach the LLM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🧩 Composability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Stack multiple middleware via builder pattern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learn.microsoft.com/en-us/agent-framework/agents/middleware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Middleware?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Logging &amp; observability: trace every turn and tool call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Security validation: block or transform inputs before they reach the agent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Error handling &amp; rate limiting: control flow without changing business logic</a:t>
            </a:r>
          </a:p>
        </p:txBody>
      </p:sp>
    </p:spTree>
    <p:extLst>
      <p:ext uri="{BB962C8B-B14F-4D97-AF65-F5344CB8AC3E}">
        <p14:creationId xmlns:p14="http://schemas.microsoft.com/office/powerpoint/2010/main" val="740217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1" name="AccentStripe"/>
          <p:cNvSpPr/>
          <p:nvPr/>
        </p:nvSpPr>
        <p:spPr>
          <a:xfrm>
            <a:off x="0" y="0"/>
            <a:ext cx="270933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2" name="Title"/>
          <p:cNvSpPr/>
          <p:nvPr/>
        </p:nvSpPr>
        <p:spPr>
          <a:xfrm>
            <a:off x="541867" y="135467"/>
            <a:ext cx="11091333" cy="626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Tools</a:t>
            </a:r>
          </a:p>
        </p:txBody>
      </p:sp>
      <p:sp>
        <p:nvSpPr>
          <p:cNvPr id="103" name="Subtitle"/>
          <p:cNvSpPr/>
          <p:nvPr/>
        </p:nvSpPr>
        <p:spPr>
          <a:xfrm>
            <a:off x="541867" y="812800"/>
            <a:ext cx="11091333" cy="3386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agents with function tools and MCP servers to interact with the real world</a:t>
            </a:r>
          </a:p>
        </p:txBody>
      </p:sp>
      <p:sp>
        <p:nvSpPr>
          <p:cNvPr id="104" name="WhyBg"/>
          <p:cNvSpPr/>
          <p:nvPr/>
        </p:nvSpPr>
        <p:spPr>
          <a:xfrm>
            <a:off x="338667" y="1337733"/>
            <a:ext cx="11514667" cy="711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5" name="WhyAccent"/>
          <p:cNvSpPr/>
          <p:nvPr/>
        </p:nvSpPr>
        <p:spPr>
          <a:xfrm>
            <a:off x="338667" y="1337733"/>
            <a:ext cx="84667" cy="711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6" name="WhyText"/>
          <p:cNvSpPr/>
          <p:nvPr/>
        </p:nvSpPr>
        <p:spPr>
          <a:xfrm>
            <a:off x="541867" y="1405467"/>
            <a:ext cx="11108267" cy="5757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agents need tools: 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</a:rPr>
              <a:t>Without tools, an agent is a conversationalist. With tools, it becomes an operator — capable of searching APIs, querying databases, sending emails, and taking real-world actions.</a:t>
            </a:r>
          </a:p>
        </p:txBody>
      </p:sp>
      <p:sp>
        <p:nvSpPr>
          <p:cNvPr id="110" name="LoopBg"/>
          <p:cNvSpPr/>
          <p:nvPr/>
        </p:nvSpPr>
        <p:spPr>
          <a:xfrm>
            <a:off x="338667" y="2167467"/>
            <a:ext cx="11514667" cy="1608667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1" name="LoopTitle"/>
          <p:cNvSpPr/>
          <p:nvPr/>
        </p:nvSpPr>
        <p:spPr>
          <a:xfrm>
            <a:off x="541867" y="2235200"/>
            <a:ext cx="5080000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The Tool-Calling Loop</a:t>
            </a:r>
          </a:p>
        </p:txBody>
      </p:sp>
      <p:sp>
        <p:nvSpPr>
          <p:cNvPr id="120" name="Flow0"/>
          <p:cNvSpPr/>
          <p:nvPr/>
        </p:nvSpPr>
        <p:spPr>
          <a:xfrm>
            <a:off x="541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User sends
message</a:t>
            </a:r>
          </a:p>
        </p:txBody>
      </p:sp>
      <p:sp>
        <p:nvSpPr>
          <p:cNvPr id="121" name="Arrow0"/>
          <p:cNvSpPr/>
          <p:nvPr/>
        </p:nvSpPr>
        <p:spPr>
          <a:xfrm>
            <a:off x="21674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2" name="Flow1"/>
          <p:cNvSpPr/>
          <p:nvPr/>
        </p:nvSpPr>
        <p:spPr>
          <a:xfrm>
            <a:off x="23706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Agent sends
msg + tools
to LLM</a:t>
            </a:r>
          </a:p>
        </p:txBody>
      </p:sp>
      <p:sp>
        <p:nvSpPr>
          <p:cNvPr id="123" name="Arrow1"/>
          <p:cNvSpPr/>
          <p:nvPr/>
        </p:nvSpPr>
        <p:spPr>
          <a:xfrm>
            <a:off x="39962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4" name="Flow2"/>
          <p:cNvSpPr/>
          <p:nvPr/>
        </p:nvSpPr>
        <p:spPr>
          <a:xfrm>
            <a:off x="41994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LLM responds
with tool call?</a:t>
            </a:r>
          </a:p>
        </p:txBody>
      </p:sp>
      <p:sp>
        <p:nvSpPr>
          <p:cNvPr id="125" name="Arrow2"/>
          <p:cNvSpPr/>
          <p:nvPr/>
        </p:nvSpPr>
        <p:spPr>
          <a:xfrm>
            <a:off x="58250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6" name="Flow3"/>
          <p:cNvSpPr/>
          <p:nvPr/>
        </p:nvSpPr>
        <p:spPr>
          <a:xfrm>
            <a:off x="60282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Framework
executes tool</a:t>
            </a:r>
          </a:p>
        </p:txBody>
      </p:sp>
      <p:sp>
        <p:nvSpPr>
          <p:cNvPr id="127" name="Arrow3"/>
          <p:cNvSpPr/>
          <p:nvPr/>
        </p:nvSpPr>
        <p:spPr>
          <a:xfrm>
            <a:off x="76538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28" name="Flow4"/>
          <p:cNvSpPr/>
          <p:nvPr/>
        </p:nvSpPr>
        <p:spPr>
          <a:xfrm>
            <a:off x="78570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Result fed
back to LLM</a:t>
            </a:r>
          </a:p>
        </p:txBody>
      </p:sp>
      <p:sp>
        <p:nvSpPr>
          <p:cNvPr id="129" name="Arrow4"/>
          <p:cNvSpPr/>
          <p:nvPr/>
        </p:nvSpPr>
        <p:spPr>
          <a:xfrm>
            <a:off x="9482667" y="2929467"/>
            <a:ext cx="203200" cy="2032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1333" dirty="0">
                <a:solidFill>
                  <a:srgbClr val="0078D4"/>
                </a:solidFill>
                <a:latin typeface="Calibri" pitchFamily="34" charset="0"/>
              </a:rPr>
              <a:t>→</a:t>
            </a:r>
          </a:p>
        </p:txBody>
      </p:sp>
      <p:sp>
        <p:nvSpPr>
          <p:cNvPr id="130" name="Flow5"/>
          <p:cNvSpPr/>
          <p:nvPr/>
        </p:nvSpPr>
        <p:spPr>
          <a:xfrm>
            <a:off x="9685867" y="2624667"/>
            <a:ext cx="1625600" cy="8128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algn="ctr" defTabSz="1219170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Final
response</a:t>
            </a:r>
          </a:p>
        </p:txBody>
      </p:sp>
      <p:sp>
        <p:nvSpPr>
          <p:cNvPr id="150" name="FnBg"/>
          <p:cNvSpPr/>
          <p:nvPr/>
        </p:nvSpPr>
        <p:spPr>
          <a:xfrm>
            <a:off x="338667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1" name="FnAccent"/>
          <p:cNvSpPr/>
          <p:nvPr/>
        </p:nvSpPr>
        <p:spPr>
          <a:xfrm>
            <a:off x="389467" y="3928534"/>
            <a:ext cx="5486400" cy="67733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2" name="FnTitle"/>
          <p:cNvSpPr/>
          <p:nvPr/>
        </p:nvSpPr>
        <p:spPr>
          <a:xfrm>
            <a:off x="508000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Function Tools</a:t>
            </a:r>
          </a:p>
        </p:txBody>
      </p:sp>
      <p:sp>
        <p:nvSpPr>
          <p:cNvPr id="153" name="FnContent"/>
          <p:cNvSpPr/>
          <p:nvPr/>
        </p:nvSpPr>
        <p:spPr>
          <a:xfrm>
            <a:off x="508000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Native Python/C# functions the agent can invoke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Strongly typed with automatic schema generation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API calls, database queries, code execution</a:t>
            </a:r>
          </a:p>
        </p:txBody>
      </p:sp>
      <p:sp>
        <p:nvSpPr>
          <p:cNvPr id="160" name="McpBg"/>
          <p:cNvSpPr/>
          <p:nvPr/>
        </p:nvSpPr>
        <p:spPr>
          <a:xfrm>
            <a:off x="6265333" y="3928534"/>
            <a:ext cx="5588000" cy="1185333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1" name="McpAccent"/>
          <p:cNvSpPr/>
          <p:nvPr/>
        </p:nvSpPr>
        <p:spPr>
          <a:xfrm>
            <a:off x="6316133" y="3928534"/>
            <a:ext cx="5486400" cy="67733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2" name="McpTitle"/>
          <p:cNvSpPr/>
          <p:nvPr/>
        </p:nvSpPr>
        <p:spPr>
          <a:xfrm>
            <a:off x="6434667" y="4080934"/>
            <a:ext cx="5249333" cy="2709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MCP Servers</a:t>
            </a:r>
          </a:p>
        </p:txBody>
      </p:sp>
      <p:sp>
        <p:nvSpPr>
          <p:cNvPr id="163" name="McpContent"/>
          <p:cNvSpPr/>
          <p:nvPr/>
        </p:nvSpPr>
        <p:spPr>
          <a:xfrm>
            <a:off x="6434667" y="4402667"/>
            <a:ext cx="5249333" cy="6773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Model Context Protocol — dynamic tool discovery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Connect to external tool servers at runtime</a:t>
            </a:r>
          </a:p>
          <a:p>
            <a:pPr marL="152396" indent="-152396" defTabSz="1219170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Best for: ecosystem integration, shared tool repositories</a:t>
            </a:r>
          </a:p>
        </p:txBody>
      </p:sp>
      <p:sp>
        <p:nvSpPr>
          <p:cNvPr id="170" name="ConsBg"/>
          <p:cNvSpPr/>
          <p:nvPr/>
        </p:nvSpPr>
        <p:spPr>
          <a:xfrm>
            <a:off x="338667" y="5249333"/>
            <a:ext cx="11514667" cy="3048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1" name="ConsAccent"/>
          <p:cNvSpPr/>
          <p:nvPr/>
        </p:nvSpPr>
        <p:spPr>
          <a:xfrm>
            <a:off x="338667" y="5249333"/>
            <a:ext cx="84667" cy="3048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2" name="ConsTitle"/>
          <p:cNvSpPr/>
          <p:nvPr/>
        </p:nvSpPr>
        <p:spPr>
          <a:xfrm>
            <a:off x="541867" y="5249333"/>
            <a:ext cx="3386667" cy="304800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333" b="1" dirty="0">
                <a:solidFill>
                  <a:srgbClr val="E65100"/>
                </a:solidFill>
                <a:latin typeface="Calibri" pitchFamily="34" charset="0"/>
              </a:rPr>
              <a:t>⚠  Considerations</a:t>
            </a:r>
          </a:p>
        </p:txBody>
      </p:sp>
      <p:sp>
        <p:nvSpPr>
          <p:cNvPr id="180" name="Pill0"/>
          <p:cNvSpPr/>
          <p:nvPr/>
        </p:nvSpPr>
        <p:spPr>
          <a:xfrm>
            <a:off x="3725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1" name="PillT0"/>
          <p:cNvSpPr/>
          <p:nvPr/>
        </p:nvSpPr>
        <p:spPr>
          <a:xfrm>
            <a:off x="4741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Latency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Each tool call adds a round trip</a:t>
            </a:r>
          </a:p>
        </p:txBody>
      </p:sp>
      <p:sp>
        <p:nvSpPr>
          <p:cNvPr id="182" name="Pill1"/>
          <p:cNvSpPr/>
          <p:nvPr/>
        </p:nvSpPr>
        <p:spPr>
          <a:xfrm>
            <a:off x="3234267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3" name="PillT1"/>
          <p:cNvSpPr/>
          <p:nvPr/>
        </p:nvSpPr>
        <p:spPr>
          <a:xfrm>
            <a:off x="3335867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Token overhead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Tool schemas consume context</a:t>
            </a:r>
          </a:p>
        </p:txBody>
      </p:sp>
      <p:sp>
        <p:nvSpPr>
          <p:cNvPr id="184" name="Pill2"/>
          <p:cNvSpPr/>
          <p:nvPr/>
        </p:nvSpPr>
        <p:spPr>
          <a:xfrm>
            <a:off x="6096000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5" name="PillT2"/>
          <p:cNvSpPr/>
          <p:nvPr/>
        </p:nvSpPr>
        <p:spPr>
          <a:xfrm>
            <a:off x="6197600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Reliability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Models may call tools incorrectly</a:t>
            </a:r>
          </a:p>
        </p:txBody>
      </p:sp>
      <p:sp>
        <p:nvSpPr>
          <p:cNvPr id="186" name="Pill3"/>
          <p:cNvSpPr/>
          <p:nvPr/>
        </p:nvSpPr>
        <p:spPr>
          <a:xfrm>
            <a:off x="8957734" y="5588000"/>
            <a:ext cx="2760133" cy="508000"/>
          </a:xfrm>
          <a:prstGeom prst="roundRect">
            <a:avLst>
              <a:gd name="adj" fmla="val 8000"/>
            </a:avLst>
          </a:prstGeom>
          <a:solidFill>
            <a:srgbClr val="F0F5FA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7" name="PillT3"/>
          <p:cNvSpPr/>
          <p:nvPr/>
        </p:nvSpPr>
        <p:spPr>
          <a:xfrm>
            <a:off x="9059334" y="5621867"/>
            <a:ext cx="2556933" cy="440267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Debugging</a:t>
            </a:r>
          </a:p>
          <a:p>
            <a:pPr defTabSz="1219170">
              <a:spcBef>
                <a:spcPts val="67"/>
              </a:spcBef>
            </a:pPr>
            <a:r>
              <a:rPr lang="en-US" sz="933" dirty="0">
                <a:solidFill>
                  <a:srgbClr val="4A5568"/>
                </a:solidFill>
                <a:latin typeface="Calibri" pitchFamily="34" charset="0"/>
              </a:rPr>
              <a:t>Reasoning + code debugging combined</a:t>
            </a:r>
          </a:p>
        </p:txBody>
      </p:sp>
      <p:sp>
        <p:nvSpPr>
          <p:cNvPr id="190" name="FooterBg"/>
          <p:cNvSpPr/>
          <p:nvPr/>
        </p:nvSpPr>
        <p:spPr>
          <a:xfrm>
            <a:off x="0" y="6383867"/>
            <a:ext cx="12192000" cy="474133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1" name="FooterText"/>
          <p:cNvSpPr/>
          <p:nvPr/>
        </p:nvSpPr>
        <p:spPr>
          <a:xfrm>
            <a:off x="372533" y="6417734"/>
            <a:ext cx="11463867" cy="372533"/>
          </a:xfrm>
          <a:prstGeom prst="rect">
            <a:avLst/>
          </a:prstGeom>
          <a:noFill/>
          <a:ln>
            <a:noFill/>
          </a:ln>
        </p:spPr>
        <p:txBody>
          <a:bodyPr wrap="square" lIns="60960" tIns="48768" rIns="60960" bIns="48768" anchor="t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</a:p>
        </p:txBody>
      </p:sp>
    </p:spTree>
    <p:extLst>
      <p:ext uri="{BB962C8B-B14F-4D97-AF65-F5344CB8AC3E}">
        <p14:creationId xmlns:p14="http://schemas.microsoft.com/office/powerpoint/2010/main" val="1070085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68224" cy="12192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4112"/>
            <a:ext cx="1109472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30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30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804672"/>
            <a:ext cx="1109472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467" i="1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your agent the ability to call C# methods, external APIs, and hosted MCP servers</a:t>
            </a:r>
            <a:endParaRPr lang="en-US" sz="14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365760" y="1321380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365760" y="1321380"/>
            <a:ext cx="5388864" cy="85344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12064" y="1650564"/>
            <a:ext cx="755904" cy="755904"/>
          </a:xfrm>
          <a:prstGeom prst="ellipse">
            <a:avLst/>
          </a:prstGeom>
          <a:solidFill>
            <a:srgbClr val="0078D4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27" y="1786627"/>
            <a:ext cx="483779" cy="48377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02080" y="15286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AIFunctionFactory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1402080" y="1955364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lambdas or static methods dynamically at runtime — for context-dependent or user-specific tools.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365760" y="2979492"/>
            <a:ext cx="5388864" cy="1511808"/>
          </a:xfrm>
          <a:prstGeom prst="rect">
            <a:avLst/>
          </a:prstGeom>
          <a:solidFill>
            <a:srgbClr val="F3F6FB"/>
          </a:solidFill>
          <a:ln/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5"/>
          <p:cNvSpPr/>
          <p:nvPr/>
        </p:nvSpPr>
        <p:spPr>
          <a:xfrm>
            <a:off x="365760" y="2979492"/>
            <a:ext cx="5388864" cy="853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512064" y="3308676"/>
            <a:ext cx="755904" cy="755904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7" y="3444739"/>
            <a:ext cx="483779" cy="48377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02080" y="318675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600" b="1" dirty="0">
                <a:solidFill>
                  <a:srgbClr val="0F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Tools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1402080" y="3613476"/>
            <a:ext cx="4206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any MCP-compatible server URL. Framework auto-discovers all tools — no extra boilerplate needed.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19"/>
          <p:cNvSpPr/>
          <p:nvPr/>
        </p:nvSpPr>
        <p:spPr>
          <a:xfrm>
            <a:off x="5998464" y="1341120"/>
            <a:ext cx="5852160" cy="5023104"/>
          </a:xfrm>
          <a:prstGeom prst="rect">
            <a:avLst/>
          </a:prstGeom>
          <a:solidFill>
            <a:srgbClr val="1E1E2E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5998464" y="1341120"/>
            <a:ext cx="5852160" cy="487680"/>
          </a:xfrm>
          <a:prstGeom prst="rect">
            <a:avLst/>
          </a:prstGeom>
          <a:solidFill>
            <a:srgbClr val="252535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169152" y="1426464"/>
            <a:ext cx="551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333" b="1" dirty="0">
                <a:solidFill>
                  <a:srgbClr val="FF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— Microsoft Agent Framework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6169152" y="1901952"/>
            <a:ext cx="5510784" cy="434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tool using Description attribute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location.")]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[Description("The location.")] string location)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$"{location}: cloudy, 15°C";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with AIFunctionFactory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AzureOpenAIClient(...)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.GetChatClient("gpt-4o-mini")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.AsAIAgent(instructions: "...",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tools: [AIFunctionFactory.Create(GetWeather)]);</a:t>
            </a:r>
          </a:p>
          <a:p>
            <a:pPr defTabSz="1219170"/>
            <a:endParaRPr lang="en-US" sz="907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</a:t>
            </a:r>
          </a:p>
          <a:p>
            <a:pPr defTabSz="1219170"/>
            <a:r>
              <a:rPr lang="en-US" sz="907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"Weather in Amsterdam?"));</a:t>
            </a:r>
          </a:p>
        </p:txBody>
      </p:sp>
      <p:sp>
        <p:nvSpPr>
          <p:cNvPr id="28" name="Shape 23"/>
          <p:cNvSpPr/>
          <p:nvPr/>
        </p:nvSpPr>
        <p:spPr>
          <a:xfrm>
            <a:off x="0" y="6388608"/>
            <a:ext cx="12192000" cy="469392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pPr defTabSz="1219170"/>
            <a:endParaRPr lang="en-IN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  ·  learn.microsoft.com/en-us/agent-framework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040946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1" name="AccentStripe"/>
          <p:cNvSpPr>
            <a:spLocks noGrp="1"/>
          </p:cNvSpPr>
          <p:nvPr/>
        </p:nvSpPr>
        <p:spPr>
          <a:xfrm>
            <a:off x="0" y="0"/>
            <a:ext cx="266700" cy="1219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2" name="Title"/>
          <p:cNvSpPr>
            <a:spLocks noGrp="1"/>
          </p:cNvSpPr>
          <p:nvPr/>
        </p:nvSpPr>
        <p:spPr>
          <a:xfrm>
            <a:off x="546100" y="139700"/>
            <a:ext cx="11087100" cy="635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3067" b="1" dirty="0">
                <a:solidFill>
                  <a:srgbClr val="FFFFFF"/>
                </a:solidFill>
                <a:latin typeface="Calibri" pitchFamily="34" charset="0"/>
              </a:rPr>
              <a:t>Agent Skills</a:t>
            </a:r>
          </a:p>
        </p:txBody>
      </p:sp>
      <p:sp>
        <p:nvSpPr>
          <p:cNvPr id="103" name="Subtitle"/>
          <p:cNvSpPr>
            <a:spLocks noGrp="1"/>
          </p:cNvSpPr>
          <p:nvPr/>
        </p:nvSpPr>
        <p:spPr>
          <a:xfrm>
            <a:off x="546100" y="812800"/>
            <a:ext cx="11087100" cy="3429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i="1" dirty="0">
                <a:solidFill>
                  <a:srgbClr val="C7E0F4"/>
                </a:solidFill>
                <a:latin typeface="Calibri" pitchFamily="34" charset="0"/>
              </a:rPr>
              <a:t>Modular, reusable capability packages that give AI agents domain expertise on demand</a:t>
            </a:r>
          </a:p>
        </p:txBody>
      </p:sp>
      <p:sp>
        <p:nvSpPr>
          <p:cNvPr id="104" name="WhyBg"/>
          <p:cNvSpPr>
            <a:spLocks noGrp="1"/>
          </p:cNvSpPr>
          <p:nvPr/>
        </p:nvSpPr>
        <p:spPr>
          <a:xfrm>
            <a:off x="342900" y="1333500"/>
            <a:ext cx="11518900" cy="12065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5" name="WhyAccent"/>
          <p:cNvSpPr>
            <a:spLocks noGrp="1"/>
          </p:cNvSpPr>
          <p:nvPr/>
        </p:nvSpPr>
        <p:spPr>
          <a:xfrm>
            <a:off x="342900" y="1333500"/>
            <a:ext cx="88900" cy="1206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06" name="WhyText"/>
          <p:cNvSpPr>
            <a:spLocks noGrp="1"/>
          </p:cNvSpPr>
          <p:nvPr/>
        </p:nvSpPr>
        <p:spPr>
          <a:xfrm>
            <a:off x="546100" y="1384300"/>
            <a:ext cx="5334000" cy="10668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What is a Skill?</a:t>
            </a:r>
          </a:p>
          <a:p>
            <a:pPr>
              <a:spcBef>
                <a:spcPts val="150"/>
              </a:spcBef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 folder of instructions, scripts, and resources an agent discovers and loads on demand — once built, reusable across any compatible agent product.</a:t>
            </a: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  <a:p>
            <a:pPr>
              <a:spcBef>
                <a:spcPts val="150"/>
              </a:spcBef>
              <a:buNone/>
            </a:pPr>
            <a:endParaRPr lang="en-US" sz="100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10" name="LoopBg"/>
          <p:cNvSpPr>
            <a:spLocks noGrp="1"/>
          </p:cNvSpPr>
          <p:nvPr/>
        </p:nvSpPr>
        <p:spPr>
          <a:xfrm>
            <a:off x="342900" y="2667000"/>
            <a:ext cx="11518900" cy="1460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11" name="LoopTitle"/>
          <p:cNvSpPr>
            <a:spLocks noGrp="1"/>
          </p:cNvSpPr>
          <p:nvPr/>
        </p:nvSpPr>
        <p:spPr>
          <a:xfrm>
            <a:off x="546100" y="27305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078D4"/>
                </a:solidFill>
                <a:latin typeface="Calibri" pitchFamily="34" charset="0"/>
              </a:rPr>
              <a:t>Skill Progressive Disclosure — 3-Stage Loading</a:t>
            </a:r>
          </a:p>
        </p:txBody>
      </p:sp>
      <p:sp>
        <p:nvSpPr>
          <p:cNvPr id="120" name="Flow0"/>
          <p:cNvSpPr>
            <a:spLocks noGrp="1"/>
          </p:cNvSpPr>
          <p:nvPr/>
        </p:nvSpPr>
        <p:spPr>
          <a:xfrm>
            <a:off x="546100" y="3048000"/>
            <a:ext cx="1625600" cy="762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Advertise
(~100 tokens)</a:t>
            </a:r>
          </a:p>
        </p:txBody>
      </p:sp>
      <p:sp>
        <p:nvSpPr>
          <p:cNvPr id="121" name="Arrow0"/>
          <p:cNvSpPr>
            <a:spLocks noGrp="1"/>
          </p:cNvSpPr>
          <p:nvPr/>
        </p:nvSpPr>
        <p:spPr>
          <a:xfrm>
            <a:off x="21717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2" name="Flow1"/>
          <p:cNvSpPr>
            <a:spLocks noGrp="1"/>
          </p:cNvSpPr>
          <p:nvPr/>
        </p:nvSpPr>
        <p:spPr>
          <a:xfrm>
            <a:off x="2374900" y="3048000"/>
            <a:ext cx="1625600" cy="762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Load
SKILL.md</a:t>
            </a:r>
          </a:p>
        </p:txBody>
      </p:sp>
      <p:sp>
        <p:nvSpPr>
          <p:cNvPr id="123" name="Arrow1"/>
          <p:cNvSpPr>
            <a:spLocks noGrp="1"/>
          </p:cNvSpPr>
          <p:nvPr/>
        </p:nvSpPr>
        <p:spPr>
          <a:xfrm>
            <a:off x="40005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4" name="Flow2"/>
          <p:cNvSpPr>
            <a:spLocks noGrp="1"/>
          </p:cNvSpPr>
          <p:nvPr/>
        </p:nvSpPr>
        <p:spPr>
          <a:xfrm>
            <a:off x="4203700" y="3048000"/>
            <a:ext cx="1625600" cy="7620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Execute
Instructions</a:t>
            </a:r>
          </a:p>
        </p:txBody>
      </p:sp>
      <p:sp>
        <p:nvSpPr>
          <p:cNvPr id="125" name="Arrow2"/>
          <p:cNvSpPr>
            <a:spLocks noGrp="1"/>
          </p:cNvSpPr>
          <p:nvPr/>
        </p:nvSpPr>
        <p:spPr>
          <a:xfrm>
            <a:off x="58293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6" name="Flow3"/>
          <p:cNvSpPr>
            <a:spLocks noGrp="1"/>
          </p:cNvSpPr>
          <p:nvPr/>
        </p:nvSpPr>
        <p:spPr>
          <a:xfrm>
            <a:off x="6032500" y="3048000"/>
            <a:ext cx="1625600" cy="762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Return
Result</a:t>
            </a:r>
          </a:p>
        </p:txBody>
      </p:sp>
      <p:sp>
        <p:nvSpPr>
          <p:cNvPr id="127" name="Arrow3"/>
          <p:cNvSpPr>
            <a:spLocks noGrp="1"/>
          </p:cNvSpPr>
          <p:nvPr/>
        </p:nvSpPr>
        <p:spPr>
          <a:xfrm>
            <a:off x="7658100" y="3327400"/>
            <a:ext cx="203200" cy="203200"/>
          </a:xfrm>
          <a:prstGeom prst="rightArrow">
            <a:avLst/>
          </a:prstGeom>
          <a:solidFill>
            <a:srgbClr val="4A556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8" name="Flow4"/>
          <p:cNvSpPr>
            <a:spLocks noGrp="1"/>
          </p:cNvSpPr>
          <p:nvPr/>
        </p:nvSpPr>
        <p:spPr>
          <a:xfrm>
            <a:off x="7861300" y="3048000"/>
            <a:ext cx="1625600" cy="762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vert="horz" lIns="91440" tIns="45720" rIns="91440" bIns="45720" anchor="ctr"/>
          <a:lstStyle/>
          <a:p>
            <a:pPr algn="ctr"/>
            <a:r>
              <a:rPr lang="en-US" sz="933" b="1" dirty="0">
                <a:solidFill>
                  <a:srgbClr val="FFFFFF"/>
                </a:solidFill>
                <a:latin typeface="Calibri" pitchFamily="34" charset="0"/>
              </a:rPr>
              <a:t>Unload
(context lean)</a:t>
            </a:r>
          </a:p>
        </p:txBody>
      </p:sp>
      <p:sp>
        <p:nvSpPr>
          <p:cNvPr id="150" name="SkillBg"/>
          <p:cNvSpPr>
            <a:spLocks noGrp="1"/>
          </p:cNvSpPr>
          <p:nvPr/>
        </p:nvSpPr>
        <p:spPr>
          <a:xfrm>
            <a:off x="3429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1" name="SkillAccent"/>
          <p:cNvSpPr>
            <a:spLocks noGrp="1"/>
          </p:cNvSpPr>
          <p:nvPr/>
        </p:nvSpPr>
        <p:spPr>
          <a:xfrm>
            <a:off x="393700" y="4254500"/>
            <a:ext cx="5486400" cy="635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52" name="SkillTitle"/>
          <p:cNvSpPr>
            <a:spLocks noGrp="1"/>
          </p:cNvSpPr>
          <p:nvPr/>
        </p:nvSpPr>
        <p:spPr>
          <a:xfrm>
            <a:off x="5080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Anatomy of a Skill</a:t>
            </a:r>
          </a:p>
        </p:txBody>
      </p:sp>
      <p:sp>
        <p:nvSpPr>
          <p:cNvPr id="153" name="SkillContent"/>
          <p:cNvSpPr>
            <a:spLocks noGrp="1"/>
          </p:cNvSpPr>
          <p:nvPr/>
        </p:nvSpPr>
        <p:spPr>
          <a:xfrm>
            <a:off x="5080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SKILL.md — name, description + step-by-step instructions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scripts (Python / C#) agents can execute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Optional reference docs loaded only when needed</a:t>
            </a:r>
          </a:p>
        </p:txBody>
      </p:sp>
      <p:sp>
        <p:nvSpPr>
          <p:cNvPr id="160" name="WireBg"/>
          <p:cNvSpPr>
            <a:spLocks noGrp="1"/>
          </p:cNvSpPr>
          <p:nvPr/>
        </p:nvSpPr>
        <p:spPr>
          <a:xfrm>
            <a:off x="6261100" y="4254500"/>
            <a:ext cx="5588000" cy="1206500"/>
          </a:xfrm>
          <a:prstGeom prst="rect">
            <a:avLst/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1" name="WireAccent"/>
          <p:cNvSpPr>
            <a:spLocks noGrp="1"/>
          </p:cNvSpPr>
          <p:nvPr/>
        </p:nvSpPr>
        <p:spPr>
          <a:xfrm>
            <a:off x="6311900" y="4254500"/>
            <a:ext cx="5486400" cy="635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62" name="WireTitle"/>
          <p:cNvSpPr>
            <a:spLocks noGrp="1"/>
          </p:cNvSpPr>
          <p:nvPr/>
        </p:nvSpPr>
        <p:spPr>
          <a:xfrm>
            <a:off x="6438900" y="4406900"/>
            <a:ext cx="52451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0F1F3D"/>
                </a:solidFill>
                <a:latin typeface="Calibri" pitchFamily="34" charset="0"/>
              </a:rPr>
              <a:t>Three Authoring Styles (.NET)</a:t>
            </a:r>
          </a:p>
        </p:txBody>
      </p:sp>
      <p:sp>
        <p:nvSpPr>
          <p:cNvPr id="163" name="WireContent"/>
          <p:cNvSpPr>
            <a:spLocks noGrp="1"/>
          </p:cNvSpPr>
          <p:nvPr/>
        </p:nvSpPr>
        <p:spPr>
          <a:xfrm>
            <a:off x="6438900" y="4711700"/>
            <a:ext cx="5245100" cy="6731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File-based — SKILL.md files discovered from disk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Inline — AgentInlineSkill defined alongside app code</a:t>
            </a:r>
          </a:p>
          <a:p>
            <a:pPr marL="152396" indent="-152396">
              <a:spcBef>
                <a:spcPts val="200"/>
              </a:spcBef>
              <a:buFont typeface="Arial"/>
              <a:buChar char="•"/>
            </a:pP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Class-based — AgentClassSkill&lt;T&gt; shipped as NuGet</a:t>
            </a:r>
          </a:p>
        </p:txBody>
      </p:sp>
      <p:sp>
        <p:nvSpPr>
          <p:cNvPr id="170" name="ConsBg"/>
          <p:cNvSpPr>
            <a:spLocks noGrp="1"/>
          </p:cNvSpPr>
          <p:nvPr/>
        </p:nvSpPr>
        <p:spPr>
          <a:xfrm>
            <a:off x="342900" y="5588000"/>
            <a:ext cx="11518900" cy="2794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1" name="ConsAccent"/>
          <p:cNvSpPr>
            <a:spLocks noGrp="1"/>
          </p:cNvSpPr>
          <p:nvPr/>
        </p:nvSpPr>
        <p:spPr>
          <a:xfrm>
            <a:off x="342900" y="5588000"/>
            <a:ext cx="88900" cy="2794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72" name="ConsTitle"/>
          <p:cNvSpPr>
            <a:spLocks noGrp="1"/>
          </p:cNvSpPr>
          <p:nvPr/>
        </p:nvSpPr>
        <p:spPr>
          <a:xfrm>
            <a:off x="546100" y="56007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467" b="1" dirty="0">
                <a:solidFill>
                  <a:srgbClr val="E65100"/>
                </a:solidFill>
                <a:latin typeface="Calibri" pitchFamily="34" charset="0"/>
              </a:rPr>
              <a:t>Key Considerations</a:t>
            </a:r>
          </a:p>
        </p:txBody>
      </p:sp>
      <p:sp>
        <p:nvSpPr>
          <p:cNvPr id="180" name="Pill0"/>
          <p:cNvSpPr>
            <a:spLocks noGrp="1"/>
          </p:cNvSpPr>
          <p:nvPr/>
        </p:nvSpPr>
        <p:spPr>
          <a:xfrm>
            <a:off x="3683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1" name="PillT0"/>
          <p:cNvSpPr>
            <a:spLocks noGrp="1"/>
          </p:cNvSpPr>
          <p:nvPr/>
        </p:nvSpPr>
        <p:spPr>
          <a:xfrm>
            <a:off x="4445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E65100"/>
                </a:solidFill>
                <a:latin typeface="Calibri" pitchFamily="34" charset="0"/>
              </a:rPr>
              <a:t>🔒 Security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Treat skills like npm packages — review before use</a:t>
            </a:r>
          </a:p>
        </p:txBody>
      </p:sp>
      <p:sp>
        <p:nvSpPr>
          <p:cNvPr id="182" name="Pill1"/>
          <p:cNvSpPr>
            <a:spLocks noGrp="1"/>
          </p:cNvSpPr>
          <p:nvPr/>
        </p:nvSpPr>
        <p:spPr>
          <a:xfrm>
            <a:off x="32004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3" name="PillT1"/>
          <p:cNvSpPr>
            <a:spLocks noGrp="1"/>
          </p:cNvSpPr>
          <p:nvPr/>
        </p:nvSpPr>
        <p:spPr>
          <a:xfrm>
            <a:off x="32766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⚡ Context Efficiency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Progressive disclosure keeps token cost low</a:t>
            </a:r>
          </a:p>
        </p:txBody>
      </p:sp>
      <p:sp>
        <p:nvSpPr>
          <p:cNvPr id="184" name="Pill2"/>
          <p:cNvSpPr>
            <a:spLocks noGrp="1"/>
          </p:cNvSpPr>
          <p:nvPr/>
        </p:nvSpPr>
        <p:spPr>
          <a:xfrm>
            <a:off x="60325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5" name="PillT2"/>
          <p:cNvSpPr>
            <a:spLocks noGrp="1"/>
          </p:cNvSpPr>
          <p:nvPr/>
        </p:nvSpPr>
        <p:spPr>
          <a:xfrm>
            <a:off x="61087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7B2FF7"/>
                </a:solidFill>
                <a:latin typeface="Calibri" pitchFamily="34" charset="0"/>
              </a:rPr>
              <a:t>♻️ Reusability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One skill, any model: Claude, GPT-4, Gemini</a:t>
            </a:r>
          </a:p>
        </p:txBody>
      </p:sp>
      <p:sp>
        <p:nvSpPr>
          <p:cNvPr id="186" name="Pill3"/>
          <p:cNvSpPr>
            <a:spLocks noGrp="1"/>
          </p:cNvSpPr>
          <p:nvPr/>
        </p:nvSpPr>
        <p:spPr>
          <a:xfrm>
            <a:off x="8864600" y="5918200"/>
            <a:ext cx="2755900" cy="482600"/>
          </a:xfrm>
          <a:prstGeom prst="roundRect">
            <a:avLst>
              <a:gd name="adj" fmla="val 16667"/>
            </a:avLst>
          </a:prstGeom>
          <a:solidFill>
            <a:srgbClr val="F0F5FA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187" name="PillT3"/>
          <p:cNvSpPr>
            <a:spLocks noGrp="1"/>
          </p:cNvSpPr>
          <p:nvPr/>
        </p:nvSpPr>
        <p:spPr>
          <a:xfrm>
            <a:off x="8940800" y="5930900"/>
            <a:ext cx="2603500" cy="4572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anchor="ctr"/>
          <a:lstStyle/>
          <a:p>
            <a:r>
              <a:rPr lang="en-US" sz="1067" b="1" dirty="0">
                <a:solidFill>
                  <a:srgbClr val="2E7D32"/>
                </a:solidFill>
                <a:latin typeface="Calibri" pitchFamily="34" charset="0"/>
              </a:rPr>
              <a:t>📦 Versioning</a:t>
            </a:r>
          </a:p>
          <a:p>
            <a:pPr>
              <a:spcBef>
                <a:spcPts val="50"/>
              </a:spcBef>
            </a:pPr>
            <a:r>
              <a:rPr lang="en-US" sz="867" dirty="0">
                <a:solidFill>
                  <a:srgbClr val="4A5568"/>
                </a:solidFill>
                <a:latin typeface="Calibri" pitchFamily="34" charset="0"/>
              </a:rPr>
              <a:t>Ship as file dirs or NuGet — iterate independently</a:t>
            </a:r>
          </a:p>
        </p:txBody>
      </p:sp>
      <p:sp>
        <p:nvSpPr>
          <p:cNvPr id="19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 vert="horz" lIns="91440" tIns="45720" rIns="91440" bIns="45720" anchor="ctr"/>
          <a:lstStyle/>
          <a:p>
            <a:endParaRPr lang="en-US" dirty="0"/>
          </a:p>
        </p:txBody>
      </p:sp>
      <p:sp>
        <p:nvSpPr>
          <p:cNvPr id="2" name="Text 27">
            <a:extLst>
              <a:ext uri="{FF2B5EF4-FFF2-40B4-BE49-F238E27FC236}">
                <a16:creationId xmlns:a16="http://schemas.microsoft.com/office/drawing/2014/main" id="{A4116B28-01F2-D2C0-0845-0341796C00C6}"/>
              </a:ext>
            </a:extLst>
          </p:cNvPr>
          <p:cNvSpPr/>
          <p:nvPr/>
        </p:nvSpPr>
        <p:spPr>
          <a:xfrm>
            <a:off x="365760" y="6425184"/>
            <a:ext cx="1146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200" dirty="0">
                <a:solidFill>
                  <a:srgbClr val="6A9CC7"/>
                </a:solidFill>
                <a:latin typeface="Calibri" pitchFamily="34" charset="0"/>
              </a:rPr>
              <a:t>Microsoft Agent Framework  ·  learn.microsoft.com/en-us/agent-framework</a:t>
            </a:r>
          </a:p>
        </p:txBody>
      </p:sp>
      <p:sp>
        <p:nvSpPr>
          <p:cNvPr id="3" name="WhyDivider">
            <a:extLst>
              <a:ext uri="{FF2B5EF4-FFF2-40B4-BE49-F238E27FC236}">
                <a16:creationId xmlns:a16="http://schemas.microsoft.com/office/drawing/2014/main" id="{56FFB75E-1855-4B7A-9EF3-241B8A3D9789}"/>
              </a:ext>
            </a:extLst>
          </p:cNvPr>
          <p:cNvSpPr/>
          <p:nvPr/>
        </p:nvSpPr>
        <p:spPr>
          <a:xfrm>
            <a:off x="5994400" y="1384300"/>
            <a:ext cx="25400" cy="1066800"/>
          </a:xfrm>
          <a:prstGeom prst="rect">
            <a:avLst/>
          </a:prstGeom>
          <a:solidFill>
            <a:srgbClr val="D0D8E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IN"/>
          </a:p>
        </p:txBody>
      </p:sp>
      <p:sp>
        <p:nvSpPr>
          <p:cNvPr id="4" name="WhyAgentSkills">
            <a:extLst>
              <a:ext uri="{FF2B5EF4-FFF2-40B4-BE49-F238E27FC236}">
                <a16:creationId xmlns:a16="http://schemas.microsoft.com/office/drawing/2014/main" id="{3FFF722E-3781-406F-A376-AE2FECF9AD43}"/>
              </a:ext>
            </a:extLst>
          </p:cNvPr>
          <p:cNvSpPr txBox="1"/>
          <p:nvPr/>
        </p:nvSpPr>
        <p:spPr>
          <a:xfrm>
            <a:off x="6121400" y="1384300"/>
            <a:ext cx="5270500" cy="1066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en-US" sz="1200" b="1" dirty="0">
                <a:solidFill>
                  <a:srgbClr val="0078D4"/>
                </a:solidFill>
                <a:latin typeface="Calibri" pitchFamily="34" charset="0"/>
              </a:rPr>
              <a:t>Why Agent Skills?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Skill authors: build once, deploy across agent products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Teams: capture org knowledge in portable, versioned packages</a:t>
            </a:r>
          </a:p>
          <a:p>
            <a:pPr marL="114300" indent="-114300">
              <a:spcBef>
                <a:spcPts val="150"/>
              </a:spcBef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</a:rPr>
              <a:t>Agents: extend capabilities on demand, keep context lean</a:t>
            </a:r>
          </a:p>
        </p:txBody>
      </p:sp>
    </p:spTree>
    <p:extLst>
      <p:ext uri="{BB962C8B-B14F-4D97-AF65-F5344CB8AC3E}">
        <p14:creationId xmlns:p14="http://schemas.microsoft.com/office/powerpoint/2010/main" val="8745946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g"/>
          <p:cNvSpPr>
            <a:spLocks noGrp="1"/>
          </p:cNvSpPr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>
            <a:spLocks noGrp="1"/>
          </p:cNvSpPr>
          <p:nvPr/>
        </p:nvSpPr>
        <p:spPr>
          <a:xfrm>
            <a:off x="0" y="0"/>
            <a:ext cx="266700" cy="1066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 txBox="1">
            <a:spLocks noGrp="1"/>
          </p:cNvSpPr>
          <p:nvPr/>
        </p:nvSpPr>
        <p:spPr>
          <a:xfrm>
            <a:off x="546100" y="101600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Agent Tools  vs.  Agent Skills</a:t>
            </a:r>
          </a:p>
        </p:txBody>
      </p:sp>
      <p:sp>
        <p:nvSpPr>
          <p:cNvPr id="103" name="Subtitle"/>
          <p:cNvSpPr txBox="1">
            <a:spLocks noGrp="1"/>
          </p:cNvSpPr>
          <p:nvPr/>
        </p:nvSpPr>
        <p:spPr>
          <a:xfrm>
            <a:off x="546100" y="685800"/>
            <a:ext cx="11087100" cy="3048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 lnSpcReduction="10000"/>
          </a:bodyPr>
          <a:lstStyle/>
          <a:p>
            <a:pPr>
              <a:buNone/>
            </a:pPr>
            <a:r>
              <a:rPr lang="en-US" sz="1400" i="1" dirty="0">
                <a:solidFill>
                  <a:srgbClr val="C7E0F4"/>
                </a:solidFill>
                <a:latin typeface="Calibri" pitchFamily="34" charset="0"/>
              </a:rPr>
              <a:t>Two complementary building blocks — understanding when to use each</a:t>
            </a:r>
          </a:p>
        </p:txBody>
      </p:sp>
      <p:sp>
        <p:nvSpPr>
          <p:cNvPr id="120" name="LColHdr"/>
          <p:cNvSpPr>
            <a:spLocks noGrp="1"/>
          </p:cNvSpPr>
          <p:nvPr/>
        </p:nvSpPr>
        <p:spPr>
          <a:xfrm>
            <a:off x="346996" y="1778000"/>
            <a:ext cx="5537200" cy="279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LColHdrTxt"/>
          <p:cNvSpPr txBox="1">
            <a:spLocks noGrp="1"/>
          </p:cNvSpPr>
          <p:nvPr/>
        </p:nvSpPr>
        <p:spPr>
          <a:xfrm>
            <a:off x="-1574230" y="179832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⚙  AGENT TOOLS — the verbs</a:t>
            </a:r>
          </a:p>
        </p:txBody>
      </p:sp>
      <p:sp>
        <p:nvSpPr>
          <p:cNvPr id="122" name="RColHdr"/>
          <p:cNvSpPr>
            <a:spLocks noGrp="1"/>
          </p:cNvSpPr>
          <p:nvPr/>
        </p:nvSpPr>
        <p:spPr>
          <a:xfrm>
            <a:off x="6286500" y="1778000"/>
            <a:ext cx="5537200" cy="279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RColHdrTxt"/>
          <p:cNvSpPr txBox="1">
            <a:spLocks noGrp="1"/>
          </p:cNvSpPr>
          <p:nvPr/>
        </p:nvSpPr>
        <p:spPr>
          <a:xfrm>
            <a:off x="4503420" y="1788160"/>
            <a:ext cx="5537200" cy="279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📋  AGENT SKILLS — the expertise</a:t>
            </a:r>
          </a:p>
        </p:txBody>
      </p:sp>
      <p:sp>
        <p:nvSpPr>
          <p:cNvPr id="200" name="LBg0"/>
          <p:cNvSpPr>
            <a:spLocks noGrp="1"/>
          </p:cNvSpPr>
          <p:nvPr/>
        </p:nvSpPr>
        <p:spPr>
          <a:xfrm>
            <a:off x="342900" y="2070100"/>
            <a:ext cx="5537200" cy="9398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LAcc0"/>
          <p:cNvSpPr>
            <a:spLocks noGrp="1"/>
          </p:cNvSpPr>
          <p:nvPr/>
        </p:nvSpPr>
        <p:spPr>
          <a:xfrm>
            <a:off x="342900" y="207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LTx0"/>
          <p:cNvSpPr txBox="1">
            <a:spLocks noGrp="1"/>
          </p:cNvSpPr>
          <p:nvPr/>
        </p:nvSpPr>
        <p:spPr>
          <a:xfrm>
            <a:off x="431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discrete capability the agent can directly invoke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One atomic action: API call, file read, search, or calculation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Stateless — no memory or logic about when to use itself</a:t>
            </a:r>
          </a:p>
        </p:txBody>
      </p:sp>
      <p:sp>
        <p:nvSpPr>
          <p:cNvPr id="203" name="RBg0"/>
          <p:cNvSpPr>
            <a:spLocks noGrp="1"/>
          </p:cNvSpPr>
          <p:nvPr/>
        </p:nvSpPr>
        <p:spPr>
          <a:xfrm>
            <a:off x="6311900" y="2070100"/>
            <a:ext cx="5537200" cy="9398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RAcc0"/>
          <p:cNvSpPr>
            <a:spLocks noGrp="1"/>
          </p:cNvSpPr>
          <p:nvPr/>
        </p:nvSpPr>
        <p:spPr>
          <a:xfrm>
            <a:off x="6292236" y="207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RTx0"/>
          <p:cNvSpPr txBox="1">
            <a:spLocks noGrp="1"/>
          </p:cNvSpPr>
          <p:nvPr/>
        </p:nvSpPr>
        <p:spPr>
          <a:xfrm>
            <a:off x="6400800" y="2146300"/>
            <a:ext cx="5359400" cy="7874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What it is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 SKILL.md playbook the agent reads before tackling a task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Encodes expert best-practices: which tools to call and in what order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Not invoked like a tool — consulted like a guide</a:t>
            </a:r>
          </a:p>
        </p:txBody>
      </p:sp>
      <p:sp>
        <p:nvSpPr>
          <p:cNvPr id="206" name="LBg1"/>
          <p:cNvSpPr>
            <a:spLocks noGrp="1"/>
          </p:cNvSpPr>
          <p:nvPr/>
        </p:nvSpPr>
        <p:spPr>
          <a:xfrm>
            <a:off x="342900" y="3048000"/>
            <a:ext cx="5537200" cy="7620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LAcc1"/>
          <p:cNvSpPr>
            <a:spLocks noGrp="1"/>
          </p:cNvSpPr>
          <p:nvPr/>
        </p:nvSpPr>
        <p:spPr>
          <a:xfrm>
            <a:off x="342900" y="30480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LTx1"/>
          <p:cNvSpPr txBox="1">
            <a:spLocks noGrp="1"/>
          </p:cNvSpPr>
          <p:nvPr/>
        </p:nvSpPr>
        <p:spPr>
          <a:xfrm>
            <a:off x="431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picks a tool, sends parameters, and gets a result back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Direct invocation — one call, one result, done</a:t>
            </a:r>
          </a:p>
        </p:txBody>
      </p:sp>
      <p:sp>
        <p:nvSpPr>
          <p:cNvPr id="209" name="RBg1"/>
          <p:cNvSpPr>
            <a:spLocks noGrp="1"/>
          </p:cNvSpPr>
          <p:nvPr/>
        </p:nvSpPr>
        <p:spPr>
          <a:xfrm>
            <a:off x="6311900" y="3048000"/>
            <a:ext cx="5537200" cy="7620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RAcc1"/>
          <p:cNvSpPr>
            <a:spLocks noGrp="1"/>
          </p:cNvSpPr>
          <p:nvPr/>
        </p:nvSpPr>
        <p:spPr>
          <a:xfrm>
            <a:off x="6311900" y="30480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RTx1"/>
          <p:cNvSpPr txBox="1">
            <a:spLocks noGrp="1"/>
          </p:cNvSpPr>
          <p:nvPr/>
        </p:nvSpPr>
        <p:spPr>
          <a:xfrm>
            <a:off x="6400800" y="3124200"/>
            <a:ext cx="5359400" cy="6096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How it runs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Agent reads the SKILL.md first, then chains tools following that guide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May sequence: bash_tool → create_file → execute → present_files</a:t>
            </a:r>
          </a:p>
        </p:txBody>
      </p:sp>
      <p:sp>
        <p:nvSpPr>
          <p:cNvPr id="212" name="LBg2"/>
          <p:cNvSpPr>
            <a:spLocks noGrp="1"/>
          </p:cNvSpPr>
          <p:nvPr/>
        </p:nvSpPr>
        <p:spPr>
          <a:xfrm>
            <a:off x="342900" y="3848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LAcc2"/>
          <p:cNvSpPr>
            <a:spLocks noGrp="1"/>
          </p:cNvSpPr>
          <p:nvPr/>
        </p:nvSpPr>
        <p:spPr>
          <a:xfrm>
            <a:off x="342900" y="3848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LTx2"/>
          <p:cNvSpPr txBox="1">
            <a:spLocks noGrp="1"/>
          </p:cNvSpPr>
          <p:nvPr/>
        </p:nvSpPr>
        <p:spPr>
          <a:xfrm>
            <a:off x="431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Atomic — one action, one result. No internal memory or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a library function — does exactly one thing</a:t>
            </a:r>
          </a:p>
        </p:txBody>
      </p:sp>
      <p:sp>
        <p:nvSpPr>
          <p:cNvPr id="215" name="RBg2"/>
          <p:cNvSpPr>
            <a:spLocks noGrp="1"/>
          </p:cNvSpPr>
          <p:nvPr/>
        </p:nvSpPr>
        <p:spPr>
          <a:xfrm>
            <a:off x="6311900" y="3848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RAcc2"/>
          <p:cNvSpPr>
            <a:spLocks noGrp="1"/>
          </p:cNvSpPr>
          <p:nvPr/>
        </p:nvSpPr>
        <p:spPr>
          <a:xfrm>
            <a:off x="6311900" y="3848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RTx2"/>
          <p:cNvSpPr txBox="1">
            <a:spLocks noGrp="1"/>
          </p:cNvSpPr>
          <p:nvPr/>
        </p:nvSpPr>
        <p:spPr>
          <a:xfrm>
            <a:off x="6400800" y="3924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Scope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Composite — orchestrates multiple tools with embedded expert logic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Like design patterns that show how to combine the functions</a:t>
            </a:r>
          </a:p>
        </p:txBody>
      </p:sp>
      <p:sp>
        <p:nvSpPr>
          <p:cNvPr id="218" name="LBg3"/>
          <p:cNvSpPr>
            <a:spLocks noGrp="1"/>
          </p:cNvSpPr>
          <p:nvPr/>
        </p:nvSpPr>
        <p:spPr>
          <a:xfrm>
            <a:off x="342900" y="4610100"/>
            <a:ext cx="5537200" cy="7239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LAcc3"/>
          <p:cNvSpPr>
            <a:spLocks noGrp="1"/>
          </p:cNvSpPr>
          <p:nvPr/>
        </p:nvSpPr>
        <p:spPr>
          <a:xfrm>
            <a:off x="342900" y="4610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LTx3"/>
          <p:cNvSpPr txBox="1">
            <a:spLocks noGrp="1"/>
          </p:cNvSpPr>
          <p:nvPr/>
        </p:nvSpPr>
        <p:spPr>
          <a:xfrm>
            <a:off x="431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web_search · run_code · send_email · read_file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bash_tool · create_file · call_api · present_files</a:t>
            </a:r>
          </a:p>
        </p:txBody>
      </p:sp>
      <p:sp>
        <p:nvSpPr>
          <p:cNvPr id="221" name="RBg3"/>
          <p:cNvSpPr>
            <a:spLocks noGrp="1"/>
          </p:cNvSpPr>
          <p:nvPr/>
        </p:nvSpPr>
        <p:spPr>
          <a:xfrm>
            <a:off x="6311900" y="4610100"/>
            <a:ext cx="5537200" cy="7239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RAcc3"/>
          <p:cNvSpPr>
            <a:spLocks noGrp="1"/>
          </p:cNvSpPr>
          <p:nvPr/>
        </p:nvSpPr>
        <p:spPr>
          <a:xfrm>
            <a:off x="6311900" y="4610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3" name="RTx3"/>
          <p:cNvSpPr txBox="1">
            <a:spLocks noGrp="1"/>
          </p:cNvSpPr>
          <p:nvPr/>
        </p:nvSpPr>
        <p:spPr>
          <a:xfrm>
            <a:off x="6400800" y="4686300"/>
            <a:ext cx="5359400" cy="5715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 lnSpcReduction="10000"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Examples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docx skill · pptx skill · pdf skill · xlsx skill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frontend-design skill · competitive-analysis skill</a:t>
            </a:r>
          </a:p>
        </p:txBody>
      </p:sp>
      <p:sp>
        <p:nvSpPr>
          <p:cNvPr id="224" name="LBg4"/>
          <p:cNvSpPr>
            <a:spLocks noGrp="1"/>
          </p:cNvSpPr>
          <p:nvPr/>
        </p:nvSpPr>
        <p:spPr>
          <a:xfrm>
            <a:off x="342900" y="5372100"/>
            <a:ext cx="5537200" cy="787400"/>
          </a:xfrm>
          <a:prstGeom prst="rect">
            <a:avLst/>
          </a:prstGeom>
          <a:solidFill>
            <a:srgbClr val="EBF3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5" name="LAcc4"/>
          <p:cNvSpPr>
            <a:spLocks noGrp="1"/>
          </p:cNvSpPr>
          <p:nvPr/>
        </p:nvSpPr>
        <p:spPr>
          <a:xfrm>
            <a:off x="342900" y="5372100"/>
            <a:ext cx="5537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6" name="LTx4"/>
          <p:cNvSpPr txBox="1">
            <a:spLocks noGrp="1"/>
          </p:cNvSpPr>
          <p:nvPr/>
        </p:nvSpPr>
        <p:spPr>
          <a:xfrm>
            <a:off x="431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one concrete action: search, write, delete, send, read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Output is data or a side-effect — not guidance</a:t>
            </a:r>
          </a:p>
        </p:txBody>
      </p:sp>
      <p:sp>
        <p:nvSpPr>
          <p:cNvPr id="227" name="RBg4"/>
          <p:cNvSpPr>
            <a:spLocks noGrp="1"/>
          </p:cNvSpPr>
          <p:nvPr/>
        </p:nvSpPr>
        <p:spPr>
          <a:xfrm>
            <a:off x="6311900" y="5372100"/>
            <a:ext cx="5537200" cy="787400"/>
          </a:xfrm>
          <a:prstGeom prst="rect">
            <a:avLst/>
          </a:prstGeom>
          <a:solidFill>
            <a:srgbClr val="EBF7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8" name="RAcc4"/>
          <p:cNvSpPr>
            <a:spLocks noGrp="1"/>
          </p:cNvSpPr>
          <p:nvPr/>
        </p:nvSpPr>
        <p:spPr>
          <a:xfrm>
            <a:off x="6311900" y="5372100"/>
            <a:ext cx="55372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9" name="RTx4"/>
          <p:cNvSpPr txBox="1">
            <a:spLocks noGrp="1"/>
          </p:cNvSpPr>
          <p:nvPr/>
        </p:nvSpPr>
        <p:spPr>
          <a:xfrm>
            <a:off x="6400800" y="5448300"/>
            <a:ext cx="5359400" cy="635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t">
            <a:normAutofit/>
          </a:bodyPr>
          <a:lstStyle/>
          <a:p>
            <a:pPr>
              <a:buNone/>
            </a:pPr>
            <a:r>
              <a:rPr lang="en-US" sz="1200" b="1" dirty="0">
                <a:solidFill>
                  <a:srgbClr val="0F1F3D"/>
                </a:solidFill>
                <a:latin typeface="Calibri" pitchFamily="34" charset="0"/>
              </a:rPr>
              <a:t>When to use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You need quality output for a known task category</a:t>
            </a:r>
          </a:p>
          <a:p>
            <a:pPr marL="152400" indent="-152400">
              <a:spcBef>
                <a:spcPts val="100"/>
              </a:spcBef>
              <a:buFont typeface="Arial"/>
              <a:buChar char="•"/>
            </a:pPr>
            <a:r>
              <a:rPr lang="en-US" sz="967" dirty="0">
                <a:solidFill>
                  <a:srgbClr val="4A5568"/>
                </a:solidFill>
                <a:latin typeface="Calibri" pitchFamily="34" charset="0"/>
              </a:rPr>
              <a:t>The skill encodes hard-won best-practices so you don't reinvent</a:t>
            </a:r>
          </a:p>
        </p:txBody>
      </p:sp>
      <p:sp>
        <p:nvSpPr>
          <p:cNvPr id="900" name="FooterBg"/>
          <p:cNvSpPr>
            <a:spLocks noGrp="1"/>
          </p:cNvSpPr>
          <p:nvPr/>
        </p:nvSpPr>
        <p:spPr>
          <a:xfrm>
            <a:off x="0" y="6388100"/>
            <a:ext cx="12192000" cy="4699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Txt"/>
          <p:cNvSpPr txBox="1">
            <a:spLocks noGrp="1"/>
          </p:cNvSpPr>
          <p:nvPr/>
        </p:nvSpPr>
        <p:spPr>
          <a:xfrm>
            <a:off x="368300" y="6426200"/>
            <a:ext cx="11455400" cy="368300"/>
          </a:xfrm>
          <a:prstGeom prst="rect">
            <a:avLst/>
          </a:prstGeom>
          <a:noFill/>
          <a:ln>
            <a:noFill/>
          </a:ln>
        </p:spPr>
        <p:txBody>
          <a:bodyPr wrap="square" lIns="88900" tIns="50800" rIns="88900" bIns="50800" anchor="ctr">
            <a:normAutofit/>
          </a:bodyPr>
          <a:lstStyle/>
          <a:p>
            <a:pPr algn="ctr">
              <a:buNone/>
            </a:pPr>
            <a:r>
              <a:rPr lang="en-US" sz="1100" dirty="0">
                <a:solidFill>
                  <a:srgbClr val="6A9CC7"/>
                </a:solidFill>
                <a:latin typeface="Calibri" pitchFamily="34" charset="0"/>
              </a:rPr>
              <a:t>Microsoft Agent Framework  ·  Tools are the verbs; Skills are the expertise that wields them</a:t>
            </a:r>
          </a:p>
        </p:txBody>
      </p:sp>
      <p:sp>
        <p:nvSpPr>
          <p:cNvPr id="300" name="RelBg"/>
          <p:cNvSpPr>
            <a:spLocks noGrp="1"/>
          </p:cNvSpPr>
          <p:nvPr/>
        </p:nvSpPr>
        <p:spPr>
          <a:xfrm>
            <a:off x="317500" y="1114425"/>
            <a:ext cx="11518900" cy="584200"/>
          </a:xfrm>
          <a:prstGeom prst="rect">
            <a:avLst/>
          </a:prstGeom>
          <a:solidFill>
            <a:srgbClr val="EBF4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RelBar"/>
          <p:cNvSpPr>
            <a:spLocks noGrp="1"/>
          </p:cNvSpPr>
          <p:nvPr/>
        </p:nvSpPr>
        <p:spPr>
          <a:xfrm>
            <a:off x="330200" y="1120775"/>
            <a:ext cx="88900" cy="584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RelTxt"/>
          <p:cNvSpPr txBox="1">
            <a:spLocks noGrp="1"/>
          </p:cNvSpPr>
          <p:nvPr/>
        </p:nvSpPr>
        <p:spPr>
          <a:xfrm>
            <a:off x="361950" y="1139825"/>
            <a:ext cx="11087100" cy="5588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>
              <a:buNone/>
            </a:pPr>
            <a:r>
              <a:rPr lang="en-US" sz="1067" b="1" dirty="0">
                <a:solidFill>
                  <a:srgbClr val="0078D4"/>
                </a:solidFill>
                <a:latin typeface="Calibri" pitchFamily="34" charset="0"/>
              </a:rPr>
              <a:t>The relationship: </a:t>
            </a:r>
            <a:r>
              <a:rPr lang="en-US" sz="1067" dirty="0">
                <a:solidFill>
                  <a:srgbClr val="4A5568"/>
                </a:solidFill>
                <a:latin typeface="Calibri" pitchFamily="34" charset="0"/>
              </a:rPr>
              <a:t>Skills orchestrate Tools — a skill tells the agent which tools to invoke, in what order, and how to handle pitfalls. Skills provide strategy; Tools provide execution.</a:t>
            </a:r>
          </a:p>
        </p:txBody>
      </p:sp>
      <p:sp>
        <p:nvSpPr>
          <p:cNvPr id="310" name="VsBadgeBg"/>
          <p:cNvSpPr>
            <a:spLocks noGrp="1"/>
          </p:cNvSpPr>
          <p:nvPr/>
        </p:nvSpPr>
        <p:spPr>
          <a:xfrm>
            <a:off x="5905500" y="3924300"/>
            <a:ext cx="381000" cy="381000"/>
          </a:xfrm>
          <a:prstGeom prst="ellipse">
            <a:avLst/>
          </a:prstGeom>
          <a:solidFill>
            <a:srgbClr val="2D374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VsBadgeTxt"/>
          <p:cNvSpPr txBox="1">
            <a:spLocks noGrp="1"/>
          </p:cNvSpPr>
          <p:nvPr/>
        </p:nvSpPr>
        <p:spPr>
          <a:xfrm>
            <a:off x="5905500" y="39243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38100" rIns="101600" bIns="38100" anchor="ctr">
            <a:norm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61228431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E2EA439-3AEE-417A-B995-016E304CC7C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d69edd33-d86d-4822-b624-f5474b91e11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5912</TotalTime>
  <Words>3550</Words>
  <Application>Microsoft Office PowerPoint</Application>
  <PresentationFormat>Widescreen</PresentationFormat>
  <Paragraphs>454</Paragraphs>
  <Slides>15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Consolas</vt:lpstr>
      <vt:lpstr>1_Office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Satya Syam</dc:creator>
  <cp:lastModifiedBy>Satya Syam</cp:lastModifiedBy>
  <cp:revision>8</cp:revision>
  <dcterms:created xsi:type="dcterms:W3CDTF">2026-04-14T04:26:27Z</dcterms:created>
  <dcterms:modified xsi:type="dcterms:W3CDTF">2026-04-20T06:37:37Z</dcterms:modified>
</cp:coreProperties>
</file>