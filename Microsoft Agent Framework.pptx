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15"/>
  </p:notesMasterIdLst>
  <p:sldIdLst>
    <p:sldId id="256" r:id="rId3"/>
    <p:sldId id="440" r:id="rId4"/>
    <p:sldId id="488" r:id="rId5"/>
    <p:sldId id="489" r:id="rId6"/>
    <p:sldId id="259" r:id="rId7"/>
    <p:sldId id="476" r:id="rId8"/>
    <p:sldId id="365" r:id="rId9"/>
    <p:sldId id="473" r:id="rId10"/>
    <p:sldId id="487" r:id="rId11"/>
    <p:sldId id="493" r:id="rId12"/>
    <p:sldId id="494" r:id="rId13"/>
    <p:sldId id="49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02510-270C-494D-A8D0-193A3EB52C09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01A3E-DC76-4FBF-ADD7-F791ECB5C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03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01A3E-DC76-4FBF-ADD7-F791ECB5C8F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293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13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CFC0-E1B2-F239-D63B-0A09376C1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ED3CD-5D97-61DA-B616-7FA61B3DA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6BA92-0642-E70C-7498-C84A78E6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30267-8EA6-DB6D-A833-CBEDA3EBA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DCA1B-C8D2-1C8C-AFC8-F3D4F26D8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95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0DDE-1122-32F1-2F6D-3999C4E3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45B67-7B35-A355-3C68-84A69CD60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4BEB0-2ACE-985B-EDBD-BFD7660E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5114D-83E5-B8D2-04C1-9E067860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D9B1C-2339-81E3-1B65-2BCC1020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545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4855-ADCF-1844-A80B-70AA64D2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18AE2-47A2-2EB9-C906-88F5D9C27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AF750-8F95-72BB-6344-40071712F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59DAC-7CAF-F2B3-C90C-BB36E2AD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2CFB5-45DF-87BF-B3A9-3D2D643C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4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9774-4E05-DCBD-1039-4E25FD15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DA012-3540-F966-287A-3EBB4420C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93CF5-8BDE-E981-45BC-4FC978ABB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38EC3-3433-0205-5808-2CC62F54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D5CD0-A5C6-AAC9-FD56-3CCF1F3A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D436F-F6B5-6BB9-1DAF-CC8D33A6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26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03D7-9B22-66B1-07FA-944549494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D3215-28DE-C2B7-6956-F8EA60383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211D5-1D6E-A3DB-5782-8B3CDA4CF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752EC-8F22-E85A-75AF-468AD2B42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207066-8AE9-776A-1DBC-77C1C17D9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86022-A146-D12C-1E9B-D1946EE6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69A84-BAB8-5C91-173F-B8FCDD594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27C987-E439-BF3B-F107-51D15FB88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55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E7EDE-2052-F4DE-03D5-6A599985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9EE9B-2E28-F3FC-2F61-2D82C611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299C9-53C3-7623-ABB5-8425945A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21FF8-B8E6-B78B-8C5D-66F62FA2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768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A1842-C076-4732-68DE-FB20F873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728B7-5816-0D6E-BA4E-06D1E979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0215A-0B7A-A2F7-FA4A-E807718E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297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D6942-F288-E69F-8181-1F3C4E85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111B4-7689-13B8-F1E6-DDA366A4C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F8A65-BE5C-F5E3-77C0-5F3F759D6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8F00A-1233-A8E4-DF18-5A2B9C6B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9E302-478B-08E4-DFDE-3ADAE27D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1B82D-802A-1109-33A6-EEB7D217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4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9E390-1D91-C8C6-BD41-AB8828D0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CA6F9-8F2B-5FF6-A1D4-3CA9CCD94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24D52-5B4A-5D0B-A603-AFB6C55F5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079ED-37B2-E24E-B521-F79F216B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42B6F-7DDF-E44F-A696-4C0D6A36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98101-514E-55D0-8933-28A10328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55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41E3-2FC5-18B3-A309-BE8EAC75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B54BC-9670-BBA6-5C6A-A4CB4637B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59E0E-7B16-76FC-98CC-F8C6C60E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4FE95-F76C-6FBF-20AF-E24445EB4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4E783-A4B4-1FB9-2715-73AA85D0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416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04F52-D3F5-A6C9-8D63-24CE8D12C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23D55-3DDD-C89C-52C3-21C35800A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EDEDD-4C25-436C-DFF3-5E6B6D479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DF087-9649-8C44-0889-0E579229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70878-DED3-F7D8-3AD7-01E66C92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445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12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2D9BBB-D017-A34F-FDD3-E8BC911C53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12652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118353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DD76C-8FDB-4F21-0FBC-76A7D769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046E2-CCCC-95DD-BCFA-CB08CEC20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5CA04-1675-6373-27F2-D80D58D0E8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335A2-7F5B-480A-91D3-B4A6105BFE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FBD97-2FB0-8B95-4AE3-928473516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07CD9-3D3F-0741-3F4A-09CA383B1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D8E77-BA19-4E37-8E1E-4BAEBD7E77E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375F8-D48F-CCC8-1944-A03911094FF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12652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176299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1376" cy="6858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046720" y="-1463040"/>
            <a:ext cx="5852160" cy="5852160"/>
          </a:xfrm>
          <a:prstGeom prst="ellipse">
            <a:avLst/>
          </a:prstGeom>
          <a:solidFill>
            <a:srgbClr val="0078D4">
              <a:alpha val="13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670560"/>
            <a:ext cx="755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194816"/>
            <a:ext cx="75590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6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779776"/>
            <a:ext cx="6705600" cy="487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901696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dirty="0">
                <a:solidFill>
                  <a:schemeClr val="bg1"/>
                </a:solidFill>
              </a:rPr>
              <a:t>Getting Started with Microsoft Agent Framework — A Level 100 Overview</a:t>
            </a:r>
            <a:endParaRPr lang="en-US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776472"/>
            <a:ext cx="2340864" cy="402336"/>
          </a:xfrm>
          <a:prstGeom prst="rect">
            <a:avLst/>
          </a:prstGeom>
          <a:solidFill>
            <a:srgbClr val="2B88D8">
              <a:alpha val="40000"/>
            </a:srgbClr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825240"/>
            <a:ext cx="23408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4812792"/>
            <a:ext cx="2340864" cy="402336"/>
          </a:xfrm>
          <a:prstGeom prst="rect">
            <a:avLst/>
          </a:prstGeom>
          <a:solidFill>
            <a:srgbClr val="2B88D8">
              <a:alpha val="40000"/>
            </a:srgbClr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096" y="4837176"/>
            <a:ext cx="23408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52160" y="3776472"/>
            <a:ext cx="2340864" cy="402336"/>
          </a:xfrm>
          <a:prstGeom prst="rect">
            <a:avLst/>
          </a:prstGeom>
          <a:solidFill>
            <a:srgbClr val="2B88D8">
              <a:alpha val="40000"/>
            </a:srgbClr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52160" y="3825240"/>
            <a:ext cx="23408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52160" y="4288536"/>
            <a:ext cx="2340864" cy="402336"/>
          </a:xfrm>
          <a:prstGeom prst="rect">
            <a:avLst/>
          </a:prstGeom>
          <a:solidFill>
            <a:srgbClr val="2B88D8">
              <a:alpha val="40000"/>
            </a:srgbClr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52160" y="4337304"/>
            <a:ext cx="23408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91840" y="3788664"/>
            <a:ext cx="2340864" cy="402336"/>
          </a:xfrm>
          <a:prstGeom prst="rect">
            <a:avLst/>
          </a:prstGeom>
          <a:solidFill>
            <a:srgbClr val="2B88D8">
              <a:alpha val="40000"/>
            </a:srgbClr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91840" y="3837432"/>
            <a:ext cx="23408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91840" y="4831080"/>
            <a:ext cx="2340864" cy="402336"/>
          </a:xfrm>
          <a:prstGeom prst="rect">
            <a:avLst/>
          </a:prstGeom>
          <a:solidFill>
            <a:srgbClr val="2B88D8">
              <a:alpha val="40000"/>
            </a:srgbClr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91840" y="4879848"/>
            <a:ext cx="23408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52160" y="4812792"/>
            <a:ext cx="2340864" cy="402336"/>
          </a:xfrm>
          <a:prstGeom prst="rect">
            <a:avLst/>
          </a:prstGeom>
          <a:solidFill>
            <a:srgbClr val="2B88D8">
              <a:alpha val="40000"/>
            </a:srgbClr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52160" y="4861560"/>
            <a:ext cx="23408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720" y="1158240"/>
            <a:ext cx="2560320" cy="256032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0" y="6388608"/>
            <a:ext cx="12192000" cy="46939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28C28BA1-9C13-C344-A3D8-A92E209EFE68}"/>
              </a:ext>
            </a:extLst>
          </p:cNvPr>
          <p:cNvSpPr/>
          <p:nvPr/>
        </p:nvSpPr>
        <p:spPr>
          <a:xfrm>
            <a:off x="731520" y="4270248"/>
            <a:ext cx="2340864" cy="402336"/>
          </a:xfrm>
          <a:prstGeom prst="rect">
            <a:avLst/>
          </a:prstGeom>
          <a:solidFill>
            <a:srgbClr val="2B88D8">
              <a:alpha val="40000"/>
            </a:srgbClr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E60242C7-9DF4-8982-1926-70377B683BF2}"/>
              </a:ext>
            </a:extLst>
          </p:cNvPr>
          <p:cNvSpPr/>
          <p:nvPr/>
        </p:nvSpPr>
        <p:spPr>
          <a:xfrm>
            <a:off x="731520" y="4319016"/>
            <a:ext cx="23408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10DAF0FF-ED53-4560-8476-0D6206D695D6}"/>
              </a:ext>
            </a:extLst>
          </p:cNvPr>
          <p:cNvSpPr/>
          <p:nvPr/>
        </p:nvSpPr>
        <p:spPr>
          <a:xfrm>
            <a:off x="3291840" y="4294632"/>
            <a:ext cx="2340864" cy="402336"/>
          </a:xfrm>
          <a:prstGeom prst="rect">
            <a:avLst/>
          </a:prstGeom>
          <a:solidFill>
            <a:srgbClr val="2B88D8">
              <a:alpha val="40000"/>
            </a:srgbClr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D189119D-B69B-25F5-4963-9F374C40B50C}"/>
              </a:ext>
            </a:extLst>
          </p:cNvPr>
          <p:cNvSpPr/>
          <p:nvPr/>
        </p:nvSpPr>
        <p:spPr>
          <a:xfrm>
            <a:off x="3291840" y="4343400"/>
            <a:ext cx="23408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FooterText">
            <a:extLst>
              <a:ext uri="{FF2B5EF4-FFF2-40B4-BE49-F238E27FC236}">
                <a16:creationId xmlns:a16="http://schemas.microsoft.com/office/drawing/2014/main" id="{86933726-13A8-E2B0-F097-5376D0C7240C}"/>
              </a:ext>
            </a:extLst>
          </p:cNvPr>
          <p:cNvSpPr>
            <a:spLocks noGrp="1"/>
          </p:cNvSpPr>
          <p:nvPr/>
        </p:nvSpPr>
        <p:spPr>
          <a:xfrm>
            <a:off x="307171" y="6430603"/>
            <a:ext cx="11463867" cy="37253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</a:rPr>
              <a:t>Microsoft Agent Framework  ·   learn.microsoft.com/en-us/agent-framework</a:t>
            </a:r>
          </a:p>
        </p:txBody>
      </p:sp>
      <p:sp>
        <p:nvSpPr>
          <p:cNvPr id="4" name="Shape 2"/>
          <p:cNvSpPr/>
          <p:nvPr/>
        </p:nvSpPr>
        <p:spPr>
          <a:xfrm>
            <a:off x="9753600" y="3657600"/>
            <a:ext cx="3413760" cy="341376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g"/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AccentStripe"/>
          <p:cNvSpPr>
            <a:spLocks noGrp="1"/>
          </p:cNvSpPr>
          <p:nvPr/>
        </p:nvSpPr>
        <p:spPr>
          <a:xfrm>
            <a:off x="0" y="0"/>
            <a:ext cx="270933" cy="1219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Title"/>
          <p:cNvSpPr>
            <a:spLocks noGrp="1"/>
          </p:cNvSpPr>
          <p:nvPr/>
        </p:nvSpPr>
        <p:spPr>
          <a:xfrm>
            <a:off x="541867" y="135467"/>
            <a:ext cx="11091333" cy="62653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2800" dirty="0">
                <a:solidFill>
                  <a:schemeClr val="bg1"/>
                </a:solidFill>
              </a:rPr>
              <a:t>LLM Fundamentals: How They Work and Why Agent Frameworks Matter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" name="Subtitle"/>
          <p:cNvSpPr>
            <a:spLocks noGrp="1"/>
          </p:cNvSpPr>
          <p:nvPr/>
        </p:nvSpPr>
        <p:spPr>
          <a:xfrm>
            <a:off x="541867" y="812800"/>
            <a:ext cx="11091333" cy="33866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1467" i="1" dirty="0">
                <a:solidFill>
                  <a:srgbClr val="C7E0F4"/>
                </a:solidFill>
                <a:latin typeface="Calibri" pitchFamily="34" charset="0"/>
              </a:rPr>
              <a:t>How LLMs work, what they excel at, and where they need help</a:t>
            </a:r>
          </a:p>
        </p:txBody>
      </p:sp>
      <p:sp>
        <p:nvSpPr>
          <p:cNvPr id="104" name="DefBannerBg"/>
          <p:cNvSpPr>
            <a:spLocks noGrp="1"/>
          </p:cNvSpPr>
          <p:nvPr/>
        </p:nvSpPr>
        <p:spPr>
          <a:xfrm>
            <a:off x="338667" y="1286933"/>
            <a:ext cx="11514667" cy="508000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DefAccent"/>
          <p:cNvSpPr>
            <a:spLocks noGrp="1"/>
          </p:cNvSpPr>
          <p:nvPr/>
        </p:nvSpPr>
        <p:spPr>
          <a:xfrm>
            <a:off x="338667" y="1238553"/>
            <a:ext cx="84667" cy="50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6" name="DefText"/>
          <p:cNvSpPr>
            <a:spLocks noGrp="1"/>
          </p:cNvSpPr>
          <p:nvPr/>
        </p:nvSpPr>
        <p:spPr>
          <a:xfrm>
            <a:off x="508000" y="1238553"/>
            <a:ext cx="11311467" cy="50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What is an LLM?  </a:t>
            </a: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Large Language Model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 — neural network trained on massive text; splits input into </a:t>
            </a: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tokens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 → </a:t>
            </a: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transformer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 → </a:t>
            </a: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attention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 weighs context → predicts </a:t>
            </a: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next token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, one at a time.</a:t>
            </a:r>
          </a:p>
        </p:txBody>
      </p:sp>
      <p:sp>
        <p:nvSpPr>
          <p:cNvPr id="110" name="SecABg"/>
          <p:cNvSpPr>
            <a:spLocks noGrp="1"/>
          </p:cNvSpPr>
          <p:nvPr/>
        </p:nvSpPr>
        <p:spPr>
          <a:xfrm>
            <a:off x="338667" y="1788887"/>
            <a:ext cx="11514667" cy="237067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 anchor="ctr"/>
          <a:lstStyle/>
          <a:p>
            <a:pPr algn="ctr" defTabSz="1219170"/>
            <a:r>
              <a:rPr lang="en-US" sz="1200" b="1" spc="200" dirty="0">
                <a:solidFill>
                  <a:srgbClr val="C7E0F4"/>
                </a:solidFill>
                <a:latin typeface="Calibri" pitchFamily="34" charset="0"/>
              </a:rPr>
              <a:t>HOW LLMs WORK</a:t>
            </a:r>
          </a:p>
        </p:txBody>
      </p:sp>
      <p:sp>
        <p:nvSpPr>
          <p:cNvPr id="200" name="Card200Bg"/>
          <p:cNvSpPr>
            <a:spLocks noGrp="1"/>
          </p:cNvSpPr>
          <p:nvPr/>
        </p:nvSpPr>
        <p:spPr>
          <a:xfrm>
            <a:off x="338667" y="2074333"/>
            <a:ext cx="2743200" cy="1524000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1" name="Card200Stripe"/>
          <p:cNvSpPr>
            <a:spLocks noGrp="1"/>
          </p:cNvSpPr>
          <p:nvPr/>
        </p:nvSpPr>
        <p:spPr>
          <a:xfrm>
            <a:off x="338667" y="2074333"/>
            <a:ext cx="84667" cy="1524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2" name="Card200Text"/>
          <p:cNvSpPr>
            <a:spLocks noGrp="1"/>
          </p:cNvSpPr>
          <p:nvPr/>
        </p:nvSpPr>
        <p:spPr>
          <a:xfrm>
            <a:off x="491067" y="2159000"/>
            <a:ext cx="2523067" cy="1354667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defTabSz="1219170"/>
            <a:r>
              <a:rPr lang="en-US" sz="1333" b="1" dirty="0">
                <a:solidFill>
                  <a:srgbClr val="0F1F3D"/>
                </a:solidFill>
                <a:latin typeface="Calibri" pitchFamily="34" charset="0"/>
              </a:rPr>
              <a:t>Tokens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0078D4"/>
                </a:solidFill>
                <a:latin typeface="Calibri" pitchFamily="34" charset="0"/>
              </a:rPr>
              <a:t>Sub-word units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words, subwords, chars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0078D4"/>
                </a:solidFill>
                <a:latin typeface="Calibri" pitchFamily="34" charset="0"/>
              </a:rPr>
              <a:t>Context window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max tokens per request (4K–1M+)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0078D4"/>
                </a:solidFill>
                <a:latin typeface="Calibri" pitchFamily="34" charset="0"/>
              </a:rPr>
              <a:t>Cost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priced per token (input + output)</a:t>
            </a:r>
          </a:p>
        </p:txBody>
      </p:sp>
      <p:sp>
        <p:nvSpPr>
          <p:cNvPr id="210" name="Card210Bg"/>
          <p:cNvSpPr>
            <a:spLocks noGrp="1"/>
          </p:cNvSpPr>
          <p:nvPr/>
        </p:nvSpPr>
        <p:spPr>
          <a:xfrm>
            <a:off x="6265333" y="2074333"/>
            <a:ext cx="2743200" cy="1524000"/>
          </a:xfrm>
          <a:prstGeom prst="rect">
            <a:avLst/>
          </a:prstGeom>
          <a:solidFill>
            <a:srgbClr val="E6F4F3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1" name="Card210Stripe"/>
          <p:cNvSpPr>
            <a:spLocks noGrp="1"/>
          </p:cNvSpPr>
          <p:nvPr/>
        </p:nvSpPr>
        <p:spPr>
          <a:xfrm>
            <a:off x="6265333" y="2074333"/>
            <a:ext cx="84667" cy="1524000"/>
          </a:xfrm>
          <a:prstGeom prst="rect">
            <a:avLst/>
          </a:prstGeom>
          <a:solidFill>
            <a:srgbClr val="008272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2" name="Card210Text"/>
          <p:cNvSpPr>
            <a:spLocks noGrp="1"/>
          </p:cNvSpPr>
          <p:nvPr/>
        </p:nvSpPr>
        <p:spPr>
          <a:xfrm>
            <a:off x="6417733" y="2159000"/>
            <a:ext cx="2523067" cy="1354667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defTabSz="1219170"/>
            <a:r>
              <a:rPr lang="en-US" sz="1333" b="1" dirty="0">
                <a:solidFill>
                  <a:srgbClr val="0F1F3D"/>
                </a:solidFill>
                <a:latin typeface="Calibri" pitchFamily="34" charset="0"/>
              </a:rPr>
              <a:t>Transformer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008272"/>
                </a:solidFill>
                <a:latin typeface="Calibri" pitchFamily="34" charset="0"/>
              </a:rPr>
              <a:t>Decoder-only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GPT-family uses the decoder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008272"/>
                </a:solidFill>
                <a:latin typeface="Calibri" pitchFamily="34" charset="0"/>
              </a:rPr>
              <a:t>Self-attention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tokens weigh each other for context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008272"/>
                </a:solidFill>
                <a:latin typeface="Calibri" pitchFamily="34" charset="0"/>
              </a:rPr>
              <a:t>Parallel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replaces sequential recurrence</a:t>
            </a:r>
          </a:p>
        </p:txBody>
      </p:sp>
      <p:sp>
        <p:nvSpPr>
          <p:cNvPr id="220" name="Card220Bg"/>
          <p:cNvSpPr>
            <a:spLocks noGrp="1"/>
          </p:cNvSpPr>
          <p:nvPr/>
        </p:nvSpPr>
        <p:spPr>
          <a:xfrm>
            <a:off x="9228667" y="2074333"/>
            <a:ext cx="2743200" cy="1524000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1" name="Card220Stripe"/>
          <p:cNvSpPr>
            <a:spLocks noGrp="1"/>
          </p:cNvSpPr>
          <p:nvPr/>
        </p:nvSpPr>
        <p:spPr>
          <a:xfrm>
            <a:off x="9228667" y="2074333"/>
            <a:ext cx="84667" cy="15240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2" name="Card220Text"/>
          <p:cNvSpPr>
            <a:spLocks noGrp="1"/>
          </p:cNvSpPr>
          <p:nvPr/>
        </p:nvSpPr>
        <p:spPr>
          <a:xfrm>
            <a:off x="9381067" y="2159000"/>
            <a:ext cx="2523067" cy="1354667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defTabSz="1219170"/>
            <a:r>
              <a:rPr lang="en-US" sz="1333" b="1" dirty="0">
                <a:solidFill>
                  <a:srgbClr val="0F1F3D"/>
                </a:solidFill>
                <a:latin typeface="Calibri" pitchFamily="34" charset="0"/>
              </a:rPr>
              <a:t>Inference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7B2D8B"/>
                </a:solidFill>
                <a:latin typeface="Calibri" pitchFamily="34" charset="0"/>
              </a:rPr>
              <a:t>Autoregressive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one token generated at a time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7B2D8B"/>
                </a:solidFill>
                <a:latin typeface="Calibri" pitchFamily="34" charset="0"/>
              </a:rPr>
              <a:t>Streaming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tokens sent as produced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7B2D8B"/>
                </a:solidFill>
                <a:latin typeface="Calibri" pitchFamily="34" charset="0"/>
              </a:rPr>
              <a:t>Temperature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controls randomness (0–1)</a:t>
            </a:r>
          </a:p>
        </p:txBody>
      </p:sp>
      <p:sp>
        <p:nvSpPr>
          <p:cNvPr id="900" name="FooterBg"/>
          <p:cNvSpPr>
            <a:spLocks noGrp="1"/>
          </p:cNvSpPr>
          <p:nvPr/>
        </p:nvSpPr>
        <p:spPr>
          <a:xfrm>
            <a:off x="0" y="6383867"/>
            <a:ext cx="12192000" cy="474133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1" name="FooterText"/>
          <p:cNvSpPr>
            <a:spLocks noGrp="1"/>
          </p:cNvSpPr>
          <p:nvPr/>
        </p:nvSpPr>
        <p:spPr>
          <a:xfrm>
            <a:off x="307171" y="6430603"/>
            <a:ext cx="11463867" cy="37253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</a:rPr>
              <a:t>Microsoft Agent Framework  ·   learn.microsoft.com/en-us/agent-framework</a:t>
            </a:r>
          </a:p>
        </p:txBody>
      </p:sp>
      <p:sp>
        <p:nvSpPr>
          <p:cNvPr id="230" name="Card230Bg"/>
          <p:cNvSpPr>
            <a:spLocks noGrp="1"/>
          </p:cNvSpPr>
          <p:nvPr/>
        </p:nvSpPr>
        <p:spPr>
          <a:xfrm>
            <a:off x="3302000" y="2074333"/>
            <a:ext cx="2743200" cy="1524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1" name="Card230Stripe"/>
          <p:cNvSpPr>
            <a:spLocks noGrp="1"/>
          </p:cNvSpPr>
          <p:nvPr/>
        </p:nvSpPr>
        <p:spPr>
          <a:xfrm>
            <a:off x="3302000" y="2074333"/>
            <a:ext cx="84667" cy="152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2" name="Card230Text"/>
          <p:cNvSpPr>
            <a:spLocks noGrp="1"/>
          </p:cNvSpPr>
          <p:nvPr/>
        </p:nvSpPr>
        <p:spPr>
          <a:xfrm>
            <a:off x="3454400" y="2159000"/>
            <a:ext cx="2523067" cy="1354667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 fontScale="92500" lnSpcReduction="10000"/>
          </a:bodyPr>
          <a:lstStyle/>
          <a:p>
            <a:pPr defTabSz="1219170"/>
            <a:r>
              <a:rPr lang="en-US" sz="1333" b="1" dirty="0">
                <a:solidFill>
                  <a:srgbClr val="0F1F3D"/>
                </a:solidFill>
                <a:latin typeface="Calibri" pitchFamily="34" charset="0"/>
              </a:rPr>
              <a:t>Training Stages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E65100"/>
                </a:solidFill>
                <a:latin typeface="Calibri" pitchFamily="34" charset="0"/>
              </a:rPr>
              <a:t>Pre-training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next-token prediction on web-scale text; produces a base model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E65100"/>
                </a:solidFill>
                <a:latin typeface="Calibri" pitchFamily="34" charset="0"/>
              </a:rPr>
              <a:t>Post-training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fine-tunes on curated examples; human feedback aligns to preferences</a:t>
            </a:r>
          </a:p>
          <a:p>
            <a:pPr defTabSz="1219170">
              <a:spcBef>
                <a:spcPts val="160"/>
              </a:spcBef>
            </a:pPr>
            <a:r>
              <a:rPr lang="en-US" sz="1093" b="1" dirty="0">
                <a:solidFill>
                  <a:srgbClr val="E65100"/>
                </a:solidFill>
                <a:latin typeface="Calibri" pitchFamily="34" charset="0"/>
              </a:rPr>
              <a:t>Reasoning RL</a:t>
            </a:r>
            <a:r>
              <a:rPr lang="en-US" sz="1040" dirty="0">
                <a:solidFill>
                  <a:srgbClr val="4A5568"/>
                </a:solidFill>
                <a:latin typeface="Calibri" pitchFamily="34" charset="0"/>
              </a:rPr>
              <a:t> — chain-of-thought RL; powers o-series reasoning models</a:t>
            </a:r>
          </a:p>
        </p:txBody>
      </p:sp>
      <p:sp>
        <p:nvSpPr>
          <p:cNvPr id="300" name="SecBBg"/>
          <p:cNvSpPr>
            <a:spLocks noGrp="1"/>
          </p:cNvSpPr>
          <p:nvPr/>
        </p:nvSpPr>
        <p:spPr>
          <a:xfrm>
            <a:off x="355600" y="3655181"/>
            <a:ext cx="11514667" cy="2032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 anchor="ctr"/>
          <a:lstStyle/>
          <a:p>
            <a:pPr algn="ctr" defTabSz="1219170"/>
            <a:r>
              <a:rPr lang="en-US" sz="1067" b="1" spc="267" dirty="0">
                <a:solidFill>
                  <a:srgbClr val="C7E0F4"/>
                </a:solidFill>
                <a:latin typeface="Calibri" pitchFamily="34" charset="0"/>
              </a:rPr>
              <a:t>LLM CAPABILITIES  ·  LIMITATIONS  ·  WHY THE AGENT FRAMEWORK EXISTS</a:t>
            </a:r>
          </a:p>
        </p:txBody>
      </p:sp>
      <p:sp>
        <p:nvSpPr>
          <p:cNvPr id="311" name="HdrLeft"/>
          <p:cNvSpPr>
            <a:spLocks noGrp="1"/>
          </p:cNvSpPr>
          <p:nvPr/>
        </p:nvSpPr>
        <p:spPr>
          <a:xfrm>
            <a:off x="355600" y="3877733"/>
            <a:ext cx="3708400" cy="2032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FFFFFF"/>
                </a:solidFill>
                <a:latin typeface="Calibri" pitchFamily="34" charset="0"/>
              </a:rPr>
              <a:t>✓  What LLMs Excel At</a:t>
            </a:r>
          </a:p>
        </p:txBody>
      </p:sp>
      <p:sp>
        <p:nvSpPr>
          <p:cNvPr id="312" name="HdrMid"/>
          <p:cNvSpPr>
            <a:spLocks noGrp="1"/>
          </p:cNvSpPr>
          <p:nvPr/>
        </p:nvSpPr>
        <p:spPr>
          <a:xfrm>
            <a:off x="4064000" y="3877733"/>
            <a:ext cx="3742267" cy="203200"/>
          </a:xfrm>
          <a:prstGeom prst="rect">
            <a:avLst/>
          </a:prstGeom>
          <a:solidFill>
            <a:srgbClr val="C7380A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FFFFFF"/>
                </a:solidFill>
                <a:latin typeface="Calibri" pitchFamily="34" charset="0"/>
              </a:rPr>
              <a:t>⚠  LLM Limitation</a:t>
            </a:r>
          </a:p>
        </p:txBody>
      </p:sp>
      <p:sp>
        <p:nvSpPr>
          <p:cNvPr id="314" name="HdrArrow"/>
          <p:cNvSpPr>
            <a:spLocks noGrp="1"/>
          </p:cNvSpPr>
          <p:nvPr/>
        </p:nvSpPr>
        <p:spPr>
          <a:xfrm>
            <a:off x="7806267" y="3877734"/>
            <a:ext cx="372533" cy="220133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313" name="HdrRight"/>
          <p:cNvSpPr>
            <a:spLocks noGrp="1"/>
          </p:cNvSpPr>
          <p:nvPr/>
        </p:nvSpPr>
        <p:spPr>
          <a:xfrm>
            <a:off x="8178800" y="3877734"/>
            <a:ext cx="3691467" cy="220133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FFFFFF"/>
                </a:solidFill>
                <a:latin typeface="Calibri" pitchFamily="34" charset="0"/>
              </a:rPr>
              <a:t>⚡  Agent Framework Solves This</a:t>
            </a:r>
          </a:p>
        </p:txBody>
      </p:sp>
      <p:sp>
        <p:nvSpPr>
          <p:cNvPr id="400" name="Row0Bg"/>
          <p:cNvSpPr>
            <a:spLocks noGrp="1"/>
          </p:cNvSpPr>
          <p:nvPr/>
        </p:nvSpPr>
        <p:spPr>
          <a:xfrm>
            <a:off x="355600" y="4097867"/>
            <a:ext cx="11514667" cy="372533"/>
          </a:xfrm>
          <a:prstGeom prst="rect">
            <a:avLst/>
          </a:prstGeom>
          <a:solidFill>
            <a:srgbClr val="FFFFFF"/>
          </a:solidFill>
          <a:ln w="4572">
            <a:solidFill>
              <a:srgbClr val="E2E8F0"/>
            </a:solidFill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1" name="Cell0_cap"/>
          <p:cNvSpPr>
            <a:spLocks noGrp="1"/>
          </p:cNvSpPr>
          <p:nvPr/>
        </p:nvSpPr>
        <p:spPr>
          <a:xfrm>
            <a:off x="423333" y="4097867"/>
            <a:ext cx="3081867" cy="37253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1067" b="1" dirty="0">
                <a:solidFill>
                  <a:srgbClr val="006B3C"/>
                </a:solidFill>
                <a:latin typeface="Calibri" pitchFamily="34" charset="0"/>
              </a:rPr>
              <a:t>Reasoning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analyze and compare options</a:t>
            </a:r>
          </a:p>
        </p:txBody>
      </p:sp>
      <p:sp>
        <p:nvSpPr>
          <p:cNvPr id="402" name="Cell0_lim"/>
          <p:cNvSpPr>
            <a:spLocks noGrp="1"/>
          </p:cNvSpPr>
          <p:nvPr/>
        </p:nvSpPr>
        <p:spPr>
          <a:xfrm>
            <a:off x="4047067" y="4097867"/>
            <a:ext cx="3759200" cy="372533"/>
          </a:xfrm>
          <a:prstGeom prst="rect">
            <a:avLst/>
          </a:prstGeom>
          <a:solidFill>
            <a:srgbClr val="FFF8F6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C7380A"/>
                </a:solidFill>
                <a:latin typeface="Calibri" pitchFamily="34" charset="0"/>
              </a:rPr>
              <a:t>Hallucinations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confident but factually wrong</a:t>
            </a:r>
          </a:p>
        </p:txBody>
      </p:sp>
      <p:sp>
        <p:nvSpPr>
          <p:cNvPr id="403" name="Cell0_arrow"/>
          <p:cNvSpPr>
            <a:spLocks noGrp="1"/>
          </p:cNvSpPr>
          <p:nvPr/>
        </p:nvSpPr>
        <p:spPr>
          <a:xfrm>
            <a:off x="7806267" y="4097867"/>
            <a:ext cx="372533" cy="372533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txBody>
          <a:bodyPr anchor="ctr"/>
          <a:lstStyle/>
          <a:p>
            <a:pPr algn="ctr" defTabSz="1219170"/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404" name="Cell0_sol"/>
          <p:cNvSpPr>
            <a:spLocks noGrp="1"/>
          </p:cNvSpPr>
          <p:nvPr/>
        </p:nvSpPr>
        <p:spPr>
          <a:xfrm>
            <a:off x="8178800" y="4097867"/>
            <a:ext cx="3691467" cy="372533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5C2D91"/>
                </a:solidFill>
                <a:latin typeface="Calibri" pitchFamily="34" charset="0"/>
              </a:rPr>
              <a:t>Grounding tools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retrieval (RAG) pins answers to verified sources</a:t>
            </a:r>
          </a:p>
        </p:txBody>
      </p:sp>
      <p:sp>
        <p:nvSpPr>
          <p:cNvPr id="410" name="Row1Bg"/>
          <p:cNvSpPr>
            <a:spLocks noGrp="1"/>
          </p:cNvSpPr>
          <p:nvPr/>
        </p:nvSpPr>
        <p:spPr>
          <a:xfrm>
            <a:off x="355600" y="4470400"/>
            <a:ext cx="11514667" cy="372533"/>
          </a:xfrm>
          <a:prstGeom prst="rect">
            <a:avLst/>
          </a:prstGeom>
          <a:solidFill>
            <a:srgbClr val="F8FAFC"/>
          </a:solidFill>
          <a:ln w="4572">
            <a:solidFill>
              <a:srgbClr val="E2E8F0"/>
            </a:solidFill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1" name="Cell1_cap"/>
          <p:cNvSpPr>
            <a:spLocks noGrp="1"/>
          </p:cNvSpPr>
          <p:nvPr/>
        </p:nvSpPr>
        <p:spPr>
          <a:xfrm>
            <a:off x="423333" y="4470400"/>
            <a:ext cx="3081867" cy="37253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1067" b="1" dirty="0">
                <a:solidFill>
                  <a:srgbClr val="006B3C"/>
                </a:solidFill>
                <a:latin typeface="Calibri" pitchFamily="34" charset="0"/>
              </a:rPr>
              <a:t>Generation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articles, emails, code</a:t>
            </a:r>
          </a:p>
        </p:txBody>
      </p:sp>
      <p:sp>
        <p:nvSpPr>
          <p:cNvPr id="412" name="Cell1_lim"/>
          <p:cNvSpPr>
            <a:spLocks noGrp="1"/>
          </p:cNvSpPr>
          <p:nvPr/>
        </p:nvSpPr>
        <p:spPr>
          <a:xfrm>
            <a:off x="4047067" y="4470400"/>
            <a:ext cx="3759200" cy="372533"/>
          </a:xfrm>
          <a:prstGeom prst="rect">
            <a:avLst/>
          </a:prstGeom>
          <a:solidFill>
            <a:srgbClr val="FFF8F6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C7380A"/>
                </a:solidFill>
                <a:latin typeface="Calibri" pitchFamily="34" charset="0"/>
              </a:rPr>
              <a:t>No real-time data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knowledge stops at training cutoff</a:t>
            </a:r>
          </a:p>
        </p:txBody>
      </p:sp>
      <p:sp>
        <p:nvSpPr>
          <p:cNvPr id="413" name="Cell1_arrow"/>
          <p:cNvSpPr>
            <a:spLocks noGrp="1"/>
          </p:cNvSpPr>
          <p:nvPr/>
        </p:nvSpPr>
        <p:spPr>
          <a:xfrm>
            <a:off x="7806267" y="4470400"/>
            <a:ext cx="372533" cy="372533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txBody>
          <a:bodyPr anchor="ctr"/>
          <a:lstStyle/>
          <a:p>
            <a:pPr algn="ctr" defTabSz="1219170"/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414" name="Cell1_sol"/>
          <p:cNvSpPr>
            <a:spLocks noGrp="1"/>
          </p:cNvSpPr>
          <p:nvPr/>
        </p:nvSpPr>
        <p:spPr>
          <a:xfrm>
            <a:off x="8178800" y="4470400"/>
            <a:ext cx="3691467" cy="372533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5C2D91"/>
                </a:solidFill>
                <a:latin typeface="Calibri" pitchFamily="34" charset="0"/>
              </a:rPr>
              <a:t>Live tool calls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MCP/functions fetch current data on every request</a:t>
            </a:r>
          </a:p>
        </p:txBody>
      </p:sp>
      <p:sp>
        <p:nvSpPr>
          <p:cNvPr id="420" name="Row2Bg"/>
          <p:cNvSpPr>
            <a:spLocks noGrp="1"/>
          </p:cNvSpPr>
          <p:nvPr/>
        </p:nvSpPr>
        <p:spPr>
          <a:xfrm>
            <a:off x="355600" y="4842934"/>
            <a:ext cx="11514667" cy="372533"/>
          </a:xfrm>
          <a:prstGeom prst="rect">
            <a:avLst/>
          </a:prstGeom>
          <a:solidFill>
            <a:srgbClr val="FFFFFF"/>
          </a:solidFill>
          <a:ln w="4572">
            <a:solidFill>
              <a:srgbClr val="E2E8F0"/>
            </a:solidFill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1" name="Cell2_cap"/>
          <p:cNvSpPr>
            <a:spLocks noGrp="1"/>
          </p:cNvSpPr>
          <p:nvPr/>
        </p:nvSpPr>
        <p:spPr>
          <a:xfrm>
            <a:off x="423333" y="4842934"/>
            <a:ext cx="3081867" cy="37253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1067" b="1" dirty="0">
                <a:solidFill>
                  <a:srgbClr val="006B3C"/>
                </a:solidFill>
                <a:latin typeface="Calibri" pitchFamily="34" charset="0"/>
              </a:rPr>
              <a:t>Summarization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distill long docs to key points</a:t>
            </a:r>
          </a:p>
        </p:txBody>
      </p:sp>
      <p:sp>
        <p:nvSpPr>
          <p:cNvPr id="422" name="Cell2_lim"/>
          <p:cNvSpPr>
            <a:spLocks noGrp="1"/>
          </p:cNvSpPr>
          <p:nvPr/>
        </p:nvSpPr>
        <p:spPr>
          <a:xfrm>
            <a:off x="4047067" y="4842934"/>
            <a:ext cx="3759200" cy="372533"/>
          </a:xfrm>
          <a:prstGeom prst="rect">
            <a:avLst/>
          </a:prstGeom>
          <a:solidFill>
            <a:srgbClr val="FFF8F6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C7380A"/>
                </a:solidFill>
                <a:latin typeface="Calibri" pitchFamily="34" charset="0"/>
              </a:rPr>
              <a:t>Stateless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no memory across calls</a:t>
            </a:r>
          </a:p>
        </p:txBody>
      </p:sp>
      <p:sp>
        <p:nvSpPr>
          <p:cNvPr id="423" name="Cell2_arrow"/>
          <p:cNvSpPr>
            <a:spLocks noGrp="1"/>
          </p:cNvSpPr>
          <p:nvPr/>
        </p:nvSpPr>
        <p:spPr>
          <a:xfrm>
            <a:off x="7806267" y="4842934"/>
            <a:ext cx="372533" cy="372533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txBody>
          <a:bodyPr anchor="ctr"/>
          <a:lstStyle/>
          <a:p>
            <a:pPr algn="ctr" defTabSz="1219170"/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424" name="Cell2_sol"/>
          <p:cNvSpPr>
            <a:spLocks noGrp="1"/>
          </p:cNvSpPr>
          <p:nvPr/>
        </p:nvSpPr>
        <p:spPr>
          <a:xfrm>
            <a:off x="8178800" y="4842934"/>
            <a:ext cx="3691467" cy="372533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5C2D91"/>
                </a:solidFill>
                <a:latin typeface="Calibri" pitchFamily="34" charset="0"/>
              </a:rPr>
              <a:t>Session memory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framework persists context across the full conversation</a:t>
            </a:r>
          </a:p>
        </p:txBody>
      </p:sp>
      <p:sp>
        <p:nvSpPr>
          <p:cNvPr id="430" name="Row3Bg"/>
          <p:cNvSpPr>
            <a:spLocks noGrp="1"/>
          </p:cNvSpPr>
          <p:nvPr/>
        </p:nvSpPr>
        <p:spPr>
          <a:xfrm>
            <a:off x="355600" y="5215467"/>
            <a:ext cx="11514667" cy="372533"/>
          </a:xfrm>
          <a:prstGeom prst="rect">
            <a:avLst/>
          </a:prstGeom>
          <a:solidFill>
            <a:srgbClr val="F8FAFC"/>
          </a:solidFill>
          <a:ln w="4572">
            <a:solidFill>
              <a:srgbClr val="E2E8F0"/>
            </a:solidFill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1" name="Cell3_cap"/>
          <p:cNvSpPr>
            <a:spLocks noGrp="1"/>
          </p:cNvSpPr>
          <p:nvPr/>
        </p:nvSpPr>
        <p:spPr>
          <a:xfrm>
            <a:off x="423333" y="5215467"/>
            <a:ext cx="3081867" cy="37253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1067" b="1" dirty="0">
                <a:solidFill>
                  <a:srgbClr val="006B3C"/>
                </a:solidFill>
                <a:latin typeface="Calibri" pitchFamily="34" charset="0"/>
              </a:rPr>
              <a:t>Code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write, explain, debug</a:t>
            </a:r>
          </a:p>
        </p:txBody>
      </p:sp>
      <p:sp>
        <p:nvSpPr>
          <p:cNvPr id="432" name="Cell3_lim"/>
          <p:cNvSpPr>
            <a:spLocks noGrp="1"/>
          </p:cNvSpPr>
          <p:nvPr/>
        </p:nvSpPr>
        <p:spPr>
          <a:xfrm>
            <a:off x="4047067" y="5215467"/>
            <a:ext cx="3759200" cy="372533"/>
          </a:xfrm>
          <a:prstGeom prst="rect">
            <a:avLst/>
          </a:prstGeom>
          <a:solidFill>
            <a:srgbClr val="FFF8F6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C7380A"/>
                </a:solidFill>
                <a:latin typeface="Calibri" pitchFamily="34" charset="0"/>
              </a:rPr>
              <a:t>Cannot act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generates text only, can't run code or APIs</a:t>
            </a:r>
          </a:p>
        </p:txBody>
      </p:sp>
      <p:sp>
        <p:nvSpPr>
          <p:cNvPr id="433" name="Cell3_arrow"/>
          <p:cNvSpPr>
            <a:spLocks noGrp="1"/>
          </p:cNvSpPr>
          <p:nvPr/>
        </p:nvSpPr>
        <p:spPr>
          <a:xfrm>
            <a:off x="7806267" y="5215467"/>
            <a:ext cx="372533" cy="372533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txBody>
          <a:bodyPr anchor="ctr"/>
          <a:lstStyle/>
          <a:p>
            <a:pPr algn="ctr" defTabSz="1219170"/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434" name="Cell3_sol"/>
          <p:cNvSpPr>
            <a:spLocks noGrp="1"/>
          </p:cNvSpPr>
          <p:nvPr/>
        </p:nvSpPr>
        <p:spPr>
          <a:xfrm>
            <a:off x="8178800" y="5215467"/>
            <a:ext cx="3691467" cy="372533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5C2D91"/>
                </a:solidFill>
                <a:latin typeface="Calibri" pitchFamily="34" charset="0"/>
              </a:rPr>
              <a:t>Actions + approvals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execute functions with human-in-the-loop controls</a:t>
            </a:r>
          </a:p>
        </p:txBody>
      </p:sp>
      <p:sp>
        <p:nvSpPr>
          <p:cNvPr id="440" name="Row4Bg"/>
          <p:cNvSpPr>
            <a:spLocks noGrp="1"/>
          </p:cNvSpPr>
          <p:nvPr/>
        </p:nvSpPr>
        <p:spPr>
          <a:xfrm>
            <a:off x="355600" y="5588000"/>
            <a:ext cx="11514667" cy="372533"/>
          </a:xfrm>
          <a:prstGeom prst="rect">
            <a:avLst/>
          </a:prstGeom>
          <a:solidFill>
            <a:srgbClr val="FFFFFF"/>
          </a:solidFill>
          <a:ln w="4572">
            <a:solidFill>
              <a:srgbClr val="E2E8F0"/>
            </a:solidFill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1" name="Cell4_cap"/>
          <p:cNvSpPr>
            <a:spLocks noGrp="1"/>
          </p:cNvSpPr>
          <p:nvPr/>
        </p:nvSpPr>
        <p:spPr>
          <a:xfrm>
            <a:off x="423333" y="5588000"/>
            <a:ext cx="3081867" cy="37253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1067" b="1" dirty="0">
                <a:solidFill>
                  <a:srgbClr val="006B3C"/>
                </a:solidFill>
                <a:latin typeface="Calibri" pitchFamily="34" charset="0"/>
              </a:rPr>
              <a:t>Translation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convert languages and formats</a:t>
            </a:r>
          </a:p>
        </p:txBody>
      </p:sp>
      <p:sp>
        <p:nvSpPr>
          <p:cNvPr id="442" name="Cell4_lim"/>
          <p:cNvSpPr>
            <a:spLocks noGrp="1"/>
          </p:cNvSpPr>
          <p:nvPr/>
        </p:nvSpPr>
        <p:spPr>
          <a:xfrm>
            <a:off x="4047067" y="5588000"/>
            <a:ext cx="3759200" cy="372533"/>
          </a:xfrm>
          <a:prstGeom prst="rect">
            <a:avLst/>
          </a:prstGeom>
          <a:solidFill>
            <a:srgbClr val="FFF8F6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C7380A"/>
                </a:solidFill>
                <a:latin typeface="Calibri" pitchFamily="34" charset="0"/>
              </a:rPr>
              <a:t>Non-deterministic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same prompt yields different results</a:t>
            </a:r>
          </a:p>
        </p:txBody>
      </p:sp>
      <p:sp>
        <p:nvSpPr>
          <p:cNvPr id="443" name="Cell4_arrow"/>
          <p:cNvSpPr>
            <a:spLocks noGrp="1"/>
          </p:cNvSpPr>
          <p:nvPr/>
        </p:nvSpPr>
        <p:spPr>
          <a:xfrm>
            <a:off x="7806267" y="5588000"/>
            <a:ext cx="372533" cy="372533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txBody>
          <a:bodyPr anchor="ctr"/>
          <a:lstStyle/>
          <a:p>
            <a:pPr algn="ctr" defTabSz="1219170"/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444" name="Cell4_sol"/>
          <p:cNvSpPr>
            <a:spLocks noGrp="1"/>
          </p:cNvSpPr>
          <p:nvPr/>
        </p:nvSpPr>
        <p:spPr>
          <a:xfrm>
            <a:off x="8178800" y="5588000"/>
            <a:ext cx="3691467" cy="372533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5C2D91"/>
                </a:solidFill>
                <a:latin typeface="Calibri" pitchFamily="34" charset="0"/>
              </a:rPr>
              <a:t>Instructions + retry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system prompt locks behavior; middleware enforces consistency</a:t>
            </a:r>
          </a:p>
        </p:txBody>
      </p:sp>
      <p:sp>
        <p:nvSpPr>
          <p:cNvPr id="450" name="Row5Bg"/>
          <p:cNvSpPr>
            <a:spLocks noGrp="1"/>
          </p:cNvSpPr>
          <p:nvPr/>
        </p:nvSpPr>
        <p:spPr>
          <a:xfrm>
            <a:off x="355600" y="5960534"/>
            <a:ext cx="11514667" cy="372533"/>
          </a:xfrm>
          <a:prstGeom prst="rect">
            <a:avLst/>
          </a:prstGeom>
          <a:solidFill>
            <a:srgbClr val="F8FAFC"/>
          </a:solidFill>
          <a:ln w="4572">
            <a:solidFill>
              <a:srgbClr val="E2E8F0"/>
            </a:solidFill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1" name="Cell5_cap"/>
          <p:cNvSpPr>
            <a:spLocks noGrp="1"/>
          </p:cNvSpPr>
          <p:nvPr/>
        </p:nvSpPr>
        <p:spPr>
          <a:xfrm>
            <a:off x="423333" y="5960534"/>
            <a:ext cx="3081867" cy="37253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1067" b="1" dirty="0">
                <a:solidFill>
                  <a:srgbClr val="006B3C"/>
                </a:solidFill>
                <a:latin typeface="Calibri" pitchFamily="34" charset="0"/>
              </a:rPr>
              <a:t>Classification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categorize and extract data</a:t>
            </a:r>
          </a:p>
        </p:txBody>
      </p:sp>
      <p:sp>
        <p:nvSpPr>
          <p:cNvPr id="452" name="Cell5_lim"/>
          <p:cNvSpPr>
            <a:spLocks noGrp="1"/>
          </p:cNvSpPr>
          <p:nvPr/>
        </p:nvSpPr>
        <p:spPr>
          <a:xfrm>
            <a:off x="4047067" y="5960534"/>
            <a:ext cx="3759200" cy="372533"/>
          </a:xfrm>
          <a:prstGeom prst="rect">
            <a:avLst/>
          </a:prstGeom>
          <a:solidFill>
            <a:srgbClr val="FFF8F6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C7380A"/>
                </a:solidFill>
                <a:latin typeface="Calibri" pitchFamily="34" charset="0"/>
              </a:rPr>
              <a:t>Single model lock-in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hard to switch LLM providers</a:t>
            </a:r>
          </a:p>
        </p:txBody>
      </p:sp>
      <p:sp>
        <p:nvSpPr>
          <p:cNvPr id="453" name="Cell5_arrow"/>
          <p:cNvSpPr>
            <a:spLocks noGrp="1"/>
          </p:cNvSpPr>
          <p:nvPr/>
        </p:nvSpPr>
        <p:spPr>
          <a:xfrm>
            <a:off x="7806267" y="5960534"/>
            <a:ext cx="372533" cy="372533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txBody>
          <a:bodyPr anchor="ctr"/>
          <a:lstStyle/>
          <a:p>
            <a:pPr algn="ctr" defTabSz="1219170"/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454" name="Cell5_sol"/>
          <p:cNvSpPr>
            <a:spLocks noGrp="1"/>
          </p:cNvSpPr>
          <p:nvPr/>
        </p:nvSpPr>
        <p:spPr>
          <a:xfrm>
            <a:off x="8178800" y="5960534"/>
            <a:ext cx="3691467" cy="372533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txBody>
          <a:bodyPr anchor="ctr"/>
          <a:lstStyle/>
          <a:p>
            <a:pPr marL="67732" defTabSz="1219170"/>
            <a:r>
              <a:rPr lang="en-US" sz="1067" b="1" dirty="0">
                <a:solidFill>
                  <a:srgbClr val="5C2D91"/>
                </a:solidFill>
                <a:latin typeface="Calibri" pitchFamily="34" charset="0"/>
              </a:rPr>
              <a:t>Provider-agnostic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swap GPT → Gemini → Claude with zero code or minimal code changes</a:t>
            </a:r>
          </a:p>
        </p:txBody>
      </p:sp>
      <p:sp>
        <p:nvSpPr>
          <p:cNvPr id="320" name="LeftAccent"/>
          <p:cNvSpPr>
            <a:spLocks noGrp="1"/>
          </p:cNvSpPr>
          <p:nvPr/>
        </p:nvSpPr>
        <p:spPr>
          <a:xfrm>
            <a:off x="355600" y="4097867"/>
            <a:ext cx="50800" cy="22352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1" name="RightAccent"/>
          <p:cNvSpPr>
            <a:spLocks noGrp="1"/>
          </p:cNvSpPr>
          <p:nvPr/>
        </p:nvSpPr>
        <p:spPr>
          <a:xfrm>
            <a:off x="8178800" y="4097867"/>
            <a:ext cx="50800" cy="223520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2" name="DivL"/>
          <p:cNvSpPr>
            <a:spLocks noGrp="1"/>
          </p:cNvSpPr>
          <p:nvPr/>
        </p:nvSpPr>
        <p:spPr>
          <a:xfrm>
            <a:off x="4047067" y="4097867"/>
            <a:ext cx="16933" cy="22352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02" name="Graphic 902" descr="Tokens — text/documen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09334" y="2125134"/>
            <a:ext cx="270933" cy="270933"/>
          </a:xfrm>
          <a:prstGeom prst="rect">
            <a:avLst/>
          </a:prstGeom>
        </p:spPr>
      </p:pic>
      <p:pic>
        <p:nvPicPr>
          <p:cNvPr id="903" name="Graphic 903" descr="Training Stages — database/data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2667" y="2125134"/>
            <a:ext cx="270933" cy="270933"/>
          </a:xfrm>
          <a:prstGeom prst="rect">
            <a:avLst/>
          </a:prstGeom>
        </p:spPr>
      </p:pic>
      <p:pic>
        <p:nvPicPr>
          <p:cNvPr id="904" name="Graphic 904" descr="Transformer — network/atten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6000" y="2125134"/>
            <a:ext cx="270933" cy="270933"/>
          </a:xfrm>
          <a:prstGeom prst="rect">
            <a:avLst/>
          </a:prstGeom>
        </p:spPr>
      </p:pic>
      <p:pic>
        <p:nvPicPr>
          <p:cNvPr id="905" name="Graphic 905" descr="Inference — chat/outpu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9334" y="2125134"/>
            <a:ext cx="270933" cy="270933"/>
          </a:xfrm>
          <a:prstGeom prst="rect">
            <a:avLst/>
          </a:prstGeom>
        </p:spPr>
      </p:pic>
      <p:pic>
        <p:nvPicPr>
          <p:cNvPr id="906" name="Graphic 906" descr="Excel At — lightbulb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8133" y="3894667"/>
            <a:ext cx="186267" cy="186267"/>
          </a:xfrm>
          <a:prstGeom prst="rect">
            <a:avLst/>
          </a:prstGeom>
        </p:spPr>
      </p:pic>
      <p:pic>
        <p:nvPicPr>
          <p:cNvPr id="907" name="Graphic 907" descr="Agent Framework — network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00933" y="3894667"/>
            <a:ext cx="186267" cy="18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06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an AI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framework: from purpose to production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60704"/>
            <a:ext cx="64008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1591056"/>
            <a:ext cx="1216152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0" y="1591056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8-STEP BUILD PROCESS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2862072" cy="1444752"/>
          </a:xfrm>
          <a:prstGeom prst="rect">
            <a:avLst/>
          </a:prstGeom>
          <a:solidFill>
            <a:srgbClr val="FEFCE8"/>
          </a:solidFill>
          <a:ln w="19050">
            <a:solidFill>
              <a:srgbClr val="EAB30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2862072" cy="5029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256032" cy="25603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656" y="196596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Purpose &amp; Scope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276856"/>
            <a:ext cx="26791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needs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91256" y="1874520"/>
            <a:ext cx="2862072" cy="1444752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191256" y="1874520"/>
            <a:ext cx="2862072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82696" y="1965960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82696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93592" y="196596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Design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00984" y="2276856"/>
            <a:ext cx="26791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Persona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08192" y="1874520"/>
            <a:ext cx="2862072" cy="1444752"/>
          </a:xfrm>
          <a:prstGeom prst="rect">
            <a:avLst/>
          </a:prstGeom>
          <a:solidFill>
            <a:srgbClr val="FDF2F8"/>
          </a:solidFill>
          <a:ln w="19050">
            <a:solidFill>
              <a:srgbClr val="EC4899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108192" y="1874520"/>
            <a:ext cx="2862072" cy="502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99632" y="1965960"/>
            <a:ext cx="256032" cy="25603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99632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10528" y="196596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LLM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276856"/>
            <a:ext cx="26791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latency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25128" y="1874520"/>
            <a:ext cx="2862072" cy="1444752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025128" y="1874520"/>
            <a:ext cx="2862072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116568" y="1965960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116568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427464" y="196596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Integrations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34856" y="2276856"/>
            <a:ext cx="26791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(local)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(web, apps, data)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as a tool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functions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374136"/>
            <a:ext cx="2862072" cy="1444752"/>
          </a:xfrm>
          <a:prstGeom prst="rect">
            <a:avLst/>
          </a:prstGeom>
          <a:solidFill>
            <a:srgbClr val="FAF5FF"/>
          </a:solidFill>
          <a:ln w="19050">
            <a:solidFill>
              <a:srgbClr val="A855F7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74320" y="3374136"/>
            <a:ext cx="2862072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65760" y="3465576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5760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76656" y="346557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" y="3776472"/>
            <a:ext cx="26791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(conversation)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SQL/structured DB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191256" y="3374136"/>
            <a:ext cx="2862072" cy="1444752"/>
          </a:xfrm>
          <a:prstGeom prst="rect">
            <a:avLst/>
          </a:prstGeom>
          <a:solidFill>
            <a:srgbClr val="FDF4FF"/>
          </a:solidFill>
          <a:ln w="19050">
            <a:solidFill>
              <a:srgbClr val="D946EF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191256" y="3374136"/>
            <a:ext cx="2862072" cy="50292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282696" y="3465576"/>
            <a:ext cx="256032" cy="256032"/>
          </a:xfrm>
          <a:prstGeom prst="ellipse">
            <a:avLst/>
          </a:prstGeom>
          <a:solidFill>
            <a:srgbClr val="D946EF"/>
          </a:solidFill>
          <a:ln w="12700">
            <a:solidFill>
              <a:srgbClr val="D94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82696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593592" y="346557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00984" y="3776472"/>
            <a:ext cx="26791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/ workflows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Agent2Agent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08192" y="3374136"/>
            <a:ext cx="2862072" cy="1444752"/>
          </a:xfrm>
          <a:prstGeom prst="rect">
            <a:avLst/>
          </a:prstGeom>
          <a:solidFill>
            <a:srgbClr val="F0F9FF"/>
          </a:solidFill>
          <a:ln w="19050">
            <a:solidFill>
              <a:srgbClr val="0EA5E9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108192" y="3374136"/>
            <a:ext cx="2862072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199632" y="3465576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199632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10528" y="346557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3776472"/>
            <a:ext cx="26791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Discord bot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025128" y="3374136"/>
            <a:ext cx="2862072" cy="1444752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9025128" y="3374136"/>
            <a:ext cx="2862072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9116568" y="3465576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9116568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427464" y="346557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134856" y="3776472"/>
            <a:ext cx="26791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testing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&amp; improve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846320"/>
            <a:ext cx="1216152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0" y="4846320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 —  WHAT MAKES IT AN AGENT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5148072"/>
            <a:ext cx="3828288" cy="1307592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11480" y="5239512"/>
            <a:ext cx="3599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Decision-Making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11480" y="5532120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understands language, context, intent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11480" y="5756148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Goal-oriented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keeps track of objectives across steps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11480" y="5980176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revises plan when new info arrives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11480" y="6204204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decides next action without re-prompting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166616" y="5148072"/>
            <a:ext cx="3828288" cy="130759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303776" y="5239512"/>
            <a:ext cx="3599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Awareness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303776" y="5532120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pulls live info via tools and APIs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303776" y="5756148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reads prior turns in the conversation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303776" y="5980176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stores and retrieves long-term facts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303776" y="6204204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tracks what has been done in this session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058912" y="5148072"/>
            <a:ext cx="3828288" cy="1307592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8196072" y="5239512"/>
            <a:ext cx="3599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Usage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196072" y="5532120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tools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call APIs, run code, read files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196072" y="5756148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connect any MCP-compatible server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196072" y="5980176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not decide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tools do work; LLM chooses which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196072" y="6204204"/>
            <a:ext cx="3599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chaining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multi-step sequences across tools</a:t>
            </a:r>
            <a:endParaRPr lang="en-US" sz="950" dirty="0"/>
          </a:p>
        </p:txBody>
      </p:sp>
      <p:sp>
        <p:nvSpPr>
          <p:cNvPr id="81" name="DefBg">
            <a:extLst>
              <a:ext uri="{FF2B5EF4-FFF2-40B4-BE49-F238E27FC236}">
                <a16:creationId xmlns:a16="http://schemas.microsoft.com/office/drawing/2014/main" id="{EDED5153-B7A8-D991-8B85-71C44F95CFF5}"/>
              </a:ext>
            </a:extLst>
          </p:cNvPr>
          <p:cNvSpPr>
            <a:spLocks noGrp="1"/>
          </p:cNvSpPr>
          <p:nvPr/>
        </p:nvSpPr>
        <p:spPr>
          <a:xfrm>
            <a:off x="338328" y="1060704"/>
            <a:ext cx="11717867" cy="493776"/>
          </a:xfrm>
          <a:prstGeom prst="rect">
            <a:avLst/>
          </a:prstGeom>
          <a:solidFill>
            <a:srgbClr val="EBF4FB"/>
          </a:solidFill>
          <a:ln w="9144">
            <a:solidFill>
              <a:srgbClr val="0078D4"/>
            </a:solidFill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DefText">
            <a:extLst>
              <a:ext uri="{FF2B5EF4-FFF2-40B4-BE49-F238E27FC236}">
                <a16:creationId xmlns:a16="http://schemas.microsoft.com/office/drawing/2014/main" id="{CBADBFC5-465C-FD98-93B3-5C0C17F05B3C}"/>
              </a:ext>
            </a:extLst>
          </p:cNvPr>
          <p:cNvSpPr>
            <a:spLocks noGrp="1"/>
          </p:cNvSpPr>
          <p:nvPr/>
        </p:nvSpPr>
        <p:spPr>
          <a:xfrm>
            <a:off x="490728" y="1060704"/>
            <a:ext cx="11565467" cy="50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defTabSz="1219170"/>
            <a:r>
              <a:rPr lang="en-US" sz="1000" b="1" dirty="0">
                <a:solidFill>
                  <a:srgbClr val="0078D4"/>
                </a:solidFill>
                <a:latin typeface="Calibri" pitchFamily="34" charset="0"/>
              </a:rPr>
              <a:t>What is an AI Agent? 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An LLM augmented with </a:t>
            </a:r>
            <a:r>
              <a:rPr lang="en-US" sz="1000" b="1" dirty="0">
                <a:solidFill>
                  <a:srgbClr val="0F1F3D"/>
                </a:solidFill>
                <a:latin typeface="Calibri" pitchFamily="34" charset="0"/>
              </a:rPr>
              <a:t>instructions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, </a:t>
            </a:r>
            <a:r>
              <a:rPr lang="en-US" sz="1000" b="1" dirty="0">
                <a:solidFill>
                  <a:srgbClr val="0F1F3D"/>
                </a:solidFill>
                <a:latin typeface="Calibri" pitchFamily="34" charset="0"/>
              </a:rPr>
              <a:t>tools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, and </a:t>
            </a:r>
            <a:r>
              <a:rPr lang="en-US" sz="1000" b="1" dirty="0">
                <a:solidFill>
                  <a:srgbClr val="0F1F3D"/>
                </a:solidFill>
                <a:latin typeface="Calibri" pitchFamily="34" charset="0"/>
              </a:rPr>
              <a:t>memory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that can perceive context, reason across steps, use tools, and act toward goals — and can be built in 8 steps</a:t>
            </a:r>
          </a:p>
        </p:txBody>
      </p:sp>
      <p:sp>
        <p:nvSpPr>
          <p:cNvPr id="83" name="Shape 35">
            <a:extLst>
              <a:ext uri="{FF2B5EF4-FFF2-40B4-BE49-F238E27FC236}">
                <a16:creationId xmlns:a16="http://schemas.microsoft.com/office/drawing/2014/main" id="{70FA2825-A0B4-B4EC-EC35-C70CB85CB4AA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36">
            <a:extLst>
              <a:ext uri="{FF2B5EF4-FFF2-40B4-BE49-F238E27FC236}">
                <a16:creationId xmlns:a16="http://schemas.microsoft.com/office/drawing/2014/main" id="{D95ED862-AD71-9C20-D253-D06108159F75}"/>
              </a:ext>
            </a:extLst>
          </p:cNvPr>
          <p:cNvSpPr/>
          <p:nvPr/>
        </p:nvSpPr>
        <p:spPr>
          <a:xfrm>
            <a:off x="292608" y="6480048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  ·  learn.microsoft.com/en-us/agent-framework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9738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 - Abstractions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9456" y="749808"/>
            <a:ext cx="11804904" cy="539496"/>
          </a:xfrm>
          <a:prstGeom prst="rect">
            <a:avLst/>
          </a:prstGeom>
          <a:solidFill>
            <a:srgbClr val="EFF4FB"/>
          </a:solidFill>
          <a:ln w="15240">
            <a:solidFill>
              <a:srgbClr val="3B6C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B5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Framework, </a:t>
            </a:r>
            <a:r>
              <a:rPr lang="en-US" sz="1100" dirty="0"/>
              <a:t>the framework gives us structured layers—making the system more modular, maintainable, and scalable</a:t>
            </a:r>
          </a:p>
        </p:txBody>
      </p:sp>
      <p:sp>
        <p:nvSpPr>
          <p:cNvPr id="6" name="Shape 4"/>
          <p:cNvSpPr/>
          <p:nvPr/>
        </p:nvSpPr>
        <p:spPr>
          <a:xfrm>
            <a:off x="182880" y="1335024"/>
            <a:ext cx="11878056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3441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ABSTRACTION  —  FIVE CONFIGURABLE LAYERS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" y="1709928"/>
            <a:ext cx="2221992" cy="4663440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82880" y="1673352"/>
            <a:ext cx="2221992" cy="4663440"/>
          </a:xfrm>
          <a:prstGeom prst="rect">
            <a:avLst/>
          </a:prstGeom>
          <a:solidFill>
            <a:srgbClr val="EBF2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82880" y="1673352"/>
            <a:ext cx="222199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86968" y="1810512"/>
            <a:ext cx="822960" cy="8229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929384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6032" y="269748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74320" y="3063240"/>
            <a:ext cx="20391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defining identity, persona, goals, and guardrails. Persists across every turn. The foundation of consistent agent behavior.</a:t>
            </a:r>
          </a:p>
          <a:p>
            <a:pPr marL="0" indent="0" algn="l">
              <a:buNone/>
            </a:pPr>
            <a:endParaRPr lang="en-US" sz="8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Step 2 of Building Agent</a:t>
            </a:r>
            <a:endParaRPr lang="en-US" sz="8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74320" y="3959352"/>
            <a:ext cx="2039112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74320" y="400507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74320" y="4251960"/>
            <a:ext cx="203911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agent role, tone &amp; scope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safety guardrails &amp; limits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domain knowledge &amp; rules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dynamic prompt injection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for traceability</a:t>
            </a: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 for domain knowledge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56032" y="5513832"/>
            <a:ext cx="2075688" cy="713232"/>
          </a:xfrm>
          <a:prstGeom prst="rect">
            <a:avLst/>
          </a:prstGeom>
          <a:solidFill>
            <a:srgbClr val="1565C0">
              <a:alpha val="13000"/>
            </a:srgbClr>
          </a:solidFill>
          <a:ln w="1016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01752" y="5541264"/>
            <a:ext cx="198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"You are a customer support agent for Contoso. Always escalate billing issues to a human."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2624328" y="1709928"/>
            <a:ext cx="2221992" cy="4663440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587752" y="1673352"/>
            <a:ext cx="2221992" cy="4663440"/>
          </a:xfrm>
          <a:prstGeom prst="rect">
            <a:avLst/>
          </a:prstGeom>
          <a:solidFill>
            <a:srgbClr val="E0F5F7"/>
          </a:solidFill>
          <a:ln w="1905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587752" y="1673352"/>
            <a:ext cx="2221992" cy="5486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291840" y="1810512"/>
            <a:ext cx="822960" cy="8229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929384"/>
            <a:ext cx="548640" cy="5486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660904" y="269748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2679192" y="3063240"/>
            <a:ext cx="20391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declarations, MCP servers the agent can invoke. Enables real-time actions — code execution, database reads, API calls.   Structured output </a:t>
            </a:r>
          </a:p>
          <a:p>
            <a:endParaRPr lang="en-IN" sz="8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Step 4 of Building Agent</a:t>
            </a:r>
            <a:endParaRPr lang="en-US" sz="8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2679192" y="3959352"/>
            <a:ext cx="2039112" cy="0"/>
          </a:xfrm>
          <a:prstGeom prst="line">
            <a:avLst/>
          </a:prstGeom>
          <a:noFill/>
          <a:ln w="1016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2679192" y="400507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679192" y="4251960"/>
            <a:ext cx="203911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&amp; webhook integrations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 &amp; file I/O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vector store queries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 for tool discovery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 result handling</a:t>
            </a:r>
            <a:endParaRPr lang="en-US" sz="780" dirty="0"/>
          </a:p>
        </p:txBody>
      </p:sp>
      <p:sp>
        <p:nvSpPr>
          <p:cNvPr id="30" name="Shape 26"/>
          <p:cNvSpPr/>
          <p:nvPr/>
        </p:nvSpPr>
        <p:spPr>
          <a:xfrm>
            <a:off x="2660904" y="5513832"/>
            <a:ext cx="2075688" cy="713232"/>
          </a:xfrm>
          <a:prstGeom prst="rect">
            <a:avLst/>
          </a:prstGeom>
          <a:solidFill>
            <a:srgbClr val="00838F">
              <a:alpha val="13000"/>
            </a:srgbClr>
          </a:solidFill>
          <a:ln w="1016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2706624" y="5541264"/>
            <a:ext cx="198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search_web(), run_sql(), send_email(), get_calendar_events()</a:t>
            </a:r>
            <a:endParaRPr lang="en-US" sz="720" dirty="0"/>
          </a:p>
        </p:txBody>
      </p:sp>
      <p:sp>
        <p:nvSpPr>
          <p:cNvPr id="32" name="Shape 28"/>
          <p:cNvSpPr/>
          <p:nvPr/>
        </p:nvSpPr>
        <p:spPr>
          <a:xfrm>
            <a:off x="5029200" y="1709928"/>
            <a:ext cx="2221992" cy="4663440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4992624" y="1673352"/>
            <a:ext cx="2221992" cy="4663440"/>
          </a:xfrm>
          <a:prstGeom prst="rect">
            <a:avLst/>
          </a:prstGeom>
          <a:solidFill>
            <a:srgbClr val="F3E8FF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>
            <a:off x="4992624" y="1673352"/>
            <a:ext cx="2221992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1"/>
          <p:cNvSpPr/>
          <p:nvPr/>
        </p:nvSpPr>
        <p:spPr>
          <a:xfrm>
            <a:off x="5696712" y="1810512"/>
            <a:ext cx="822960" cy="8229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1929384"/>
            <a:ext cx="548640" cy="5486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065776" y="269748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5084064" y="3063240"/>
            <a:ext cx="20391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and memory store. Gives the agent continuity and recall across turns within a session or across sessions.</a:t>
            </a:r>
          </a:p>
          <a:p>
            <a:pPr marL="0" indent="0" algn="l">
              <a:buNone/>
            </a:pPr>
            <a:endParaRPr lang="en-US" sz="8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Step 5 of Building Agent</a:t>
            </a:r>
            <a:endParaRPr lang="en-US" sz="8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5084064" y="3959352"/>
            <a:ext cx="2039112" cy="0"/>
          </a:xfrm>
          <a:prstGeom prst="line">
            <a:avLst/>
          </a:prstGeom>
          <a:noFill/>
          <a:ln w="1016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5084064" y="400507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5084064" y="4251960"/>
            <a:ext cx="203911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in-context chat history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external memory store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recall via embeddings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isolation &amp; user scoping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management</a:t>
            </a:r>
            <a:endParaRPr lang="en-US" sz="780" dirty="0"/>
          </a:p>
        </p:txBody>
      </p:sp>
      <p:sp>
        <p:nvSpPr>
          <p:cNvPr id="42" name="Shape 37"/>
          <p:cNvSpPr/>
          <p:nvPr/>
        </p:nvSpPr>
        <p:spPr>
          <a:xfrm>
            <a:off x="5065776" y="5513832"/>
            <a:ext cx="2075688" cy="713232"/>
          </a:xfrm>
          <a:prstGeom prst="rect">
            <a:avLst/>
          </a:prstGeom>
          <a:solidFill>
            <a:srgbClr val="6A1B9A">
              <a:alpha val="13000"/>
            </a:srgbClr>
          </a:solidFill>
          <a:ln w="1016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8"/>
          <p:cNvSpPr/>
          <p:nvPr/>
        </p:nvSpPr>
        <p:spPr>
          <a:xfrm>
            <a:off x="5111496" y="5541264"/>
            <a:ext cx="198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Remembers user's project name and preferences across 10+ sessions</a:t>
            </a:r>
            <a:endParaRPr lang="en-US" sz="720" dirty="0"/>
          </a:p>
        </p:txBody>
      </p:sp>
      <p:sp>
        <p:nvSpPr>
          <p:cNvPr id="44" name="Shape 39"/>
          <p:cNvSpPr/>
          <p:nvPr/>
        </p:nvSpPr>
        <p:spPr>
          <a:xfrm>
            <a:off x="7434072" y="1709928"/>
            <a:ext cx="2221992" cy="4663440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7397496" y="1673352"/>
            <a:ext cx="2221992" cy="4663440"/>
          </a:xfrm>
          <a:prstGeom prst="rect">
            <a:avLst/>
          </a:prstGeom>
          <a:solidFill>
            <a:srgbClr val="FFF3EE"/>
          </a:solidFill>
          <a:ln w="1905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1"/>
          <p:cNvSpPr/>
          <p:nvPr/>
        </p:nvSpPr>
        <p:spPr>
          <a:xfrm>
            <a:off x="7397496" y="1673352"/>
            <a:ext cx="2221992" cy="54864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2"/>
          <p:cNvSpPr/>
          <p:nvPr/>
        </p:nvSpPr>
        <p:spPr>
          <a:xfrm>
            <a:off x="8101584" y="1810512"/>
            <a:ext cx="822960" cy="822960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4" y="1929384"/>
            <a:ext cx="548640" cy="54864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7470648" y="269748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7488936" y="3063240"/>
            <a:ext cx="20391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interceptors for auth, rate-limiting, logging, and PII filtering. Applied before and after every LLM call.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7488936" y="3959352"/>
            <a:ext cx="2039112" cy="0"/>
          </a:xfrm>
          <a:prstGeom prst="line">
            <a:avLst/>
          </a:prstGeom>
          <a:noFill/>
          <a:ln w="1016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6"/>
          <p:cNvSpPr/>
          <p:nvPr/>
        </p:nvSpPr>
        <p:spPr>
          <a:xfrm>
            <a:off x="7488936" y="400507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7488936" y="4251960"/>
            <a:ext cx="203911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/ API key auth enforcement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quota control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&amp; data masking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audit logging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&amp; error handling</a:t>
            </a:r>
            <a:endParaRPr lang="en-US" sz="780" dirty="0"/>
          </a:p>
        </p:txBody>
      </p:sp>
      <p:sp>
        <p:nvSpPr>
          <p:cNvPr id="54" name="Shape 48"/>
          <p:cNvSpPr/>
          <p:nvPr/>
        </p:nvSpPr>
        <p:spPr>
          <a:xfrm>
            <a:off x="7470648" y="5513832"/>
            <a:ext cx="2075688" cy="713232"/>
          </a:xfrm>
          <a:prstGeom prst="rect">
            <a:avLst/>
          </a:prstGeom>
          <a:solidFill>
            <a:srgbClr val="BF360C">
              <a:alpha val="13000"/>
            </a:srgbClr>
          </a:solidFill>
          <a:ln w="1016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49"/>
          <p:cNvSpPr/>
          <p:nvPr/>
        </p:nvSpPr>
        <p:spPr>
          <a:xfrm>
            <a:off x="7516368" y="5541264"/>
            <a:ext cx="198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Strip credit card numbers from user input before sending to the LLM</a:t>
            </a:r>
            <a:endParaRPr lang="en-US" sz="720" dirty="0"/>
          </a:p>
        </p:txBody>
      </p:sp>
      <p:sp>
        <p:nvSpPr>
          <p:cNvPr id="56" name="Shape 50"/>
          <p:cNvSpPr/>
          <p:nvPr/>
        </p:nvSpPr>
        <p:spPr>
          <a:xfrm>
            <a:off x="9838944" y="1709928"/>
            <a:ext cx="2221992" cy="4663440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1"/>
          <p:cNvSpPr/>
          <p:nvPr/>
        </p:nvSpPr>
        <p:spPr>
          <a:xfrm>
            <a:off x="9802368" y="1673352"/>
            <a:ext cx="2221992" cy="4663440"/>
          </a:xfrm>
          <a:prstGeom prst="rect">
            <a:avLst/>
          </a:prstGeom>
          <a:solidFill>
            <a:srgbClr val="EDFAEE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8" name="Shape 52"/>
          <p:cNvSpPr/>
          <p:nvPr/>
        </p:nvSpPr>
        <p:spPr>
          <a:xfrm>
            <a:off x="9802368" y="1673352"/>
            <a:ext cx="2221992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3"/>
          <p:cNvSpPr/>
          <p:nvPr/>
        </p:nvSpPr>
        <p:spPr>
          <a:xfrm>
            <a:off x="10506456" y="1810512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3616" y="1929384"/>
            <a:ext cx="548640" cy="548640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9875520" y="269748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300" dirty="0"/>
          </a:p>
        </p:txBody>
      </p:sp>
      <p:sp>
        <p:nvSpPr>
          <p:cNvPr id="62" name="Text 55"/>
          <p:cNvSpPr/>
          <p:nvPr/>
        </p:nvSpPr>
        <p:spPr>
          <a:xfrm>
            <a:off x="9893808" y="3063240"/>
            <a:ext cx="20391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model (GPT-4o, Claude, Gemini…). Swappable without changing agent logic — just update the provider config.</a:t>
            </a:r>
          </a:p>
          <a:p>
            <a:pPr marL="0" indent="0" algn="l">
              <a:buNone/>
            </a:pPr>
            <a:endParaRPr lang="en-US" sz="8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Step 3 of Building Agent</a:t>
            </a:r>
            <a:endParaRPr lang="en-US" sz="85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63" name="Shape 56"/>
          <p:cNvSpPr/>
          <p:nvPr/>
        </p:nvSpPr>
        <p:spPr>
          <a:xfrm>
            <a:off x="9893808" y="3959352"/>
            <a:ext cx="2039112" cy="0"/>
          </a:xfrm>
          <a:prstGeom prst="line">
            <a:avLst/>
          </a:prstGeom>
          <a:noFill/>
          <a:ln w="1016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57"/>
          <p:cNvSpPr/>
          <p:nvPr/>
        </p:nvSpPr>
        <p:spPr>
          <a:xfrm>
            <a:off x="9893808" y="400507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9893808" y="4251960"/>
            <a:ext cx="203911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aliasing &amp; versioning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chains for reliability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async completions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for cost savings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 support</a:t>
            </a:r>
            <a:endParaRPr lang="en-US" sz="780" dirty="0"/>
          </a:p>
        </p:txBody>
      </p:sp>
      <p:sp>
        <p:nvSpPr>
          <p:cNvPr id="66" name="Shape 59"/>
          <p:cNvSpPr/>
          <p:nvPr/>
        </p:nvSpPr>
        <p:spPr>
          <a:xfrm>
            <a:off x="9875520" y="5513832"/>
            <a:ext cx="2075688" cy="713232"/>
          </a:xfrm>
          <a:prstGeom prst="rect">
            <a:avLst/>
          </a:prstGeom>
          <a:solidFill>
            <a:srgbClr val="2E7D32">
              <a:alpha val="13000"/>
            </a:srgbClr>
          </a:solidFill>
          <a:ln w="1016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0"/>
          <p:cNvSpPr/>
          <p:nvPr/>
        </p:nvSpPr>
        <p:spPr>
          <a:xfrm>
            <a:off x="9921240" y="5541264"/>
            <a:ext cx="198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Switch from GPT-4o to Claude 3.5 by changing one config value</a:t>
            </a:r>
            <a:endParaRPr lang="en-US" sz="720" dirty="0"/>
          </a:p>
        </p:txBody>
      </p:sp>
      <p:sp>
        <p:nvSpPr>
          <p:cNvPr id="70" name="Shape 35">
            <a:extLst>
              <a:ext uri="{FF2B5EF4-FFF2-40B4-BE49-F238E27FC236}">
                <a16:creationId xmlns:a16="http://schemas.microsoft.com/office/drawing/2014/main" id="{B3A1BCC9-CBD2-BD52-3230-2F92B9BE4AAB}"/>
              </a:ext>
            </a:extLst>
          </p:cNvPr>
          <p:cNvSpPr/>
          <p:nvPr/>
        </p:nvSpPr>
        <p:spPr>
          <a:xfrm>
            <a:off x="0" y="6388608"/>
            <a:ext cx="12192000" cy="46939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FF9C74E3-4608-C84B-0A3C-0F28FF300815}"/>
              </a:ext>
            </a:extLst>
          </p:cNvPr>
          <p:cNvSpPr/>
          <p:nvPr/>
        </p:nvSpPr>
        <p:spPr>
          <a:xfrm>
            <a:off x="365760" y="642518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  ·  learn.microsoft.com/en-us/agent-framework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Shape 4">
            <a:extLst>
              <a:ext uri="{FF2B5EF4-FFF2-40B4-BE49-F238E27FC236}">
                <a16:creationId xmlns:a16="http://schemas.microsoft.com/office/drawing/2014/main" id="{6CB8DDE5-8CEC-F0C2-2A42-F172AF04C81C}"/>
              </a:ext>
            </a:extLst>
          </p:cNvPr>
          <p:cNvSpPr/>
          <p:nvPr/>
        </p:nvSpPr>
        <p:spPr>
          <a:xfrm>
            <a:off x="160020" y="740664"/>
            <a:ext cx="59436" cy="5608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8224" cy="12192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4112"/>
            <a:ext cx="110947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 - Building Blocks</a:t>
            </a:r>
            <a:endParaRPr lang="en-US" sz="3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109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Microsoft.Agents.AI sits on top of Microsoft.Extensions.AI (IChatClient abstraction)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1376" y="1341120"/>
            <a:ext cx="3535680" cy="2511552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1376" y="1341120"/>
            <a:ext cx="3535680" cy="8534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0832" y="1572768"/>
            <a:ext cx="780288" cy="78028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84" y="1713220"/>
            <a:ext cx="499384" cy="499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633728"/>
            <a:ext cx="22677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AIAgent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12064" y="2499360"/>
            <a:ext cx="319430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0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abstraction. Created via .AsAIAgent() or new ChatClientAgent(). Two modes: RunAsync() for full response, RunStreamingAsync() for token streaming. </a:t>
            </a:r>
            <a:endParaRPr lang="en-US" sz="13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145280" y="1341120"/>
            <a:ext cx="3535680" cy="2511552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45280" y="1341120"/>
            <a:ext cx="3535680" cy="8534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364736" y="1572768"/>
            <a:ext cx="780288" cy="78028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188" y="1713220"/>
            <a:ext cx="499384" cy="499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66944" y="1633728"/>
            <a:ext cx="22677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IChatClient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315968" y="2499360"/>
            <a:ext cx="319430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0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model interface from Microsoft.Extensions.AI. Swap Azure OpenAI, OpenAI, Ollama, GitHub Models without changing a single line of agent code.</a:t>
            </a:r>
            <a:endParaRPr lang="en-US" sz="13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7949184" y="1341120"/>
            <a:ext cx="3535680" cy="2511552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949184" y="1341120"/>
            <a:ext cx="3535680" cy="85344"/>
          </a:xfrm>
          <a:prstGeom prst="rect">
            <a:avLst/>
          </a:prstGeom>
          <a:solidFill>
            <a:srgbClr val="2B88D8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168640" y="1572768"/>
            <a:ext cx="780288" cy="780288"/>
          </a:xfrm>
          <a:prstGeom prst="ellipse">
            <a:avLst/>
          </a:prstGeom>
          <a:solidFill>
            <a:srgbClr val="2B88D8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9092" y="1713220"/>
            <a:ext cx="499384" cy="4993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70848" y="1633728"/>
            <a:ext cx="22677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AgentSession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119872" y="2499360"/>
            <a:ext cx="319430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0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multi-turn conversation state. Persist to disk, Cosmos DB, or any </a:t>
            </a:r>
            <a:r>
              <a:rPr lang="en-US" sz="1307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MessageStore</a:t>
            </a:r>
            <a:r>
              <a:rPr lang="en-US" sz="130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Pass the same Session across calls to maintain memory.</a:t>
            </a:r>
            <a:endParaRPr lang="en-US" sz="13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341376" y="4120896"/>
            <a:ext cx="3535680" cy="2511552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341376" y="4120896"/>
            <a:ext cx="3535680" cy="85344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560832" y="4352544"/>
            <a:ext cx="780288" cy="780288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284" y="4492996"/>
            <a:ext cx="499384" cy="4993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63040" y="4413504"/>
            <a:ext cx="22677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Plugins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512064" y="5205984"/>
            <a:ext cx="319430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0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methods and arguments decorated with [Description] or created via AIFunctionFactory.Create(). MCP servers auto-register as tools. LLM invokes them automatically.</a:t>
            </a:r>
            <a:endParaRPr lang="en-US" sz="13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4145280" y="4120896"/>
            <a:ext cx="3535680" cy="2511552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4145280" y="4120896"/>
            <a:ext cx="3535680" cy="85344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4364736" y="4352544"/>
            <a:ext cx="780288" cy="780288"/>
          </a:xfrm>
          <a:prstGeom prst="ellipse">
            <a:avLst/>
          </a:prstGeom>
          <a:solidFill>
            <a:srgbClr val="7B2D8B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5188" y="4492996"/>
            <a:ext cx="499384" cy="4993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66944" y="4413504"/>
            <a:ext cx="22677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4315968" y="5279136"/>
            <a:ext cx="319430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0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interception via agent.Use(). Chain logging, safety filters, rate-limiting, retry logic and custom processors around every agent call.</a:t>
            </a:r>
            <a:endParaRPr lang="en-US" sz="13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7949184" y="4120896"/>
            <a:ext cx="3535680" cy="2511552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7949184" y="4120896"/>
            <a:ext cx="3535680" cy="85344"/>
          </a:xfrm>
          <a:prstGeom prst="rect">
            <a:avLst/>
          </a:prstGeom>
          <a:solidFill>
            <a:srgbClr val="00CC6A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8168640" y="4352544"/>
            <a:ext cx="780288" cy="780288"/>
          </a:xfrm>
          <a:prstGeom prst="ellipse">
            <a:avLst/>
          </a:prstGeom>
          <a:solidFill>
            <a:srgbClr val="00CC6A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092" y="4492996"/>
            <a:ext cx="499384" cy="4993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070848" y="4413504"/>
            <a:ext cx="22677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8119872" y="5279136"/>
            <a:ext cx="319430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0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Microsoft.Agents.AI.Workflows package. WorkflowBuilder with executors (agents/functions) and typed edges. Sequential, Concurrent, Handoff, Magentic.</a:t>
            </a:r>
            <a:endParaRPr lang="en-US" sz="13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388608"/>
            <a:ext cx="12192000" cy="46939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365760" y="642518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  ·  learn.microsoft.com/en-us/agent-framework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g"/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01" name="AccentStripe"/>
          <p:cNvSpPr>
            <a:spLocks noGrp="1"/>
          </p:cNvSpPr>
          <p:nvPr/>
        </p:nvSpPr>
        <p:spPr>
          <a:xfrm>
            <a:off x="0" y="0"/>
            <a:ext cx="266700" cy="1219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02" name="Title"/>
          <p:cNvSpPr>
            <a:spLocks noGrp="1"/>
          </p:cNvSpPr>
          <p:nvPr/>
        </p:nvSpPr>
        <p:spPr>
          <a:xfrm>
            <a:off x="546100" y="139700"/>
            <a:ext cx="11087100" cy="635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3067" b="1" dirty="0">
                <a:solidFill>
                  <a:srgbClr val="FFFFFF"/>
                </a:solidFill>
                <a:latin typeface="Calibri" pitchFamily="34" charset="0"/>
              </a:rPr>
              <a:t>Middleware</a:t>
            </a:r>
          </a:p>
        </p:txBody>
      </p:sp>
      <p:sp>
        <p:nvSpPr>
          <p:cNvPr id="103" name="Subtitle"/>
          <p:cNvSpPr>
            <a:spLocks noGrp="1"/>
          </p:cNvSpPr>
          <p:nvPr/>
        </p:nvSpPr>
        <p:spPr>
          <a:xfrm>
            <a:off x="546100" y="812800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467" i="1" dirty="0">
                <a:solidFill>
                  <a:srgbClr val="C7E0F4"/>
                </a:solidFill>
                <a:latin typeface="Calibri" pitchFamily="34" charset="0"/>
              </a:rPr>
              <a:t>Intercept, modify, and enhance agent interactions at every layer of execution</a:t>
            </a:r>
          </a:p>
        </p:txBody>
      </p:sp>
      <p:sp>
        <p:nvSpPr>
          <p:cNvPr id="104" name="WhyBg"/>
          <p:cNvSpPr>
            <a:spLocks noGrp="1"/>
          </p:cNvSpPr>
          <p:nvPr/>
        </p:nvSpPr>
        <p:spPr>
          <a:xfrm>
            <a:off x="342900" y="1333500"/>
            <a:ext cx="11518900" cy="12065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05" name="WhyAccent"/>
          <p:cNvSpPr>
            <a:spLocks noGrp="1"/>
          </p:cNvSpPr>
          <p:nvPr/>
        </p:nvSpPr>
        <p:spPr>
          <a:xfrm>
            <a:off x="342900" y="1333500"/>
            <a:ext cx="88900" cy="1206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06" name="WhyText"/>
          <p:cNvSpPr>
            <a:spLocks noGrp="1"/>
          </p:cNvSpPr>
          <p:nvPr/>
        </p:nvSpPr>
        <p:spPr>
          <a:xfrm>
            <a:off x="546100" y="1384300"/>
            <a:ext cx="5334000" cy="1066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pPr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What is Middleware?</a:t>
            </a:r>
          </a:p>
          <a:p>
            <a:pPr>
              <a:spcBef>
                <a:spcPts val="150"/>
              </a:spcBef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A pipeline of functions that wrap agent runs, function calls, and LLM requests — enabling cross-cutting concerns without touching core logic.</a:t>
            </a:r>
          </a:p>
        </p:txBody>
      </p:sp>
      <p:sp>
        <p:nvSpPr>
          <p:cNvPr id="110" name="LoopBg"/>
          <p:cNvSpPr>
            <a:spLocks noGrp="1"/>
          </p:cNvSpPr>
          <p:nvPr/>
        </p:nvSpPr>
        <p:spPr>
          <a:xfrm>
            <a:off x="342900" y="2639292"/>
            <a:ext cx="11518900" cy="14605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11" name="LoopTitle"/>
          <p:cNvSpPr>
            <a:spLocks noGrp="1"/>
          </p:cNvSpPr>
          <p:nvPr/>
        </p:nvSpPr>
        <p:spPr>
          <a:xfrm>
            <a:off x="546100" y="2702792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467" b="1" dirty="0">
                <a:solidFill>
                  <a:srgbClr val="0078D4"/>
                </a:solidFill>
                <a:latin typeface="Calibri" pitchFamily="34" charset="0"/>
              </a:rPr>
              <a:t>3 Middleware Types — Execution Pipeline</a:t>
            </a:r>
          </a:p>
        </p:txBody>
      </p:sp>
      <p:sp>
        <p:nvSpPr>
          <p:cNvPr id="120" name="Flow0"/>
          <p:cNvSpPr>
            <a:spLocks noGrp="1"/>
          </p:cNvSpPr>
          <p:nvPr/>
        </p:nvSpPr>
        <p:spPr>
          <a:xfrm>
            <a:off x="546100" y="3020292"/>
            <a:ext cx="1625600" cy="7620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softEdge rad="12700"/>
          </a:effectLst>
        </p:spPr>
        <p:txBody>
          <a:bodyPr vert="horz" lIns="91440" tIns="45720" rIns="91440" bIns="45720" anchor="ctr"/>
          <a:lstStyle/>
          <a:p>
            <a:pPr algn="ctr"/>
            <a:r>
              <a:rPr lang="en-US" sz="933" b="1">
                <a:solidFill>
                  <a:srgbClr val="FFFFFF"/>
                </a:solidFill>
                <a:latin typeface="Calibri" pitchFamily="34" charset="0"/>
              </a:rPr>
              <a:t>Agent
Middleware</a:t>
            </a:r>
            <a:endParaRPr lang="en-US" sz="933" b="1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21" name="Arrow0"/>
          <p:cNvSpPr>
            <a:spLocks noGrp="1"/>
          </p:cNvSpPr>
          <p:nvPr/>
        </p:nvSpPr>
        <p:spPr>
          <a:xfrm>
            <a:off x="2171700" y="3299692"/>
            <a:ext cx="203200" cy="20320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Flow1"/>
          <p:cNvSpPr>
            <a:spLocks noGrp="1"/>
          </p:cNvSpPr>
          <p:nvPr/>
        </p:nvSpPr>
        <p:spPr>
          <a:xfrm>
            <a:off x="2374900" y="3020292"/>
            <a:ext cx="1625600" cy="762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Function
Middleware</a:t>
            </a:r>
          </a:p>
        </p:txBody>
      </p:sp>
      <p:sp>
        <p:nvSpPr>
          <p:cNvPr id="123" name="Arrow1"/>
          <p:cNvSpPr>
            <a:spLocks noGrp="1"/>
          </p:cNvSpPr>
          <p:nvPr/>
        </p:nvSpPr>
        <p:spPr>
          <a:xfrm>
            <a:off x="4000500" y="3299692"/>
            <a:ext cx="203200" cy="20320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Flow2"/>
          <p:cNvSpPr>
            <a:spLocks noGrp="1"/>
          </p:cNvSpPr>
          <p:nvPr/>
        </p:nvSpPr>
        <p:spPr>
          <a:xfrm>
            <a:off x="4203700" y="3020292"/>
            <a:ext cx="1625600" cy="7620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Chat
Middleware</a:t>
            </a:r>
          </a:p>
        </p:txBody>
      </p:sp>
      <p:sp>
        <p:nvSpPr>
          <p:cNvPr id="125" name="Arrow2"/>
          <p:cNvSpPr>
            <a:spLocks noGrp="1"/>
          </p:cNvSpPr>
          <p:nvPr/>
        </p:nvSpPr>
        <p:spPr>
          <a:xfrm>
            <a:off x="5829300" y="3299692"/>
            <a:ext cx="203200" cy="20320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Flow3"/>
          <p:cNvSpPr>
            <a:spLocks noGrp="1"/>
          </p:cNvSpPr>
          <p:nvPr/>
        </p:nvSpPr>
        <p:spPr>
          <a:xfrm>
            <a:off x="6032500" y="3020292"/>
            <a:ext cx="1625600" cy="762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LLM
Call</a:t>
            </a:r>
          </a:p>
        </p:txBody>
      </p:sp>
      <p:sp>
        <p:nvSpPr>
          <p:cNvPr id="127" name="Arrow3"/>
          <p:cNvSpPr>
            <a:spLocks noGrp="1"/>
          </p:cNvSpPr>
          <p:nvPr/>
        </p:nvSpPr>
        <p:spPr>
          <a:xfrm>
            <a:off x="7658100" y="3299692"/>
            <a:ext cx="203200" cy="20320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Flow4"/>
          <p:cNvSpPr>
            <a:spLocks noGrp="1"/>
          </p:cNvSpPr>
          <p:nvPr/>
        </p:nvSpPr>
        <p:spPr>
          <a:xfrm>
            <a:off x="7861300" y="3020292"/>
            <a:ext cx="1625600" cy="762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Response
Returned</a:t>
            </a:r>
          </a:p>
        </p:txBody>
      </p:sp>
      <p:sp>
        <p:nvSpPr>
          <p:cNvPr id="150" name="SkillBg"/>
          <p:cNvSpPr>
            <a:spLocks noGrp="1"/>
          </p:cNvSpPr>
          <p:nvPr/>
        </p:nvSpPr>
        <p:spPr>
          <a:xfrm>
            <a:off x="342900" y="4199084"/>
            <a:ext cx="5588000" cy="12065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51" name="SkillAccent"/>
          <p:cNvSpPr>
            <a:spLocks noGrp="1"/>
          </p:cNvSpPr>
          <p:nvPr/>
        </p:nvSpPr>
        <p:spPr>
          <a:xfrm>
            <a:off x="393700" y="4171376"/>
            <a:ext cx="5486400" cy="6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52" name="SkillTitle"/>
          <p:cNvSpPr>
            <a:spLocks noGrp="1"/>
          </p:cNvSpPr>
          <p:nvPr/>
        </p:nvSpPr>
        <p:spPr>
          <a:xfrm>
            <a:off x="508000" y="4351484"/>
            <a:ext cx="5245100" cy="254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467" b="1" dirty="0">
                <a:solidFill>
                  <a:srgbClr val="0F1F3D"/>
                </a:solidFill>
                <a:latin typeface="Calibri" pitchFamily="34" charset="0"/>
              </a:rPr>
              <a:t>Agent Run Middleware</a:t>
            </a:r>
          </a:p>
        </p:txBody>
      </p:sp>
      <p:sp>
        <p:nvSpPr>
          <p:cNvPr id="153" name="SkillContent"/>
          <p:cNvSpPr>
            <a:spLocks noGrp="1"/>
          </p:cNvSpPr>
          <p:nvPr/>
        </p:nvSpPr>
        <p:spPr>
          <a:xfrm>
            <a:off x="508000" y="4656284"/>
            <a:ext cx="5245100" cy="6731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Outermost layer — fires once per agent turn</a:t>
            </a:r>
          </a:p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Wraps entire run: inspect inputs &amp; outputs end-to-end</a:t>
            </a:r>
          </a:p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Implement via .Use() delegate or IAgentMiddleware class</a:t>
            </a:r>
          </a:p>
        </p:txBody>
      </p:sp>
      <p:sp>
        <p:nvSpPr>
          <p:cNvPr id="160" name="WireBg"/>
          <p:cNvSpPr>
            <a:spLocks noGrp="1"/>
          </p:cNvSpPr>
          <p:nvPr/>
        </p:nvSpPr>
        <p:spPr>
          <a:xfrm>
            <a:off x="6261100" y="4199084"/>
            <a:ext cx="5588000" cy="12065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61" name="WireAccent"/>
          <p:cNvSpPr>
            <a:spLocks noGrp="1"/>
          </p:cNvSpPr>
          <p:nvPr/>
        </p:nvSpPr>
        <p:spPr>
          <a:xfrm>
            <a:off x="6311900" y="4171376"/>
            <a:ext cx="5486400" cy="635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62" name="WireTitle"/>
          <p:cNvSpPr>
            <a:spLocks noGrp="1"/>
          </p:cNvSpPr>
          <p:nvPr/>
        </p:nvSpPr>
        <p:spPr>
          <a:xfrm>
            <a:off x="6438900" y="4351484"/>
            <a:ext cx="5245100" cy="254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467" b="1" dirty="0">
                <a:solidFill>
                  <a:srgbClr val="0F1F3D"/>
                </a:solidFill>
                <a:latin typeface="Calibri" pitchFamily="34" charset="0"/>
              </a:rPr>
              <a:t>Function &amp; Chat Middleware</a:t>
            </a:r>
          </a:p>
        </p:txBody>
      </p:sp>
      <p:sp>
        <p:nvSpPr>
          <p:cNvPr id="163" name="WireContent"/>
          <p:cNvSpPr>
            <a:spLocks noGrp="1"/>
          </p:cNvSpPr>
          <p:nvPr/>
        </p:nvSpPr>
        <p:spPr>
          <a:xfrm>
            <a:off x="6438900" y="4656284"/>
            <a:ext cx="5245100" cy="6731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Function MW: intercepts every tool call — validate, transform, block</a:t>
            </a:r>
          </a:p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Chat MW: intercepts raw LLM requests — inspect messages &amp; responses</a:t>
            </a:r>
          </a:p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All types support function-based and class-based (.NET) styles</a:t>
            </a:r>
          </a:p>
        </p:txBody>
      </p:sp>
      <p:sp>
        <p:nvSpPr>
          <p:cNvPr id="170" name="ConsBg"/>
          <p:cNvSpPr>
            <a:spLocks noGrp="1"/>
          </p:cNvSpPr>
          <p:nvPr/>
        </p:nvSpPr>
        <p:spPr>
          <a:xfrm>
            <a:off x="342900" y="5532584"/>
            <a:ext cx="11518900" cy="279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71" name="ConsAccent"/>
          <p:cNvSpPr>
            <a:spLocks noGrp="1"/>
          </p:cNvSpPr>
          <p:nvPr/>
        </p:nvSpPr>
        <p:spPr>
          <a:xfrm>
            <a:off x="342900" y="5532584"/>
            <a:ext cx="88900" cy="279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72" name="ConsTitle"/>
          <p:cNvSpPr>
            <a:spLocks noGrp="1"/>
          </p:cNvSpPr>
          <p:nvPr/>
        </p:nvSpPr>
        <p:spPr>
          <a:xfrm>
            <a:off x="546100" y="5545284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467" b="1" dirty="0">
                <a:solidFill>
                  <a:srgbClr val="E65100"/>
                </a:solidFill>
                <a:latin typeface="Calibri" pitchFamily="34" charset="0"/>
              </a:rPr>
              <a:t>Key Considerations</a:t>
            </a:r>
          </a:p>
        </p:txBody>
      </p:sp>
      <p:sp>
        <p:nvSpPr>
          <p:cNvPr id="180" name="Pill0"/>
          <p:cNvSpPr>
            <a:spLocks noGrp="1"/>
          </p:cNvSpPr>
          <p:nvPr/>
        </p:nvSpPr>
        <p:spPr>
          <a:xfrm>
            <a:off x="368300" y="5862784"/>
            <a:ext cx="2755900" cy="482600"/>
          </a:xfrm>
          <a:prstGeom prst="roundRect">
            <a:avLst>
              <a:gd name="adj" fmla="val 16667"/>
            </a:avLst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81" name="PillT0"/>
          <p:cNvSpPr>
            <a:spLocks noGrp="1"/>
          </p:cNvSpPr>
          <p:nvPr/>
        </p:nvSpPr>
        <p:spPr>
          <a:xfrm>
            <a:off x="444500" y="5875484"/>
            <a:ext cx="26035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067" b="1" dirty="0">
                <a:solidFill>
                  <a:srgbClr val="E65100"/>
                </a:solidFill>
                <a:latin typeface="Calibri" pitchFamily="34" charset="0"/>
              </a:rPr>
              <a:t>🔗 Chain Order</a:t>
            </a:r>
          </a:p>
          <a:p>
            <a:pPr>
              <a:spcBef>
                <a:spcPts val="50"/>
              </a:spcBef>
            </a:pPr>
            <a:r>
              <a:rPr lang="en-US" sz="867" dirty="0">
                <a:solidFill>
                  <a:srgbClr val="4A5568"/>
                </a:solidFill>
                <a:latin typeface="Calibri" pitchFamily="34" charset="0"/>
              </a:rPr>
              <a:t>Registered order = execution order in chain</a:t>
            </a:r>
          </a:p>
        </p:txBody>
      </p:sp>
      <p:sp>
        <p:nvSpPr>
          <p:cNvPr id="182" name="Pill1"/>
          <p:cNvSpPr>
            <a:spLocks noGrp="1"/>
          </p:cNvSpPr>
          <p:nvPr/>
        </p:nvSpPr>
        <p:spPr>
          <a:xfrm>
            <a:off x="3200400" y="5862784"/>
            <a:ext cx="2755900" cy="482600"/>
          </a:xfrm>
          <a:prstGeom prst="roundRect">
            <a:avLst>
              <a:gd name="adj" fmla="val 16667"/>
            </a:avLst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83" name="PillT1"/>
          <p:cNvSpPr>
            <a:spLocks noGrp="1"/>
          </p:cNvSpPr>
          <p:nvPr/>
        </p:nvSpPr>
        <p:spPr>
          <a:xfrm>
            <a:off x="3276600" y="5875484"/>
            <a:ext cx="26035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067" b="1" dirty="0">
                <a:solidFill>
                  <a:srgbClr val="0078D4"/>
                </a:solidFill>
                <a:latin typeface="Calibri" pitchFamily="34" charset="0"/>
              </a:rPr>
              <a:t>⛔ Early Termination</a:t>
            </a:r>
          </a:p>
          <a:p>
            <a:pPr>
              <a:spcBef>
                <a:spcPts val="50"/>
              </a:spcBef>
            </a:pPr>
            <a:r>
              <a:rPr lang="en-US" sz="867" dirty="0">
                <a:solidFill>
                  <a:srgbClr val="4A5568"/>
                </a:solidFill>
                <a:latin typeface="Calibri" pitchFamily="34" charset="0"/>
              </a:rPr>
              <a:t>Skip call_next() to short-circuit pipeline</a:t>
            </a:r>
          </a:p>
        </p:txBody>
      </p:sp>
      <p:sp>
        <p:nvSpPr>
          <p:cNvPr id="184" name="Pill2"/>
          <p:cNvSpPr>
            <a:spLocks noGrp="1"/>
          </p:cNvSpPr>
          <p:nvPr/>
        </p:nvSpPr>
        <p:spPr>
          <a:xfrm>
            <a:off x="6032500" y="5862784"/>
            <a:ext cx="2755900" cy="482600"/>
          </a:xfrm>
          <a:prstGeom prst="roundRect">
            <a:avLst>
              <a:gd name="adj" fmla="val 16667"/>
            </a:avLst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85" name="PillT2"/>
          <p:cNvSpPr>
            <a:spLocks noGrp="1"/>
          </p:cNvSpPr>
          <p:nvPr/>
        </p:nvSpPr>
        <p:spPr>
          <a:xfrm>
            <a:off x="6108700" y="5875484"/>
            <a:ext cx="26035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067" b="1" dirty="0">
                <a:solidFill>
                  <a:srgbClr val="7B2FF7"/>
                </a:solidFill>
                <a:latin typeface="Calibri" pitchFamily="34" charset="0"/>
              </a:rPr>
              <a:t>🔒 Security</a:t>
            </a:r>
          </a:p>
          <a:p>
            <a:pPr>
              <a:spcBef>
                <a:spcPts val="50"/>
              </a:spcBef>
            </a:pPr>
            <a:r>
              <a:rPr lang="en-US" sz="867" dirty="0">
                <a:solidFill>
                  <a:srgbClr val="4A5568"/>
                </a:solidFill>
                <a:latin typeface="Calibri" pitchFamily="34" charset="0"/>
              </a:rPr>
              <a:t>Block sensitive inputs before they reach the LLM</a:t>
            </a:r>
          </a:p>
        </p:txBody>
      </p:sp>
      <p:sp>
        <p:nvSpPr>
          <p:cNvPr id="186" name="Pill3"/>
          <p:cNvSpPr>
            <a:spLocks noGrp="1"/>
          </p:cNvSpPr>
          <p:nvPr/>
        </p:nvSpPr>
        <p:spPr>
          <a:xfrm>
            <a:off x="8864600" y="5862784"/>
            <a:ext cx="2755900" cy="482600"/>
          </a:xfrm>
          <a:prstGeom prst="roundRect">
            <a:avLst>
              <a:gd name="adj" fmla="val 16667"/>
            </a:avLst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87" name="PillT3"/>
          <p:cNvSpPr>
            <a:spLocks noGrp="1"/>
          </p:cNvSpPr>
          <p:nvPr/>
        </p:nvSpPr>
        <p:spPr>
          <a:xfrm>
            <a:off x="8940800" y="5875484"/>
            <a:ext cx="26035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067" b="1" dirty="0">
                <a:solidFill>
                  <a:srgbClr val="2E7D32"/>
                </a:solidFill>
                <a:latin typeface="Calibri" pitchFamily="34" charset="0"/>
              </a:rPr>
              <a:t>🧩 Composability</a:t>
            </a:r>
          </a:p>
          <a:p>
            <a:pPr>
              <a:spcBef>
                <a:spcPts val="50"/>
              </a:spcBef>
            </a:pPr>
            <a:r>
              <a:rPr lang="en-US" sz="867" dirty="0">
                <a:solidFill>
                  <a:srgbClr val="4A5568"/>
                </a:solidFill>
                <a:latin typeface="Calibri" pitchFamily="34" charset="0"/>
              </a:rPr>
              <a:t>Stack multiple middleware via builder pattern</a:t>
            </a:r>
          </a:p>
        </p:txBody>
      </p:sp>
      <p:sp>
        <p:nvSpPr>
          <p:cNvPr id="190" name="FooterBg"/>
          <p:cNvSpPr>
            <a:spLocks noGrp="1"/>
          </p:cNvSpPr>
          <p:nvPr/>
        </p:nvSpPr>
        <p:spPr>
          <a:xfrm>
            <a:off x="0" y="6388100"/>
            <a:ext cx="12192000" cy="4699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2" name="Text 27">
            <a:extLst>
              <a:ext uri="{FF2B5EF4-FFF2-40B4-BE49-F238E27FC236}">
                <a16:creationId xmlns:a16="http://schemas.microsoft.com/office/drawing/2014/main" id="{A4116B28-01F2-D2C0-0845-0341796C00C6}"/>
              </a:ext>
            </a:extLst>
          </p:cNvPr>
          <p:cNvSpPr/>
          <p:nvPr/>
        </p:nvSpPr>
        <p:spPr>
          <a:xfrm>
            <a:off x="365760" y="642518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</a:rPr>
              <a:t>Microsoft Agent Framework  ·  learn.microsoft.com/en-us/agent-framework/agents/middleware</a:t>
            </a:r>
          </a:p>
        </p:txBody>
      </p:sp>
      <p:sp>
        <p:nvSpPr>
          <p:cNvPr id="3" name="WhyDivider">
            <a:extLst>
              <a:ext uri="{FF2B5EF4-FFF2-40B4-BE49-F238E27FC236}">
                <a16:creationId xmlns:a16="http://schemas.microsoft.com/office/drawing/2014/main" id="{56FFB75E-1855-4B7A-9EF3-241B8A3D9789}"/>
              </a:ext>
            </a:extLst>
          </p:cNvPr>
          <p:cNvSpPr/>
          <p:nvPr/>
        </p:nvSpPr>
        <p:spPr>
          <a:xfrm>
            <a:off x="5994400" y="1384300"/>
            <a:ext cx="25400" cy="1066800"/>
          </a:xfrm>
          <a:prstGeom prst="rect">
            <a:avLst/>
          </a:prstGeom>
          <a:solidFill>
            <a:srgbClr val="D0D8E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WhyAgentSkills">
            <a:extLst>
              <a:ext uri="{FF2B5EF4-FFF2-40B4-BE49-F238E27FC236}">
                <a16:creationId xmlns:a16="http://schemas.microsoft.com/office/drawing/2014/main" id="{3FFF722E-3781-406F-A376-AE2FECF9AD43}"/>
              </a:ext>
            </a:extLst>
          </p:cNvPr>
          <p:cNvSpPr txBox="1"/>
          <p:nvPr/>
        </p:nvSpPr>
        <p:spPr>
          <a:xfrm>
            <a:off x="6121400" y="1384300"/>
            <a:ext cx="5270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Why Middleware?</a:t>
            </a:r>
          </a:p>
          <a:p>
            <a:pPr marL="114300" indent="-114300">
              <a:spcBef>
                <a:spcPts val="150"/>
              </a:spcBef>
              <a:buFont typeface="Arial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Logging &amp; observability: trace every turn and tool call</a:t>
            </a:r>
          </a:p>
          <a:p>
            <a:pPr marL="114300" indent="-114300">
              <a:spcBef>
                <a:spcPts val="150"/>
              </a:spcBef>
              <a:buFont typeface="Arial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Security validation: block or transform inputs before they reach the agent</a:t>
            </a:r>
          </a:p>
          <a:p>
            <a:pPr marL="114300" indent="-114300">
              <a:spcBef>
                <a:spcPts val="150"/>
              </a:spcBef>
              <a:buFont typeface="Arial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Error handling &amp; rate limiting: control flow without changing business logic</a:t>
            </a:r>
          </a:p>
        </p:txBody>
      </p:sp>
    </p:spTree>
    <p:extLst>
      <p:ext uri="{BB962C8B-B14F-4D97-AF65-F5344CB8AC3E}">
        <p14:creationId xmlns:p14="http://schemas.microsoft.com/office/powerpoint/2010/main" val="740217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g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AccentStripe"/>
          <p:cNvSpPr/>
          <p:nvPr/>
        </p:nvSpPr>
        <p:spPr>
          <a:xfrm>
            <a:off x="0" y="0"/>
            <a:ext cx="270933" cy="1219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Title"/>
          <p:cNvSpPr/>
          <p:nvPr/>
        </p:nvSpPr>
        <p:spPr>
          <a:xfrm>
            <a:off x="541867" y="135467"/>
            <a:ext cx="11091333" cy="626533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3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Tools</a:t>
            </a:r>
          </a:p>
        </p:txBody>
      </p:sp>
      <p:sp>
        <p:nvSpPr>
          <p:cNvPr id="103" name="Subtitle"/>
          <p:cNvSpPr/>
          <p:nvPr/>
        </p:nvSpPr>
        <p:spPr>
          <a:xfrm>
            <a:off x="541867" y="812800"/>
            <a:ext cx="11091333" cy="338667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1467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agents with function tools and MCP servers to interact with the real world</a:t>
            </a:r>
          </a:p>
        </p:txBody>
      </p:sp>
      <p:sp>
        <p:nvSpPr>
          <p:cNvPr id="104" name="WhyBg"/>
          <p:cNvSpPr/>
          <p:nvPr/>
        </p:nvSpPr>
        <p:spPr>
          <a:xfrm>
            <a:off x="338667" y="1337733"/>
            <a:ext cx="11514667" cy="711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WhyAccent"/>
          <p:cNvSpPr/>
          <p:nvPr/>
        </p:nvSpPr>
        <p:spPr>
          <a:xfrm>
            <a:off x="338667" y="1337733"/>
            <a:ext cx="84667" cy="711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6" name="WhyText"/>
          <p:cNvSpPr/>
          <p:nvPr/>
        </p:nvSpPr>
        <p:spPr>
          <a:xfrm>
            <a:off x="541867" y="1405467"/>
            <a:ext cx="11108267" cy="575733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Why agents need tools: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Without tools, an agent is a conversationalist. With tools, it becomes an operator — capable of searching APIs, querying databases, sending emails, and taking real-world actions.</a:t>
            </a:r>
          </a:p>
        </p:txBody>
      </p:sp>
      <p:sp>
        <p:nvSpPr>
          <p:cNvPr id="110" name="LoopBg"/>
          <p:cNvSpPr/>
          <p:nvPr/>
        </p:nvSpPr>
        <p:spPr>
          <a:xfrm>
            <a:off x="338667" y="2167467"/>
            <a:ext cx="11514667" cy="1608667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1" name="LoopTitle"/>
          <p:cNvSpPr/>
          <p:nvPr/>
        </p:nvSpPr>
        <p:spPr>
          <a:xfrm>
            <a:off x="541867" y="2235200"/>
            <a:ext cx="5080000" cy="270933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Calibri" pitchFamily="34" charset="0"/>
              </a:rPr>
              <a:t>The Tool-Calling Loop</a:t>
            </a:r>
          </a:p>
        </p:txBody>
      </p:sp>
      <p:sp>
        <p:nvSpPr>
          <p:cNvPr id="120" name="Flow0"/>
          <p:cNvSpPr/>
          <p:nvPr/>
        </p:nvSpPr>
        <p:spPr>
          <a:xfrm>
            <a:off x="541867" y="2624667"/>
            <a:ext cx="1625600" cy="8128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algn="ctr" defTabSz="1219170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User sends
message</a:t>
            </a:r>
          </a:p>
        </p:txBody>
      </p:sp>
      <p:sp>
        <p:nvSpPr>
          <p:cNvPr id="121" name="Arrow0"/>
          <p:cNvSpPr/>
          <p:nvPr/>
        </p:nvSpPr>
        <p:spPr>
          <a:xfrm>
            <a:off x="2167467" y="2929467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algn="ctr" defTabSz="1219170"/>
            <a:r>
              <a:rPr lang="en-US" sz="1333" dirty="0">
                <a:solidFill>
                  <a:srgbClr val="0078D4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122" name="Flow1"/>
          <p:cNvSpPr/>
          <p:nvPr/>
        </p:nvSpPr>
        <p:spPr>
          <a:xfrm>
            <a:off x="2370667" y="2624667"/>
            <a:ext cx="1625600" cy="812800"/>
          </a:xfrm>
          <a:prstGeom prst="roundRect">
            <a:avLst>
              <a:gd name="adj" fmla="val 10000"/>
            </a:avLst>
          </a:prstGeom>
          <a:solidFill>
            <a:srgbClr val="0F1F3D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algn="ctr" defTabSz="1219170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Agent sends
msg + tools
to LLM</a:t>
            </a:r>
          </a:p>
        </p:txBody>
      </p:sp>
      <p:sp>
        <p:nvSpPr>
          <p:cNvPr id="123" name="Arrow1"/>
          <p:cNvSpPr/>
          <p:nvPr/>
        </p:nvSpPr>
        <p:spPr>
          <a:xfrm>
            <a:off x="3996267" y="2929467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algn="ctr" defTabSz="1219170"/>
            <a:r>
              <a:rPr lang="en-US" sz="1333" dirty="0">
                <a:solidFill>
                  <a:srgbClr val="0078D4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124" name="Flow2"/>
          <p:cNvSpPr/>
          <p:nvPr/>
        </p:nvSpPr>
        <p:spPr>
          <a:xfrm>
            <a:off x="4199467" y="2624667"/>
            <a:ext cx="1625600" cy="812800"/>
          </a:xfrm>
          <a:prstGeom prst="roundRect">
            <a:avLst>
              <a:gd name="adj" fmla="val 10000"/>
            </a:avLst>
          </a:prstGeom>
          <a:solidFill>
            <a:srgbClr val="7B2FF7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algn="ctr" defTabSz="1219170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LLM responds
with tool call?</a:t>
            </a:r>
          </a:p>
        </p:txBody>
      </p:sp>
      <p:sp>
        <p:nvSpPr>
          <p:cNvPr id="125" name="Arrow2"/>
          <p:cNvSpPr/>
          <p:nvPr/>
        </p:nvSpPr>
        <p:spPr>
          <a:xfrm>
            <a:off x="5825067" y="2929467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algn="ctr" defTabSz="1219170"/>
            <a:r>
              <a:rPr lang="en-US" sz="1333" dirty="0">
                <a:solidFill>
                  <a:srgbClr val="0078D4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126" name="Flow3"/>
          <p:cNvSpPr/>
          <p:nvPr/>
        </p:nvSpPr>
        <p:spPr>
          <a:xfrm>
            <a:off x="6028267" y="2624667"/>
            <a:ext cx="1625600" cy="812800"/>
          </a:xfrm>
          <a:prstGeom prst="roundRect">
            <a:avLst>
              <a:gd name="adj" fmla="val 10000"/>
            </a:avLst>
          </a:prstGeom>
          <a:solidFill>
            <a:srgbClr val="E65100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algn="ctr" defTabSz="1219170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Framework
executes tool</a:t>
            </a:r>
          </a:p>
        </p:txBody>
      </p:sp>
      <p:sp>
        <p:nvSpPr>
          <p:cNvPr id="127" name="Arrow3"/>
          <p:cNvSpPr/>
          <p:nvPr/>
        </p:nvSpPr>
        <p:spPr>
          <a:xfrm>
            <a:off x="7653867" y="2929467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algn="ctr" defTabSz="1219170"/>
            <a:r>
              <a:rPr lang="en-US" sz="1333" dirty="0">
                <a:solidFill>
                  <a:srgbClr val="0078D4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128" name="Flow4"/>
          <p:cNvSpPr/>
          <p:nvPr/>
        </p:nvSpPr>
        <p:spPr>
          <a:xfrm>
            <a:off x="7857067" y="2624667"/>
            <a:ext cx="1625600" cy="8128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algn="ctr" defTabSz="1219170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Result fed
back to LLM</a:t>
            </a:r>
          </a:p>
        </p:txBody>
      </p:sp>
      <p:sp>
        <p:nvSpPr>
          <p:cNvPr id="129" name="Arrow4"/>
          <p:cNvSpPr/>
          <p:nvPr/>
        </p:nvSpPr>
        <p:spPr>
          <a:xfrm>
            <a:off x="9482667" y="2929467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algn="ctr" defTabSz="1219170"/>
            <a:r>
              <a:rPr lang="en-US" sz="1333" dirty="0">
                <a:solidFill>
                  <a:srgbClr val="0078D4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130" name="Flow5"/>
          <p:cNvSpPr/>
          <p:nvPr/>
        </p:nvSpPr>
        <p:spPr>
          <a:xfrm>
            <a:off x="9685867" y="2624667"/>
            <a:ext cx="1625600" cy="8128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algn="ctr" defTabSz="1219170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Final
response</a:t>
            </a:r>
          </a:p>
        </p:txBody>
      </p:sp>
      <p:sp>
        <p:nvSpPr>
          <p:cNvPr id="150" name="FnBg"/>
          <p:cNvSpPr/>
          <p:nvPr/>
        </p:nvSpPr>
        <p:spPr>
          <a:xfrm>
            <a:off x="338667" y="3928534"/>
            <a:ext cx="5588000" cy="1185333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1" name="FnAccent"/>
          <p:cNvSpPr/>
          <p:nvPr/>
        </p:nvSpPr>
        <p:spPr>
          <a:xfrm>
            <a:off x="389467" y="3928534"/>
            <a:ext cx="5486400" cy="6773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2" name="FnTitle"/>
          <p:cNvSpPr/>
          <p:nvPr/>
        </p:nvSpPr>
        <p:spPr>
          <a:xfrm>
            <a:off x="508000" y="4080934"/>
            <a:ext cx="5249333" cy="270933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1467" b="1" dirty="0">
                <a:solidFill>
                  <a:srgbClr val="0F1F3D"/>
                </a:solidFill>
                <a:latin typeface="Calibri" pitchFamily="34" charset="0"/>
              </a:rPr>
              <a:t>Function Tools</a:t>
            </a:r>
          </a:p>
        </p:txBody>
      </p:sp>
      <p:sp>
        <p:nvSpPr>
          <p:cNvPr id="153" name="FnContent"/>
          <p:cNvSpPr/>
          <p:nvPr/>
        </p:nvSpPr>
        <p:spPr>
          <a:xfrm>
            <a:off x="508000" y="4402667"/>
            <a:ext cx="5249333" cy="677333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marL="152396" indent="-152396" defTabSz="1219170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Native Python/C# functions the agent can invoke</a:t>
            </a:r>
          </a:p>
          <a:p>
            <a:pPr marL="152396" indent="-152396" defTabSz="1219170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Strongly typed with automatic schema generation</a:t>
            </a:r>
          </a:p>
          <a:p>
            <a:pPr marL="152396" indent="-152396" defTabSz="1219170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Best for: API calls, database queries, code execution</a:t>
            </a:r>
          </a:p>
        </p:txBody>
      </p:sp>
      <p:sp>
        <p:nvSpPr>
          <p:cNvPr id="160" name="McpBg"/>
          <p:cNvSpPr/>
          <p:nvPr/>
        </p:nvSpPr>
        <p:spPr>
          <a:xfrm>
            <a:off x="6265333" y="3928534"/>
            <a:ext cx="5588000" cy="1185333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1" name="McpAccent"/>
          <p:cNvSpPr/>
          <p:nvPr/>
        </p:nvSpPr>
        <p:spPr>
          <a:xfrm>
            <a:off x="6316133" y="3928534"/>
            <a:ext cx="5486400" cy="67733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2" name="McpTitle"/>
          <p:cNvSpPr/>
          <p:nvPr/>
        </p:nvSpPr>
        <p:spPr>
          <a:xfrm>
            <a:off x="6434667" y="4080934"/>
            <a:ext cx="5249333" cy="270933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1467" b="1" dirty="0">
                <a:solidFill>
                  <a:srgbClr val="0F1F3D"/>
                </a:solidFill>
                <a:latin typeface="Calibri" pitchFamily="34" charset="0"/>
              </a:rPr>
              <a:t>MCP Servers</a:t>
            </a:r>
          </a:p>
        </p:txBody>
      </p:sp>
      <p:sp>
        <p:nvSpPr>
          <p:cNvPr id="163" name="McpContent"/>
          <p:cNvSpPr/>
          <p:nvPr/>
        </p:nvSpPr>
        <p:spPr>
          <a:xfrm>
            <a:off x="6434667" y="4402667"/>
            <a:ext cx="5249333" cy="677333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marL="152396" indent="-152396" defTabSz="1219170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Model Context Protocol — dynamic tool discovery</a:t>
            </a:r>
          </a:p>
          <a:p>
            <a:pPr marL="152396" indent="-152396" defTabSz="1219170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Connect to external tool servers at runtime</a:t>
            </a:r>
          </a:p>
          <a:p>
            <a:pPr marL="152396" indent="-152396" defTabSz="1219170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Best for: ecosystem integration, shared tool repositories</a:t>
            </a:r>
          </a:p>
        </p:txBody>
      </p:sp>
      <p:sp>
        <p:nvSpPr>
          <p:cNvPr id="170" name="ConsBg"/>
          <p:cNvSpPr/>
          <p:nvPr/>
        </p:nvSpPr>
        <p:spPr>
          <a:xfrm>
            <a:off x="338667" y="5249333"/>
            <a:ext cx="11514667" cy="3048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1" name="ConsAccent"/>
          <p:cNvSpPr/>
          <p:nvPr/>
        </p:nvSpPr>
        <p:spPr>
          <a:xfrm>
            <a:off x="338667" y="5249333"/>
            <a:ext cx="84667" cy="304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2" name="ConsTitle"/>
          <p:cNvSpPr/>
          <p:nvPr/>
        </p:nvSpPr>
        <p:spPr>
          <a:xfrm>
            <a:off x="541867" y="5249333"/>
            <a:ext cx="3386667" cy="304800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1333" b="1" dirty="0">
                <a:solidFill>
                  <a:srgbClr val="E65100"/>
                </a:solidFill>
                <a:latin typeface="Calibri" pitchFamily="34" charset="0"/>
              </a:rPr>
              <a:t>⚠  Considerations</a:t>
            </a:r>
          </a:p>
        </p:txBody>
      </p:sp>
      <p:sp>
        <p:nvSpPr>
          <p:cNvPr id="180" name="Pill0"/>
          <p:cNvSpPr/>
          <p:nvPr/>
        </p:nvSpPr>
        <p:spPr>
          <a:xfrm>
            <a:off x="372534" y="5588000"/>
            <a:ext cx="2760133" cy="508000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1" name="PillT0"/>
          <p:cNvSpPr/>
          <p:nvPr/>
        </p:nvSpPr>
        <p:spPr>
          <a:xfrm>
            <a:off x="474134" y="5621867"/>
            <a:ext cx="2556933" cy="440267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1067" b="1" dirty="0">
                <a:solidFill>
                  <a:srgbClr val="E65100"/>
                </a:solidFill>
                <a:latin typeface="Calibri" pitchFamily="34" charset="0"/>
              </a:rPr>
              <a:t>Latency</a:t>
            </a:r>
          </a:p>
          <a:p>
            <a:pPr defTabSz="1219170">
              <a:spcBef>
                <a:spcPts val="67"/>
              </a:spcBef>
            </a:pPr>
            <a:r>
              <a:rPr lang="en-US" sz="933" dirty="0">
                <a:solidFill>
                  <a:srgbClr val="4A5568"/>
                </a:solidFill>
                <a:latin typeface="Calibri" pitchFamily="34" charset="0"/>
              </a:rPr>
              <a:t>Each tool call adds a round trip</a:t>
            </a:r>
          </a:p>
        </p:txBody>
      </p:sp>
      <p:sp>
        <p:nvSpPr>
          <p:cNvPr id="182" name="Pill1"/>
          <p:cNvSpPr/>
          <p:nvPr/>
        </p:nvSpPr>
        <p:spPr>
          <a:xfrm>
            <a:off x="3234267" y="5588000"/>
            <a:ext cx="2760133" cy="508000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3" name="PillT1"/>
          <p:cNvSpPr/>
          <p:nvPr/>
        </p:nvSpPr>
        <p:spPr>
          <a:xfrm>
            <a:off x="3335867" y="5621867"/>
            <a:ext cx="2556933" cy="440267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1067" b="1" dirty="0">
                <a:solidFill>
                  <a:srgbClr val="E65100"/>
                </a:solidFill>
                <a:latin typeface="Calibri" pitchFamily="34" charset="0"/>
              </a:rPr>
              <a:t>Token overhead</a:t>
            </a:r>
          </a:p>
          <a:p>
            <a:pPr defTabSz="1219170">
              <a:spcBef>
                <a:spcPts val="67"/>
              </a:spcBef>
            </a:pPr>
            <a:r>
              <a:rPr lang="en-US" sz="933" dirty="0">
                <a:solidFill>
                  <a:srgbClr val="4A5568"/>
                </a:solidFill>
                <a:latin typeface="Calibri" pitchFamily="34" charset="0"/>
              </a:rPr>
              <a:t>Tool schemas consume context</a:t>
            </a:r>
          </a:p>
        </p:txBody>
      </p:sp>
      <p:sp>
        <p:nvSpPr>
          <p:cNvPr id="184" name="Pill2"/>
          <p:cNvSpPr/>
          <p:nvPr/>
        </p:nvSpPr>
        <p:spPr>
          <a:xfrm>
            <a:off x="6096000" y="5588000"/>
            <a:ext cx="2760133" cy="508000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5" name="PillT2"/>
          <p:cNvSpPr/>
          <p:nvPr/>
        </p:nvSpPr>
        <p:spPr>
          <a:xfrm>
            <a:off x="6197600" y="5621867"/>
            <a:ext cx="2556933" cy="440267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1067" b="1" dirty="0">
                <a:solidFill>
                  <a:srgbClr val="E65100"/>
                </a:solidFill>
                <a:latin typeface="Calibri" pitchFamily="34" charset="0"/>
              </a:rPr>
              <a:t>Reliability</a:t>
            </a:r>
          </a:p>
          <a:p>
            <a:pPr defTabSz="1219170">
              <a:spcBef>
                <a:spcPts val="67"/>
              </a:spcBef>
            </a:pPr>
            <a:r>
              <a:rPr lang="en-US" sz="933" dirty="0">
                <a:solidFill>
                  <a:srgbClr val="4A5568"/>
                </a:solidFill>
                <a:latin typeface="Calibri" pitchFamily="34" charset="0"/>
              </a:rPr>
              <a:t>Models may call tools incorrectly</a:t>
            </a:r>
          </a:p>
        </p:txBody>
      </p:sp>
      <p:sp>
        <p:nvSpPr>
          <p:cNvPr id="186" name="Pill3"/>
          <p:cNvSpPr/>
          <p:nvPr/>
        </p:nvSpPr>
        <p:spPr>
          <a:xfrm>
            <a:off x="8957734" y="5588000"/>
            <a:ext cx="2760133" cy="508000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7" name="PillT3"/>
          <p:cNvSpPr/>
          <p:nvPr/>
        </p:nvSpPr>
        <p:spPr>
          <a:xfrm>
            <a:off x="9059334" y="5621867"/>
            <a:ext cx="2556933" cy="440267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1067" b="1" dirty="0">
                <a:solidFill>
                  <a:srgbClr val="E65100"/>
                </a:solidFill>
                <a:latin typeface="Calibri" pitchFamily="34" charset="0"/>
              </a:rPr>
              <a:t>Debugging</a:t>
            </a:r>
          </a:p>
          <a:p>
            <a:pPr defTabSz="1219170">
              <a:spcBef>
                <a:spcPts val="67"/>
              </a:spcBef>
            </a:pPr>
            <a:r>
              <a:rPr lang="en-US" sz="933" dirty="0">
                <a:solidFill>
                  <a:srgbClr val="4A5568"/>
                </a:solidFill>
                <a:latin typeface="Calibri" pitchFamily="34" charset="0"/>
              </a:rPr>
              <a:t>Reasoning + code debugging combined</a:t>
            </a:r>
          </a:p>
        </p:txBody>
      </p:sp>
      <p:sp>
        <p:nvSpPr>
          <p:cNvPr id="190" name="FooterBg"/>
          <p:cNvSpPr/>
          <p:nvPr/>
        </p:nvSpPr>
        <p:spPr>
          <a:xfrm>
            <a:off x="0" y="6383867"/>
            <a:ext cx="12192000" cy="474133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1" name="FooterText"/>
          <p:cNvSpPr/>
          <p:nvPr/>
        </p:nvSpPr>
        <p:spPr>
          <a:xfrm>
            <a:off x="372533" y="6417734"/>
            <a:ext cx="11463867" cy="372533"/>
          </a:xfrm>
          <a:prstGeom prst="rect">
            <a:avLst/>
          </a:prstGeom>
          <a:noFill/>
          <a:ln>
            <a:noFill/>
          </a:ln>
        </p:spPr>
        <p:txBody>
          <a:bodyPr wrap="square" lIns="60960" tIns="48768" rIns="60960" bIns="48768" anchor="t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  ·  learn.microsoft.com/en-us/agent-framework</a:t>
            </a:r>
          </a:p>
        </p:txBody>
      </p:sp>
    </p:spTree>
    <p:extLst>
      <p:ext uri="{BB962C8B-B14F-4D97-AF65-F5344CB8AC3E}">
        <p14:creationId xmlns:p14="http://schemas.microsoft.com/office/powerpoint/2010/main" val="1070085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g"/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01" name="AccentStripe"/>
          <p:cNvSpPr>
            <a:spLocks noGrp="1"/>
          </p:cNvSpPr>
          <p:nvPr/>
        </p:nvSpPr>
        <p:spPr>
          <a:xfrm>
            <a:off x="0" y="0"/>
            <a:ext cx="266700" cy="1219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02" name="Title"/>
          <p:cNvSpPr>
            <a:spLocks noGrp="1"/>
          </p:cNvSpPr>
          <p:nvPr/>
        </p:nvSpPr>
        <p:spPr>
          <a:xfrm>
            <a:off x="546100" y="139700"/>
            <a:ext cx="11087100" cy="635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3067" b="1" dirty="0">
                <a:solidFill>
                  <a:srgbClr val="FFFFFF"/>
                </a:solidFill>
                <a:latin typeface="Calibri" pitchFamily="34" charset="0"/>
              </a:rPr>
              <a:t>Agent Skills</a:t>
            </a:r>
          </a:p>
        </p:txBody>
      </p:sp>
      <p:sp>
        <p:nvSpPr>
          <p:cNvPr id="103" name="Subtitle"/>
          <p:cNvSpPr>
            <a:spLocks noGrp="1"/>
          </p:cNvSpPr>
          <p:nvPr/>
        </p:nvSpPr>
        <p:spPr>
          <a:xfrm>
            <a:off x="546100" y="812800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467" i="1" dirty="0">
                <a:solidFill>
                  <a:srgbClr val="C7E0F4"/>
                </a:solidFill>
                <a:latin typeface="Calibri" pitchFamily="34" charset="0"/>
              </a:rPr>
              <a:t>Modular, reusable capability packages that give AI agents domain expertise on demand</a:t>
            </a:r>
          </a:p>
        </p:txBody>
      </p:sp>
      <p:sp>
        <p:nvSpPr>
          <p:cNvPr id="104" name="WhyBg"/>
          <p:cNvSpPr>
            <a:spLocks noGrp="1"/>
          </p:cNvSpPr>
          <p:nvPr/>
        </p:nvSpPr>
        <p:spPr>
          <a:xfrm>
            <a:off x="342900" y="1333500"/>
            <a:ext cx="11518900" cy="12065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05" name="WhyAccent"/>
          <p:cNvSpPr>
            <a:spLocks noGrp="1"/>
          </p:cNvSpPr>
          <p:nvPr/>
        </p:nvSpPr>
        <p:spPr>
          <a:xfrm>
            <a:off x="342900" y="1333500"/>
            <a:ext cx="88900" cy="1206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06" name="WhyText"/>
          <p:cNvSpPr>
            <a:spLocks noGrp="1"/>
          </p:cNvSpPr>
          <p:nvPr/>
        </p:nvSpPr>
        <p:spPr>
          <a:xfrm>
            <a:off x="546100" y="1384300"/>
            <a:ext cx="5334000" cy="1066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pPr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What is a Skill?</a:t>
            </a:r>
          </a:p>
          <a:p>
            <a:pPr>
              <a:spcBef>
                <a:spcPts val="150"/>
              </a:spcBef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Agent Skills are a lightweight, open format for extending AI agent capabilities with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</a:rPr>
              <a:t>specialised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knowledge and workflows. A folder of instructions, scripts, and resources that an agent discovers and loads on demand — once built, reusable across any compatible agent product.</a:t>
            </a:r>
          </a:p>
          <a:p>
            <a:pPr>
              <a:spcBef>
                <a:spcPts val="150"/>
              </a:spcBef>
              <a:buNone/>
            </a:pPr>
            <a:endParaRPr lang="en-US" sz="1000" dirty="0">
              <a:solidFill>
                <a:srgbClr val="4A5568"/>
              </a:solidFill>
              <a:latin typeface="Calibri" pitchFamily="34" charset="0"/>
            </a:endParaRPr>
          </a:p>
          <a:p>
            <a:pPr>
              <a:spcBef>
                <a:spcPts val="150"/>
              </a:spcBef>
              <a:buNone/>
            </a:pPr>
            <a:endParaRPr lang="en-US" sz="1000" dirty="0">
              <a:solidFill>
                <a:srgbClr val="4A5568"/>
              </a:solidFill>
              <a:latin typeface="Calibri" pitchFamily="34" charset="0"/>
            </a:endParaRPr>
          </a:p>
        </p:txBody>
      </p:sp>
      <p:sp>
        <p:nvSpPr>
          <p:cNvPr id="110" name="LoopBg"/>
          <p:cNvSpPr>
            <a:spLocks noGrp="1"/>
          </p:cNvSpPr>
          <p:nvPr/>
        </p:nvSpPr>
        <p:spPr>
          <a:xfrm>
            <a:off x="342900" y="2667000"/>
            <a:ext cx="11518900" cy="14605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11" name="LoopTitle"/>
          <p:cNvSpPr>
            <a:spLocks noGrp="1"/>
          </p:cNvSpPr>
          <p:nvPr/>
        </p:nvSpPr>
        <p:spPr>
          <a:xfrm>
            <a:off x="546100" y="27305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467" b="1" dirty="0">
                <a:solidFill>
                  <a:srgbClr val="0078D4"/>
                </a:solidFill>
                <a:latin typeface="Calibri" pitchFamily="34" charset="0"/>
              </a:rPr>
              <a:t>Skill Progressive Disclosure — 3-Stage Loading</a:t>
            </a:r>
          </a:p>
        </p:txBody>
      </p:sp>
      <p:sp>
        <p:nvSpPr>
          <p:cNvPr id="120" name="Flow0"/>
          <p:cNvSpPr>
            <a:spLocks noGrp="1"/>
          </p:cNvSpPr>
          <p:nvPr/>
        </p:nvSpPr>
        <p:spPr>
          <a:xfrm>
            <a:off x="546100" y="3048000"/>
            <a:ext cx="1625600" cy="762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txBody>
          <a:bodyPr vert="horz" lIns="91440" tIns="45720" rIns="91440" bIns="4572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Advertise
(~100 tokens)</a:t>
            </a:r>
          </a:p>
        </p:txBody>
      </p:sp>
      <p:sp>
        <p:nvSpPr>
          <p:cNvPr id="121" name="Arrow0"/>
          <p:cNvSpPr>
            <a:spLocks noGrp="1"/>
          </p:cNvSpPr>
          <p:nvPr/>
        </p:nvSpPr>
        <p:spPr>
          <a:xfrm>
            <a:off x="2171700" y="3327400"/>
            <a:ext cx="203200" cy="20320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Flow1"/>
          <p:cNvSpPr>
            <a:spLocks noGrp="1"/>
          </p:cNvSpPr>
          <p:nvPr/>
        </p:nvSpPr>
        <p:spPr>
          <a:xfrm>
            <a:off x="2374900" y="3048000"/>
            <a:ext cx="1625600" cy="762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Load
SKILL.md</a:t>
            </a:r>
          </a:p>
        </p:txBody>
      </p:sp>
      <p:sp>
        <p:nvSpPr>
          <p:cNvPr id="123" name="Arrow1"/>
          <p:cNvSpPr>
            <a:spLocks noGrp="1"/>
          </p:cNvSpPr>
          <p:nvPr/>
        </p:nvSpPr>
        <p:spPr>
          <a:xfrm>
            <a:off x="4000500" y="3327400"/>
            <a:ext cx="203200" cy="20320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Flow2"/>
          <p:cNvSpPr>
            <a:spLocks noGrp="1"/>
          </p:cNvSpPr>
          <p:nvPr/>
        </p:nvSpPr>
        <p:spPr>
          <a:xfrm>
            <a:off x="4203700" y="3048000"/>
            <a:ext cx="1625600" cy="7620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Execute
Instructions</a:t>
            </a:r>
          </a:p>
        </p:txBody>
      </p:sp>
      <p:sp>
        <p:nvSpPr>
          <p:cNvPr id="125" name="Arrow2"/>
          <p:cNvSpPr>
            <a:spLocks noGrp="1"/>
          </p:cNvSpPr>
          <p:nvPr/>
        </p:nvSpPr>
        <p:spPr>
          <a:xfrm>
            <a:off x="5829300" y="3327400"/>
            <a:ext cx="203200" cy="20320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Flow3"/>
          <p:cNvSpPr>
            <a:spLocks noGrp="1"/>
          </p:cNvSpPr>
          <p:nvPr/>
        </p:nvSpPr>
        <p:spPr>
          <a:xfrm>
            <a:off x="6032500" y="3048000"/>
            <a:ext cx="1625600" cy="762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Return
Result</a:t>
            </a:r>
          </a:p>
        </p:txBody>
      </p:sp>
      <p:sp>
        <p:nvSpPr>
          <p:cNvPr id="127" name="Arrow3"/>
          <p:cNvSpPr>
            <a:spLocks noGrp="1"/>
          </p:cNvSpPr>
          <p:nvPr/>
        </p:nvSpPr>
        <p:spPr>
          <a:xfrm>
            <a:off x="7658100" y="3327400"/>
            <a:ext cx="203200" cy="20320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Flow4"/>
          <p:cNvSpPr>
            <a:spLocks noGrp="1"/>
          </p:cNvSpPr>
          <p:nvPr/>
        </p:nvSpPr>
        <p:spPr>
          <a:xfrm>
            <a:off x="7861300" y="3048000"/>
            <a:ext cx="1625600" cy="762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</a:rPr>
              <a:t>Unload
(context lean)</a:t>
            </a:r>
          </a:p>
        </p:txBody>
      </p:sp>
      <p:sp>
        <p:nvSpPr>
          <p:cNvPr id="150" name="SkillBg"/>
          <p:cNvSpPr>
            <a:spLocks noGrp="1"/>
          </p:cNvSpPr>
          <p:nvPr/>
        </p:nvSpPr>
        <p:spPr>
          <a:xfrm>
            <a:off x="342900" y="4254500"/>
            <a:ext cx="3534156" cy="12065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51" name="SkillAccent"/>
          <p:cNvSpPr>
            <a:spLocks noGrp="1"/>
          </p:cNvSpPr>
          <p:nvPr/>
        </p:nvSpPr>
        <p:spPr>
          <a:xfrm>
            <a:off x="393700" y="4254500"/>
            <a:ext cx="3469899" cy="6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52" name="SkillTitle"/>
          <p:cNvSpPr>
            <a:spLocks noGrp="1"/>
          </p:cNvSpPr>
          <p:nvPr/>
        </p:nvSpPr>
        <p:spPr>
          <a:xfrm>
            <a:off x="508000" y="4406900"/>
            <a:ext cx="5245100" cy="254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467" b="1" dirty="0">
                <a:solidFill>
                  <a:srgbClr val="0F1F3D"/>
                </a:solidFill>
                <a:latin typeface="Calibri" pitchFamily="34" charset="0"/>
              </a:rPr>
              <a:t>Anatomy of a Skill</a:t>
            </a:r>
          </a:p>
        </p:txBody>
      </p:sp>
      <p:sp>
        <p:nvSpPr>
          <p:cNvPr id="153" name="SkillContent"/>
          <p:cNvSpPr>
            <a:spLocks noGrp="1"/>
          </p:cNvSpPr>
          <p:nvPr/>
        </p:nvSpPr>
        <p:spPr>
          <a:xfrm>
            <a:off x="508000" y="4711700"/>
            <a:ext cx="3355599" cy="6731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SKILL.md — name, description + step-by-step instructions</a:t>
            </a:r>
          </a:p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Optional scripts (Python / C#) agents can execute</a:t>
            </a:r>
          </a:p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Optional reference docs loaded only when needed</a:t>
            </a:r>
          </a:p>
        </p:txBody>
      </p:sp>
      <p:sp>
        <p:nvSpPr>
          <p:cNvPr id="160" name="WireBg"/>
          <p:cNvSpPr>
            <a:spLocks noGrp="1"/>
          </p:cNvSpPr>
          <p:nvPr/>
        </p:nvSpPr>
        <p:spPr>
          <a:xfrm>
            <a:off x="3949700" y="4264152"/>
            <a:ext cx="3534156" cy="12065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61" name="WireAccent"/>
          <p:cNvSpPr>
            <a:spLocks noGrp="1"/>
          </p:cNvSpPr>
          <p:nvPr/>
        </p:nvSpPr>
        <p:spPr>
          <a:xfrm>
            <a:off x="3956812" y="4264152"/>
            <a:ext cx="3534156" cy="45719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62" name="WireTitle"/>
          <p:cNvSpPr>
            <a:spLocks noGrp="1"/>
          </p:cNvSpPr>
          <p:nvPr/>
        </p:nvSpPr>
        <p:spPr>
          <a:xfrm>
            <a:off x="4127500" y="4416552"/>
            <a:ext cx="3269996" cy="254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467" b="1" dirty="0">
                <a:solidFill>
                  <a:srgbClr val="0F1F3D"/>
                </a:solidFill>
                <a:latin typeface="Calibri" pitchFamily="34" charset="0"/>
              </a:rPr>
              <a:t>Three Authoring Styles (.NET)</a:t>
            </a:r>
          </a:p>
        </p:txBody>
      </p:sp>
      <p:sp>
        <p:nvSpPr>
          <p:cNvPr id="163" name="WireContent"/>
          <p:cNvSpPr>
            <a:spLocks noGrp="1"/>
          </p:cNvSpPr>
          <p:nvPr/>
        </p:nvSpPr>
        <p:spPr>
          <a:xfrm>
            <a:off x="4127500" y="4721352"/>
            <a:ext cx="3269996" cy="6731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File-based — SKILL.md files discovered from disk</a:t>
            </a:r>
          </a:p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Inline — AgentInlineSkill defined alongside app code</a:t>
            </a:r>
          </a:p>
          <a:p>
            <a:pPr marL="152396" indent="-152396">
              <a:spcBef>
                <a:spcPts val="200"/>
              </a:spcBef>
              <a:buFont typeface="Arial"/>
              <a:buChar char="•"/>
            </a:pP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Class-based — AgentClassSkill&lt;T&gt; shipped as NuGet</a:t>
            </a:r>
          </a:p>
        </p:txBody>
      </p:sp>
      <p:sp>
        <p:nvSpPr>
          <p:cNvPr id="170" name="ConsBg"/>
          <p:cNvSpPr>
            <a:spLocks noGrp="1"/>
          </p:cNvSpPr>
          <p:nvPr/>
        </p:nvSpPr>
        <p:spPr>
          <a:xfrm>
            <a:off x="342900" y="5588000"/>
            <a:ext cx="11518900" cy="279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71" name="ConsAccent"/>
          <p:cNvSpPr>
            <a:spLocks noGrp="1"/>
          </p:cNvSpPr>
          <p:nvPr/>
        </p:nvSpPr>
        <p:spPr>
          <a:xfrm>
            <a:off x="342900" y="5588000"/>
            <a:ext cx="88900" cy="279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72" name="ConsTitle"/>
          <p:cNvSpPr>
            <a:spLocks noGrp="1"/>
          </p:cNvSpPr>
          <p:nvPr/>
        </p:nvSpPr>
        <p:spPr>
          <a:xfrm>
            <a:off x="546100" y="56007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467" b="1" dirty="0">
                <a:solidFill>
                  <a:srgbClr val="E65100"/>
                </a:solidFill>
                <a:latin typeface="Calibri" pitchFamily="34" charset="0"/>
              </a:rPr>
              <a:t>Key Considerations</a:t>
            </a:r>
          </a:p>
        </p:txBody>
      </p:sp>
      <p:sp>
        <p:nvSpPr>
          <p:cNvPr id="180" name="Pill0"/>
          <p:cNvSpPr>
            <a:spLocks noGrp="1"/>
          </p:cNvSpPr>
          <p:nvPr/>
        </p:nvSpPr>
        <p:spPr>
          <a:xfrm>
            <a:off x="368300" y="5918200"/>
            <a:ext cx="2755900" cy="482600"/>
          </a:xfrm>
          <a:prstGeom prst="roundRect">
            <a:avLst>
              <a:gd name="adj" fmla="val 16667"/>
            </a:avLst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81" name="PillT0"/>
          <p:cNvSpPr>
            <a:spLocks noGrp="1"/>
          </p:cNvSpPr>
          <p:nvPr/>
        </p:nvSpPr>
        <p:spPr>
          <a:xfrm>
            <a:off x="444500" y="5930900"/>
            <a:ext cx="26035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067" b="1" dirty="0">
                <a:solidFill>
                  <a:srgbClr val="E65100"/>
                </a:solidFill>
                <a:latin typeface="Calibri" pitchFamily="34" charset="0"/>
              </a:rPr>
              <a:t>🔒 Security</a:t>
            </a:r>
          </a:p>
          <a:p>
            <a:pPr>
              <a:spcBef>
                <a:spcPts val="50"/>
              </a:spcBef>
            </a:pPr>
            <a:r>
              <a:rPr lang="en-US" sz="867" dirty="0">
                <a:solidFill>
                  <a:srgbClr val="4A5568"/>
                </a:solidFill>
                <a:latin typeface="Calibri" pitchFamily="34" charset="0"/>
              </a:rPr>
              <a:t>Treat skills like npm packages — review before use</a:t>
            </a:r>
          </a:p>
        </p:txBody>
      </p:sp>
      <p:sp>
        <p:nvSpPr>
          <p:cNvPr id="182" name="Pill1"/>
          <p:cNvSpPr>
            <a:spLocks noGrp="1"/>
          </p:cNvSpPr>
          <p:nvPr/>
        </p:nvSpPr>
        <p:spPr>
          <a:xfrm>
            <a:off x="3200400" y="5918200"/>
            <a:ext cx="2755900" cy="482600"/>
          </a:xfrm>
          <a:prstGeom prst="roundRect">
            <a:avLst>
              <a:gd name="adj" fmla="val 16667"/>
            </a:avLst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83" name="PillT1"/>
          <p:cNvSpPr>
            <a:spLocks noGrp="1"/>
          </p:cNvSpPr>
          <p:nvPr/>
        </p:nvSpPr>
        <p:spPr>
          <a:xfrm>
            <a:off x="3276600" y="5930900"/>
            <a:ext cx="26035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067" b="1" dirty="0">
                <a:solidFill>
                  <a:srgbClr val="0078D4"/>
                </a:solidFill>
                <a:latin typeface="Calibri" pitchFamily="34" charset="0"/>
              </a:rPr>
              <a:t>⚡ Context Efficiency</a:t>
            </a:r>
          </a:p>
          <a:p>
            <a:pPr>
              <a:spcBef>
                <a:spcPts val="50"/>
              </a:spcBef>
            </a:pPr>
            <a:r>
              <a:rPr lang="en-US" sz="867" dirty="0">
                <a:solidFill>
                  <a:srgbClr val="4A5568"/>
                </a:solidFill>
                <a:latin typeface="Calibri" pitchFamily="34" charset="0"/>
              </a:rPr>
              <a:t>Progressive disclosure keeps token cost low</a:t>
            </a:r>
          </a:p>
        </p:txBody>
      </p:sp>
      <p:sp>
        <p:nvSpPr>
          <p:cNvPr id="184" name="Pill2"/>
          <p:cNvSpPr>
            <a:spLocks noGrp="1"/>
          </p:cNvSpPr>
          <p:nvPr/>
        </p:nvSpPr>
        <p:spPr>
          <a:xfrm>
            <a:off x="6032500" y="5918200"/>
            <a:ext cx="2755900" cy="482600"/>
          </a:xfrm>
          <a:prstGeom prst="roundRect">
            <a:avLst>
              <a:gd name="adj" fmla="val 16667"/>
            </a:avLst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85" name="PillT2"/>
          <p:cNvSpPr>
            <a:spLocks noGrp="1"/>
          </p:cNvSpPr>
          <p:nvPr/>
        </p:nvSpPr>
        <p:spPr>
          <a:xfrm>
            <a:off x="6108700" y="5930900"/>
            <a:ext cx="26035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067" b="1" dirty="0">
                <a:solidFill>
                  <a:srgbClr val="7B2FF7"/>
                </a:solidFill>
                <a:latin typeface="Calibri" pitchFamily="34" charset="0"/>
              </a:rPr>
              <a:t>♻️ Reusability</a:t>
            </a:r>
          </a:p>
          <a:p>
            <a:pPr>
              <a:spcBef>
                <a:spcPts val="50"/>
              </a:spcBef>
            </a:pPr>
            <a:r>
              <a:rPr lang="en-US" sz="867" dirty="0">
                <a:solidFill>
                  <a:srgbClr val="4A5568"/>
                </a:solidFill>
                <a:latin typeface="Calibri" pitchFamily="34" charset="0"/>
              </a:rPr>
              <a:t>One skill, any model: Claude, GPT-4, Gemini</a:t>
            </a:r>
          </a:p>
        </p:txBody>
      </p:sp>
      <p:sp>
        <p:nvSpPr>
          <p:cNvPr id="186" name="Pill3"/>
          <p:cNvSpPr>
            <a:spLocks noGrp="1"/>
          </p:cNvSpPr>
          <p:nvPr/>
        </p:nvSpPr>
        <p:spPr>
          <a:xfrm>
            <a:off x="8864600" y="5918200"/>
            <a:ext cx="2755900" cy="482600"/>
          </a:xfrm>
          <a:prstGeom prst="roundRect">
            <a:avLst>
              <a:gd name="adj" fmla="val 16667"/>
            </a:avLst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87" name="PillT3"/>
          <p:cNvSpPr>
            <a:spLocks noGrp="1"/>
          </p:cNvSpPr>
          <p:nvPr/>
        </p:nvSpPr>
        <p:spPr>
          <a:xfrm>
            <a:off x="8940800" y="5930900"/>
            <a:ext cx="26035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067" b="1" dirty="0">
                <a:solidFill>
                  <a:srgbClr val="2E7D32"/>
                </a:solidFill>
                <a:latin typeface="Calibri" pitchFamily="34" charset="0"/>
              </a:rPr>
              <a:t>📦 Versioning</a:t>
            </a:r>
          </a:p>
          <a:p>
            <a:pPr>
              <a:spcBef>
                <a:spcPts val="50"/>
              </a:spcBef>
            </a:pPr>
            <a:r>
              <a:rPr lang="en-US" sz="867" dirty="0">
                <a:solidFill>
                  <a:srgbClr val="4A5568"/>
                </a:solidFill>
                <a:latin typeface="Calibri" pitchFamily="34" charset="0"/>
              </a:rPr>
              <a:t>Ship as file dirs or NuGet — iterate independently</a:t>
            </a:r>
          </a:p>
        </p:txBody>
      </p:sp>
      <p:sp>
        <p:nvSpPr>
          <p:cNvPr id="190" name="FooterBg"/>
          <p:cNvSpPr>
            <a:spLocks noGrp="1"/>
          </p:cNvSpPr>
          <p:nvPr/>
        </p:nvSpPr>
        <p:spPr>
          <a:xfrm>
            <a:off x="0" y="6388100"/>
            <a:ext cx="12192000" cy="4699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2" name="Text 27">
            <a:extLst>
              <a:ext uri="{FF2B5EF4-FFF2-40B4-BE49-F238E27FC236}">
                <a16:creationId xmlns:a16="http://schemas.microsoft.com/office/drawing/2014/main" id="{A4116B28-01F2-D2C0-0845-0341796C00C6}"/>
              </a:ext>
            </a:extLst>
          </p:cNvPr>
          <p:cNvSpPr/>
          <p:nvPr/>
        </p:nvSpPr>
        <p:spPr>
          <a:xfrm>
            <a:off x="365760" y="642518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</a:rPr>
              <a:t>Microsoft Agent Framework  ·  learn.microsoft.com/en-us/agent-framework</a:t>
            </a:r>
          </a:p>
        </p:txBody>
      </p:sp>
      <p:sp>
        <p:nvSpPr>
          <p:cNvPr id="3" name="WhyDivider">
            <a:extLst>
              <a:ext uri="{FF2B5EF4-FFF2-40B4-BE49-F238E27FC236}">
                <a16:creationId xmlns:a16="http://schemas.microsoft.com/office/drawing/2014/main" id="{56FFB75E-1855-4B7A-9EF3-241B8A3D9789}"/>
              </a:ext>
            </a:extLst>
          </p:cNvPr>
          <p:cNvSpPr/>
          <p:nvPr/>
        </p:nvSpPr>
        <p:spPr>
          <a:xfrm>
            <a:off x="5994400" y="1384300"/>
            <a:ext cx="25400" cy="1066800"/>
          </a:xfrm>
          <a:prstGeom prst="rect">
            <a:avLst/>
          </a:prstGeom>
          <a:solidFill>
            <a:srgbClr val="D0D8E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WhyAgentSkills">
            <a:extLst>
              <a:ext uri="{FF2B5EF4-FFF2-40B4-BE49-F238E27FC236}">
                <a16:creationId xmlns:a16="http://schemas.microsoft.com/office/drawing/2014/main" id="{3FFF722E-3781-406F-A376-AE2FECF9AD43}"/>
              </a:ext>
            </a:extLst>
          </p:cNvPr>
          <p:cNvSpPr txBox="1"/>
          <p:nvPr/>
        </p:nvSpPr>
        <p:spPr>
          <a:xfrm>
            <a:off x="6121400" y="1384300"/>
            <a:ext cx="5270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Why Agent Skills?</a:t>
            </a:r>
          </a:p>
          <a:p>
            <a:pPr marL="114300" indent="-114300">
              <a:spcBef>
                <a:spcPts val="150"/>
              </a:spcBef>
              <a:buFont typeface="Arial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Skill authors: build once, deploy across agent products</a:t>
            </a:r>
          </a:p>
          <a:p>
            <a:pPr marL="114300" indent="-114300">
              <a:spcBef>
                <a:spcPts val="150"/>
              </a:spcBef>
              <a:buFont typeface="Arial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Teams: capture org knowledge in portable, versioned packages</a:t>
            </a:r>
          </a:p>
          <a:p>
            <a:pPr marL="114300" indent="-114300">
              <a:spcBef>
                <a:spcPts val="150"/>
              </a:spcBef>
              <a:buFont typeface="Arial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Agents: extend capabilities on demand, keep context lean</a:t>
            </a:r>
          </a:p>
        </p:txBody>
      </p:sp>
      <p:sp>
        <p:nvSpPr>
          <p:cNvPr id="9" name="WireBg">
            <a:extLst>
              <a:ext uri="{FF2B5EF4-FFF2-40B4-BE49-F238E27FC236}">
                <a16:creationId xmlns:a16="http://schemas.microsoft.com/office/drawing/2014/main" id="{CDA53953-F4BD-EB4B-C2A2-5F1804CAF8B6}"/>
              </a:ext>
            </a:extLst>
          </p:cNvPr>
          <p:cNvSpPr>
            <a:spLocks noGrp="1"/>
          </p:cNvSpPr>
          <p:nvPr/>
        </p:nvSpPr>
        <p:spPr>
          <a:xfrm>
            <a:off x="7668768" y="4270756"/>
            <a:ext cx="3534156" cy="12065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0" name="WireAccent">
            <a:extLst>
              <a:ext uri="{FF2B5EF4-FFF2-40B4-BE49-F238E27FC236}">
                <a16:creationId xmlns:a16="http://schemas.microsoft.com/office/drawing/2014/main" id="{FAF633CF-1095-31B5-5601-2C20A9D04E72}"/>
              </a:ext>
            </a:extLst>
          </p:cNvPr>
          <p:cNvSpPr>
            <a:spLocks noGrp="1"/>
          </p:cNvSpPr>
          <p:nvPr/>
        </p:nvSpPr>
        <p:spPr>
          <a:xfrm>
            <a:off x="7675880" y="4270756"/>
            <a:ext cx="3534156" cy="45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endParaRPr lang="en-US" dirty="0"/>
          </a:p>
        </p:txBody>
      </p:sp>
      <p:sp>
        <p:nvSpPr>
          <p:cNvPr id="11" name="WireTitle">
            <a:extLst>
              <a:ext uri="{FF2B5EF4-FFF2-40B4-BE49-F238E27FC236}">
                <a16:creationId xmlns:a16="http://schemas.microsoft.com/office/drawing/2014/main" id="{E50DDCC4-D089-BBDF-10D5-08CE1481266A}"/>
              </a:ext>
            </a:extLst>
          </p:cNvPr>
          <p:cNvSpPr>
            <a:spLocks noGrp="1"/>
          </p:cNvSpPr>
          <p:nvPr/>
        </p:nvSpPr>
        <p:spPr>
          <a:xfrm>
            <a:off x="7800848" y="4394200"/>
            <a:ext cx="3269996" cy="254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r>
              <a:rPr lang="en-US" sz="1467" b="1" dirty="0">
                <a:solidFill>
                  <a:srgbClr val="0F1F3D"/>
                </a:solidFill>
                <a:latin typeface="Calibri" pitchFamily="34" charset="0"/>
              </a:rPr>
              <a:t>Skill 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E9EF72-96B0-8619-8C25-0D3B62C59FE0}"/>
              </a:ext>
            </a:extLst>
          </p:cNvPr>
          <p:cNvSpPr txBox="1"/>
          <p:nvPr/>
        </p:nvSpPr>
        <p:spPr>
          <a:xfrm>
            <a:off x="7835900" y="4598705"/>
            <a:ext cx="3280664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my-skill/</a:t>
            </a:r>
          </a:p>
          <a:p>
            <a:r>
              <a:rPr lang="en-IN" sz="10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├── SKILL.md          # Required: instructions + metadata</a:t>
            </a:r>
          </a:p>
          <a:p>
            <a:r>
              <a:rPr lang="en-IN" sz="10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├── scripts/          # Optional: executable code</a:t>
            </a:r>
          </a:p>
          <a:p>
            <a:r>
              <a:rPr lang="en-IN" sz="10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├── references/       # Optional: documentation</a:t>
            </a:r>
          </a:p>
          <a:p>
            <a:r>
              <a:rPr lang="en-IN" sz="10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└── assets/           # Optional: templates, resources</a:t>
            </a:r>
          </a:p>
        </p:txBody>
      </p:sp>
    </p:spTree>
    <p:extLst>
      <p:ext uri="{BB962C8B-B14F-4D97-AF65-F5344CB8AC3E}">
        <p14:creationId xmlns:p14="http://schemas.microsoft.com/office/powerpoint/2010/main" val="87459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g"/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AccentBar"/>
          <p:cNvSpPr>
            <a:spLocks noGrp="1"/>
          </p:cNvSpPr>
          <p:nvPr/>
        </p:nvSpPr>
        <p:spPr>
          <a:xfrm>
            <a:off x="0" y="0"/>
            <a:ext cx="266700" cy="1066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itle"/>
          <p:cNvSpPr txBox="1">
            <a:spLocks noGrp="1"/>
          </p:cNvSpPr>
          <p:nvPr/>
        </p:nvSpPr>
        <p:spPr>
          <a:xfrm>
            <a:off x="546100" y="101600"/>
            <a:ext cx="11087100" cy="5588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ctr"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Agent Tools  vs.  Agent Skills</a:t>
            </a:r>
          </a:p>
        </p:txBody>
      </p:sp>
      <p:sp>
        <p:nvSpPr>
          <p:cNvPr id="103" name="Subtitle"/>
          <p:cNvSpPr txBox="1">
            <a:spLocks noGrp="1"/>
          </p:cNvSpPr>
          <p:nvPr/>
        </p:nvSpPr>
        <p:spPr>
          <a:xfrm>
            <a:off x="546100" y="685800"/>
            <a:ext cx="1108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ctr">
            <a:normAutofit lnSpcReduction="10000"/>
          </a:bodyPr>
          <a:lstStyle/>
          <a:p>
            <a:pPr>
              <a:buNone/>
            </a:pPr>
            <a:r>
              <a:rPr lang="en-US" sz="1400" i="1" dirty="0">
                <a:solidFill>
                  <a:srgbClr val="C7E0F4"/>
                </a:solidFill>
                <a:latin typeface="Calibri" pitchFamily="34" charset="0"/>
              </a:rPr>
              <a:t>Two complementary building blocks — understanding when to use each</a:t>
            </a:r>
          </a:p>
        </p:txBody>
      </p:sp>
      <p:sp>
        <p:nvSpPr>
          <p:cNvPr id="120" name="LColHdr"/>
          <p:cNvSpPr>
            <a:spLocks noGrp="1"/>
          </p:cNvSpPr>
          <p:nvPr/>
        </p:nvSpPr>
        <p:spPr>
          <a:xfrm>
            <a:off x="346996" y="1778000"/>
            <a:ext cx="5537200" cy="279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LColHdrTxt"/>
          <p:cNvSpPr txBox="1">
            <a:spLocks noGrp="1"/>
          </p:cNvSpPr>
          <p:nvPr/>
        </p:nvSpPr>
        <p:spPr>
          <a:xfrm>
            <a:off x="-1574230" y="1798320"/>
            <a:ext cx="553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⚙  AGENT TOOLS — the verbs</a:t>
            </a:r>
          </a:p>
        </p:txBody>
      </p:sp>
      <p:sp>
        <p:nvSpPr>
          <p:cNvPr id="122" name="RColHdr"/>
          <p:cNvSpPr>
            <a:spLocks noGrp="1"/>
          </p:cNvSpPr>
          <p:nvPr/>
        </p:nvSpPr>
        <p:spPr>
          <a:xfrm>
            <a:off x="6286500" y="1778000"/>
            <a:ext cx="5537200" cy="279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RColHdrTxt"/>
          <p:cNvSpPr txBox="1">
            <a:spLocks noGrp="1"/>
          </p:cNvSpPr>
          <p:nvPr/>
        </p:nvSpPr>
        <p:spPr>
          <a:xfrm>
            <a:off x="4503420" y="1788160"/>
            <a:ext cx="553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📋  AGENT SKILLS — the expertise</a:t>
            </a:r>
          </a:p>
        </p:txBody>
      </p:sp>
      <p:sp>
        <p:nvSpPr>
          <p:cNvPr id="200" name="LBg0"/>
          <p:cNvSpPr>
            <a:spLocks noGrp="1"/>
          </p:cNvSpPr>
          <p:nvPr/>
        </p:nvSpPr>
        <p:spPr>
          <a:xfrm>
            <a:off x="342900" y="2070100"/>
            <a:ext cx="5537200" cy="939800"/>
          </a:xfrm>
          <a:prstGeom prst="rect">
            <a:avLst/>
          </a:prstGeom>
          <a:solidFill>
            <a:srgbClr val="EBF3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LAcc0"/>
          <p:cNvSpPr>
            <a:spLocks noGrp="1"/>
          </p:cNvSpPr>
          <p:nvPr/>
        </p:nvSpPr>
        <p:spPr>
          <a:xfrm>
            <a:off x="342900" y="2070100"/>
            <a:ext cx="553720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LTx0"/>
          <p:cNvSpPr txBox="1">
            <a:spLocks noGrp="1"/>
          </p:cNvSpPr>
          <p:nvPr/>
        </p:nvSpPr>
        <p:spPr>
          <a:xfrm>
            <a:off x="431800" y="2146300"/>
            <a:ext cx="5359400" cy="7874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t">
            <a:norm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What it is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A discrete capability the agent can directly invoke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One atomic action: API call, file read, search, or calculation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Stateless — no memory or logic about when to use itself</a:t>
            </a:r>
          </a:p>
        </p:txBody>
      </p:sp>
      <p:sp>
        <p:nvSpPr>
          <p:cNvPr id="203" name="RBg0"/>
          <p:cNvSpPr>
            <a:spLocks noGrp="1"/>
          </p:cNvSpPr>
          <p:nvPr/>
        </p:nvSpPr>
        <p:spPr>
          <a:xfrm>
            <a:off x="6311900" y="2070100"/>
            <a:ext cx="5537200" cy="939800"/>
          </a:xfrm>
          <a:prstGeom prst="rect">
            <a:avLst/>
          </a:prstGeom>
          <a:solidFill>
            <a:srgbClr val="EBF7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RAcc0"/>
          <p:cNvSpPr>
            <a:spLocks noGrp="1"/>
          </p:cNvSpPr>
          <p:nvPr/>
        </p:nvSpPr>
        <p:spPr>
          <a:xfrm>
            <a:off x="6292236" y="2070100"/>
            <a:ext cx="5537200" cy="50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RTx0"/>
          <p:cNvSpPr txBox="1">
            <a:spLocks noGrp="1"/>
          </p:cNvSpPr>
          <p:nvPr/>
        </p:nvSpPr>
        <p:spPr>
          <a:xfrm>
            <a:off x="6400800" y="2146300"/>
            <a:ext cx="5359400" cy="7874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t">
            <a:norm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What it is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A SKILL.md playbook the agent reads before tackling a task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Encodes expert best-practices: which tools to call and in what order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Not invoked like a tool — consulted like a guide</a:t>
            </a:r>
          </a:p>
        </p:txBody>
      </p:sp>
      <p:sp>
        <p:nvSpPr>
          <p:cNvPr id="206" name="LBg1"/>
          <p:cNvSpPr>
            <a:spLocks noGrp="1"/>
          </p:cNvSpPr>
          <p:nvPr/>
        </p:nvSpPr>
        <p:spPr>
          <a:xfrm>
            <a:off x="342900" y="3048000"/>
            <a:ext cx="5537200" cy="762000"/>
          </a:xfrm>
          <a:prstGeom prst="rect">
            <a:avLst/>
          </a:prstGeom>
          <a:solidFill>
            <a:srgbClr val="EBF3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LAcc1"/>
          <p:cNvSpPr>
            <a:spLocks noGrp="1"/>
          </p:cNvSpPr>
          <p:nvPr/>
        </p:nvSpPr>
        <p:spPr>
          <a:xfrm>
            <a:off x="342900" y="3048000"/>
            <a:ext cx="553720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LTx1"/>
          <p:cNvSpPr txBox="1">
            <a:spLocks noGrp="1"/>
          </p:cNvSpPr>
          <p:nvPr/>
        </p:nvSpPr>
        <p:spPr>
          <a:xfrm>
            <a:off x="431800" y="3124200"/>
            <a:ext cx="5359400" cy="6096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t">
            <a:norm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How it runs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Agent picks a tool, sends parameters, and gets a result back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Direct invocation — one call, one result, done</a:t>
            </a:r>
          </a:p>
        </p:txBody>
      </p:sp>
      <p:sp>
        <p:nvSpPr>
          <p:cNvPr id="209" name="RBg1"/>
          <p:cNvSpPr>
            <a:spLocks noGrp="1"/>
          </p:cNvSpPr>
          <p:nvPr/>
        </p:nvSpPr>
        <p:spPr>
          <a:xfrm>
            <a:off x="6311900" y="3048000"/>
            <a:ext cx="5537200" cy="762000"/>
          </a:xfrm>
          <a:prstGeom prst="rect">
            <a:avLst/>
          </a:prstGeom>
          <a:solidFill>
            <a:srgbClr val="EBF7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RAcc1"/>
          <p:cNvSpPr>
            <a:spLocks noGrp="1"/>
          </p:cNvSpPr>
          <p:nvPr/>
        </p:nvSpPr>
        <p:spPr>
          <a:xfrm>
            <a:off x="6311900" y="3048000"/>
            <a:ext cx="5537200" cy="50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RTx1"/>
          <p:cNvSpPr txBox="1">
            <a:spLocks noGrp="1"/>
          </p:cNvSpPr>
          <p:nvPr/>
        </p:nvSpPr>
        <p:spPr>
          <a:xfrm>
            <a:off x="6400800" y="3124200"/>
            <a:ext cx="5359400" cy="6096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t">
            <a:norm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How it runs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Agent reads the SKILL.md first, then chains tools following that guide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May sequence: bash_tool → create_file → execute → present_files</a:t>
            </a:r>
          </a:p>
        </p:txBody>
      </p:sp>
      <p:sp>
        <p:nvSpPr>
          <p:cNvPr id="212" name="LBg2"/>
          <p:cNvSpPr>
            <a:spLocks noGrp="1"/>
          </p:cNvSpPr>
          <p:nvPr/>
        </p:nvSpPr>
        <p:spPr>
          <a:xfrm>
            <a:off x="342900" y="3848100"/>
            <a:ext cx="5537200" cy="723900"/>
          </a:xfrm>
          <a:prstGeom prst="rect">
            <a:avLst/>
          </a:prstGeom>
          <a:solidFill>
            <a:srgbClr val="EBF3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LAcc2"/>
          <p:cNvSpPr>
            <a:spLocks noGrp="1"/>
          </p:cNvSpPr>
          <p:nvPr/>
        </p:nvSpPr>
        <p:spPr>
          <a:xfrm>
            <a:off x="342900" y="3848100"/>
            <a:ext cx="553720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LTx2"/>
          <p:cNvSpPr txBox="1">
            <a:spLocks noGrp="1"/>
          </p:cNvSpPr>
          <p:nvPr/>
        </p:nvSpPr>
        <p:spPr>
          <a:xfrm>
            <a:off x="431800" y="3924300"/>
            <a:ext cx="5359400" cy="5715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t">
            <a:normAutofit lnSpcReduction="10000"/>
          </a:bodyPr>
          <a:lstStyle/>
          <a:p>
            <a:pPr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Scope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Atomic — one action, one result. No internal memory or logic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Like a library function — does exactly one thing</a:t>
            </a:r>
          </a:p>
        </p:txBody>
      </p:sp>
      <p:sp>
        <p:nvSpPr>
          <p:cNvPr id="215" name="RBg2"/>
          <p:cNvSpPr>
            <a:spLocks noGrp="1"/>
          </p:cNvSpPr>
          <p:nvPr/>
        </p:nvSpPr>
        <p:spPr>
          <a:xfrm>
            <a:off x="6311900" y="3848100"/>
            <a:ext cx="5537200" cy="723900"/>
          </a:xfrm>
          <a:prstGeom prst="rect">
            <a:avLst/>
          </a:prstGeom>
          <a:solidFill>
            <a:srgbClr val="EBF7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6" name="RAcc2"/>
          <p:cNvSpPr>
            <a:spLocks noGrp="1"/>
          </p:cNvSpPr>
          <p:nvPr/>
        </p:nvSpPr>
        <p:spPr>
          <a:xfrm>
            <a:off x="6311900" y="3848100"/>
            <a:ext cx="5537200" cy="50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RTx2"/>
          <p:cNvSpPr txBox="1">
            <a:spLocks noGrp="1"/>
          </p:cNvSpPr>
          <p:nvPr/>
        </p:nvSpPr>
        <p:spPr>
          <a:xfrm>
            <a:off x="6400800" y="3924300"/>
            <a:ext cx="5359400" cy="5715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t">
            <a:normAutofit lnSpcReduction="10000"/>
          </a:bodyPr>
          <a:lstStyle/>
          <a:p>
            <a:pPr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Scope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Composite — orchestrates multiple tools with embedded expert logic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Like design patterns that show how to combine the functions</a:t>
            </a:r>
          </a:p>
        </p:txBody>
      </p:sp>
      <p:sp>
        <p:nvSpPr>
          <p:cNvPr id="218" name="LBg3"/>
          <p:cNvSpPr>
            <a:spLocks noGrp="1"/>
          </p:cNvSpPr>
          <p:nvPr/>
        </p:nvSpPr>
        <p:spPr>
          <a:xfrm>
            <a:off x="342900" y="4610100"/>
            <a:ext cx="5537200" cy="723900"/>
          </a:xfrm>
          <a:prstGeom prst="rect">
            <a:avLst/>
          </a:prstGeom>
          <a:solidFill>
            <a:srgbClr val="EBF3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9" name="LAcc3"/>
          <p:cNvSpPr>
            <a:spLocks noGrp="1"/>
          </p:cNvSpPr>
          <p:nvPr/>
        </p:nvSpPr>
        <p:spPr>
          <a:xfrm>
            <a:off x="342900" y="4610100"/>
            <a:ext cx="553720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LTx3"/>
          <p:cNvSpPr txBox="1">
            <a:spLocks noGrp="1"/>
          </p:cNvSpPr>
          <p:nvPr/>
        </p:nvSpPr>
        <p:spPr>
          <a:xfrm>
            <a:off x="431800" y="4686300"/>
            <a:ext cx="5359400" cy="5715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t">
            <a:normAutofit lnSpcReduction="10000"/>
          </a:bodyPr>
          <a:lstStyle/>
          <a:p>
            <a:pPr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Examples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web_search · run_code · send_email · read_file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bash_tool · create_file · call_api · present_files</a:t>
            </a:r>
          </a:p>
        </p:txBody>
      </p:sp>
      <p:sp>
        <p:nvSpPr>
          <p:cNvPr id="221" name="RBg3"/>
          <p:cNvSpPr>
            <a:spLocks noGrp="1"/>
          </p:cNvSpPr>
          <p:nvPr/>
        </p:nvSpPr>
        <p:spPr>
          <a:xfrm>
            <a:off x="6311900" y="4610100"/>
            <a:ext cx="5537200" cy="723900"/>
          </a:xfrm>
          <a:prstGeom prst="rect">
            <a:avLst/>
          </a:prstGeom>
          <a:solidFill>
            <a:srgbClr val="EBF7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RAcc3"/>
          <p:cNvSpPr>
            <a:spLocks noGrp="1"/>
          </p:cNvSpPr>
          <p:nvPr/>
        </p:nvSpPr>
        <p:spPr>
          <a:xfrm>
            <a:off x="6311900" y="4610100"/>
            <a:ext cx="5537200" cy="50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3" name="RTx3"/>
          <p:cNvSpPr txBox="1">
            <a:spLocks noGrp="1"/>
          </p:cNvSpPr>
          <p:nvPr/>
        </p:nvSpPr>
        <p:spPr>
          <a:xfrm>
            <a:off x="6400800" y="4686300"/>
            <a:ext cx="5359400" cy="5715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t">
            <a:normAutofit lnSpcReduction="10000"/>
          </a:bodyPr>
          <a:lstStyle/>
          <a:p>
            <a:pPr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Examples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docx skill · pptx skill · pdf skill · xlsx skill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frontend-design skill · competitive-analysis skill</a:t>
            </a:r>
          </a:p>
        </p:txBody>
      </p:sp>
      <p:sp>
        <p:nvSpPr>
          <p:cNvPr id="224" name="LBg4"/>
          <p:cNvSpPr>
            <a:spLocks noGrp="1"/>
          </p:cNvSpPr>
          <p:nvPr/>
        </p:nvSpPr>
        <p:spPr>
          <a:xfrm>
            <a:off x="342900" y="5372100"/>
            <a:ext cx="5537200" cy="787400"/>
          </a:xfrm>
          <a:prstGeom prst="rect">
            <a:avLst/>
          </a:prstGeom>
          <a:solidFill>
            <a:srgbClr val="EBF3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5" name="LAcc4"/>
          <p:cNvSpPr>
            <a:spLocks noGrp="1"/>
          </p:cNvSpPr>
          <p:nvPr/>
        </p:nvSpPr>
        <p:spPr>
          <a:xfrm>
            <a:off x="342900" y="5372100"/>
            <a:ext cx="553720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6" name="LTx4"/>
          <p:cNvSpPr txBox="1">
            <a:spLocks noGrp="1"/>
          </p:cNvSpPr>
          <p:nvPr/>
        </p:nvSpPr>
        <p:spPr>
          <a:xfrm>
            <a:off x="431800" y="5448300"/>
            <a:ext cx="5359400" cy="6350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t">
            <a:norm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When to use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You need one concrete action: search, write, delete, send, read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Output is data or a side-effect — not guidance</a:t>
            </a:r>
          </a:p>
        </p:txBody>
      </p:sp>
      <p:sp>
        <p:nvSpPr>
          <p:cNvPr id="227" name="RBg4"/>
          <p:cNvSpPr>
            <a:spLocks noGrp="1"/>
          </p:cNvSpPr>
          <p:nvPr/>
        </p:nvSpPr>
        <p:spPr>
          <a:xfrm>
            <a:off x="6311900" y="5372100"/>
            <a:ext cx="5537200" cy="787400"/>
          </a:xfrm>
          <a:prstGeom prst="rect">
            <a:avLst/>
          </a:prstGeom>
          <a:solidFill>
            <a:srgbClr val="EBF7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8" name="RAcc4"/>
          <p:cNvSpPr>
            <a:spLocks noGrp="1"/>
          </p:cNvSpPr>
          <p:nvPr/>
        </p:nvSpPr>
        <p:spPr>
          <a:xfrm>
            <a:off x="6311900" y="5372100"/>
            <a:ext cx="5537200" cy="50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9" name="RTx4"/>
          <p:cNvSpPr txBox="1">
            <a:spLocks noGrp="1"/>
          </p:cNvSpPr>
          <p:nvPr/>
        </p:nvSpPr>
        <p:spPr>
          <a:xfrm>
            <a:off x="6400800" y="5448300"/>
            <a:ext cx="5359400" cy="635000"/>
          </a:xfrm>
          <a:prstGeom prst="rect">
            <a:avLst/>
          </a:prstGeom>
          <a:noFill/>
          <a:ln>
            <a:noFill/>
          </a:ln>
        </p:spPr>
        <p:txBody>
          <a:bodyPr wrap="square" lIns="88900" tIns="50800" rIns="88900" bIns="50800" anchor="t">
            <a:norm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When to use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You need quality output for a known task category</a:t>
            </a:r>
          </a:p>
          <a:p>
            <a:pPr marL="152400" indent="-152400">
              <a:spcBef>
                <a:spcPts val="100"/>
              </a:spcBef>
              <a:buFont typeface="Arial"/>
              <a:buChar char="•"/>
            </a:pPr>
            <a:r>
              <a:rPr lang="en-US" sz="967" dirty="0">
                <a:solidFill>
                  <a:srgbClr val="4A5568"/>
                </a:solidFill>
                <a:latin typeface="Calibri" pitchFamily="34" charset="0"/>
              </a:rPr>
              <a:t>The skill encodes hard-won best-practices so you don't reinvent</a:t>
            </a:r>
          </a:p>
        </p:txBody>
      </p:sp>
      <p:sp>
        <p:nvSpPr>
          <p:cNvPr id="900" name="FooterBg"/>
          <p:cNvSpPr>
            <a:spLocks noGrp="1"/>
          </p:cNvSpPr>
          <p:nvPr/>
        </p:nvSpPr>
        <p:spPr>
          <a:xfrm>
            <a:off x="0" y="6388100"/>
            <a:ext cx="12192000" cy="4699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RelBg"/>
          <p:cNvSpPr>
            <a:spLocks noGrp="1"/>
          </p:cNvSpPr>
          <p:nvPr/>
        </p:nvSpPr>
        <p:spPr>
          <a:xfrm>
            <a:off x="317500" y="1114425"/>
            <a:ext cx="11518900" cy="584200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RelBar"/>
          <p:cNvSpPr>
            <a:spLocks noGrp="1"/>
          </p:cNvSpPr>
          <p:nvPr/>
        </p:nvSpPr>
        <p:spPr>
          <a:xfrm>
            <a:off x="330200" y="1120775"/>
            <a:ext cx="88900" cy="584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RelTxt"/>
          <p:cNvSpPr txBox="1">
            <a:spLocks noGrp="1"/>
          </p:cNvSpPr>
          <p:nvPr/>
        </p:nvSpPr>
        <p:spPr>
          <a:xfrm>
            <a:off x="361950" y="1139825"/>
            <a:ext cx="11087100" cy="5588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38100" rIns="101600" bIns="38100" anchor="ctr">
            <a:normAutofit/>
          </a:bodyPr>
          <a:lstStyle/>
          <a:p>
            <a:pPr>
              <a:buNone/>
            </a:pPr>
            <a:r>
              <a:rPr lang="en-US" sz="1067" b="1" dirty="0">
                <a:solidFill>
                  <a:srgbClr val="0078D4"/>
                </a:solidFill>
                <a:latin typeface="Calibri" pitchFamily="34" charset="0"/>
              </a:rPr>
              <a:t>The relationship: </a:t>
            </a: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Skills orchestrate Tools — a skill tells the agent which tools to invoke, in what order, and how to handle pitfalls. Skills provide strategy; Tools provide execution.</a:t>
            </a:r>
          </a:p>
        </p:txBody>
      </p:sp>
      <p:sp>
        <p:nvSpPr>
          <p:cNvPr id="310" name="VsBadgeBg"/>
          <p:cNvSpPr>
            <a:spLocks noGrp="1"/>
          </p:cNvSpPr>
          <p:nvPr/>
        </p:nvSpPr>
        <p:spPr>
          <a:xfrm>
            <a:off x="5905500" y="3924300"/>
            <a:ext cx="381000" cy="381000"/>
          </a:xfrm>
          <a:prstGeom prst="ellipse">
            <a:avLst/>
          </a:prstGeom>
          <a:solidFill>
            <a:srgbClr val="2D37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VsBadgeTxt"/>
          <p:cNvSpPr txBox="1">
            <a:spLocks noGrp="1"/>
          </p:cNvSpPr>
          <p:nvPr/>
        </p:nvSpPr>
        <p:spPr>
          <a:xfrm>
            <a:off x="5905500" y="39243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38100" rIns="101600" bIns="38100" anchor="ctr">
            <a:norm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vs</a:t>
            </a:r>
          </a:p>
        </p:txBody>
      </p:sp>
      <p:sp>
        <p:nvSpPr>
          <p:cNvPr id="2" name="Text 27">
            <a:extLst>
              <a:ext uri="{FF2B5EF4-FFF2-40B4-BE49-F238E27FC236}">
                <a16:creationId xmlns:a16="http://schemas.microsoft.com/office/drawing/2014/main" id="{8B1079DF-1437-CA09-F414-610370332EF3}"/>
              </a:ext>
            </a:extLst>
          </p:cNvPr>
          <p:cNvSpPr/>
          <p:nvPr/>
        </p:nvSpPr>
        <p:spPr>
          <a:xfrm>
            <a:off x="365760" y="642518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</a:rPr>
              <a:t>Microsoft Agent Framework  ·  learn.microsoft.com/en-us/agent-framework</a:t>
            </a:r>
          </a:p>
        </p:txBody>
      </p:sp>
    </p:spTree>
    <p:extLst>
      <p:ext uri="{BB962C8B-B14F-4D97-AF65-F5344CB8AC3E}">
        <p14:creationId xmlns:p14="http://schemas.microsoft.com/office/powerpoint/2010/main" val="612284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268224" cy="12192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itle"/>
          <p:cNvSpPr/>
          <p:nvPr/>
        </p:nvSpPr>
        <p:spPr>
          <a:xfrm>
            <a:off x="548640" y="134112"/>
            <a:ext cx="110947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67" b="1" dirty="0">
                <a:solidFill>
                  <a:srgbClr val="FFFFFF"/>
                </a:solidFill>
                <a:latin typeface="Calibri" pitchFamily="34" charset="0"/>
              </a:rPr>
              <a:t>What is Retrieval-Augmented Generation?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804672"/>
            <a:ext cx="1109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dirty="0">
                <a:solidFill>
                  <a:srgbClr val="C7E0F4"/>
                </a:solidFill>
                <a:latin typeface="Calibri" pitchFamily="34" charset="0"/>
              </a:rPr>
              <a:t>Combining LLMs with real-time retrieval to deliver accurate, grounded, up-to-date responses</a:t>
            </a:r>
          </a:p>
        </p:txBody>
      </p:sp>
      <p:sp>
        <p:nvSpPr>
          <p:cNvPr id="6" name="IntroBand"/>
          <p:cNvSpPr/>
          <p:nvPr/>
        </p:nvSpPr>
        <p:spPr>
          <a:xfrm>
            <a:off x="341376" y="1219200"/>
            <a:ext cx="11509248" cy="390144"/>
          </a:xfrm>
          <a:prstGeom prst="rect">
            <a:avLst/>
          </a:prstGeom>
          <a:solidFill>
            <a:srgbClr val="E8F1FB"/>
          </a:solidFill>
          <a:ln/>
        </p:spPr>
        <p:txBody>
          <a:bodyPr wrap="square" lIns="91440" tIns="45720" rIns="91440" bIns="45720" rtlCol="0" anchor="ctr"/>
          <a:lstStyle/>
          <a:p>
            <a:pPr defTabSz="1219170"/>
            <a:r>
              <a:rPr lang="en-US" sz="1267" dirty="0">
                <a:solidFill>
                  <a:srgbClr val="0F1F3D"/>
                </a:solidFill>
                <a:latin typeface="Calibri" pitchFamily="34" charset="0"/>
              </a:rPr>
              <a:t>A RAG agent performs three core steps: retrieving supporting data, augmenting the prompt with that context, and generating a grounded response. It excels at proprietary, frequently-changing, or domain-specific knowledge.</a:t>
            </a:r>
          </a:p>
        </p:txBody>
      </p:sp>
      <p:sp>
        <p:nvSpPr>
          <p:cNvPr id="10" name="Card1Bg"/>
          <p:cNvSpPr/>
          <p:nvPr/>
        </p:nvSpPr>
        <p:spPr>
          <a:xfrm>
            <a:off x="341376" y="1706880"/>
            <a:ext cx="3706560" cy="4315584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Card1TopBar"/>
          <p:cNvSpPr/>
          <p:nvPr/>
        </p:nvSpPr>
        <p:spPr>
          <a:xfrm>
            <a:off x="341376" y="1706880"/>
            <a:ext cx="3706560" cy="8534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Card1Circle"/>
          <p:cNvSpPr/>
          <p:nvPr/>
        </p:nvSpPr>
        <p:spPr>
          <a:xfrm>
            <a:off x="560832" y="1938528"/>
            <a:ext cx="780288" cy="780288"/>
          </a:xfrm>
          <a:prstGeom prst="ellipse">
            <a:avLst/>
          </a:prstGeom>
          <a:solidFill>
            <a:srgbClr val="0078D4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3" name="Card1Title"/>
          <p:cNvSpPr/>
          <p:nvPr/>
        </p:nvSpPr>
        <p:spPr>
          <a:xfrm>
            <a:off x="1463040" y="1999488"/>
            <a:ext cx="22677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1F3D"/>
                </a:solidFill>
                <a:latin typeface="Calibri" pitchFamily="34" charset="0"/>
              </a:rPr>
              <a:t>Retrieve</a:t>
            </a:r>
          </a:p>
        </p:txBody>
      </p:sp>
      <p:sp>
        <p:nvSpPr>
          <p:cNvPr id="14" name="Card1Body"/>
          <p:cNvSpPr/>
          <p:nvPr/>
        </p:nvSpPr>
        <p:spPr>
          <a:xfrm>
            <a:off x="512064" y="2840640"/>
            <a:ext cx="3365184" cy="305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Supporting Data</a:t>
            </a:r>
          </a:p>
          <a:p>
            <a:pPr defTabSz="1219170"/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User request queries an external knowledge base (vector store, keyword search, or SQL DB) to retrieve context for the LLM response.</a:t>
            </a:r>
          </a:p>
          <a:p>
            <a:endParaRPr lang="en-US" sz="1200"/>
          </a:p>
          <a:p>
            <a:pPr defTabSz="1219170"/>
            <a:r>
              <a:rPr lang="en-US" sz="1200" b="1" dirty="0">
                <a:solidFill>
                  <a:srgbClr val="0078D4"/>
                </a:solidFill>
                <a:latin typeface="Calibri" pitchFamily="34" charset="0"/>
              </a:rPr>
              <a:t>Sources</a:t>
            </a:r>
          </a:p>
          <a:p>
            <a:pPr defTabSz="1219170"/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PDFs, wikis, tickets, logs, code, tables, APIs, SQL databases</a:t>
            </a:r>
          </a:p>
        </p:txBody>
      </p:sp>
      <p:sp>
        <p:nvSpPr>
          <p:cNvPr id="20" name="Card2Bg"/>
          <p:cNvSpPr/>
          <p:nvPr/>
        </p:nvSpPr>
        <p:spPr>
          <a:xfrm>
            <a:off x="4243200" y="1706880"/>
            <a:ext cx="3706560" cy="4315584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Card2TopBar"/>
          <p:cNvSpPr/>
          <p:nvPr/>
        </p:nvSpPr>
        <p:spPr>
          <a:xfrm>
            <a:off x="4243200" y="1706880"/>
            <a:ext cx="3706560" cy="8534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Card2Circle"/>
          <p:cNvSpPr/>
          <p:nvPr/>
        </p:nvSpPr>
        <p:spPr>
          <a:xfrm>
            <a:off x="4462656" y="1938528"/>
            <a:ext cx="780288" cy="780288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3" name="Card2Title"/>
          <p:cNvSpPr/>
          <p:nvPr/>
        </p:nvSpPr>
        <p:spPr>
          <a:xfrm>
            <a:off x="5364864" y="1999488"/>
            <a:ext cx="22677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1F3D"/>
                </a:solidFill>
                <a:latin typeface="Calibri" pitchFamily="34" charset="0"/>
              </a:rPr>
              <a:t>Augment</a:t>
            </a:r>
          </a:p>
        </p:txBody>
      </p:sp>
      <p:sp>
        <p:nvSpPr>
          <p:cNvPr id="24" name="Card2Body"/>
          <p:cNvSpPr/>
          <p:nvPr/>
        </p:nvSpPr>
        <p:spPr>
          <a:xfrm>
            <a:off x="4413888" y="2840640"/>
            <a:ext cx="3365184" cy="305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b="1" dirty="0">
                <a:solidFill>
                  <a:srgbClr val="00B4D8"/>
                </a:solidFill>
                <a:latin typeface="Calibri" pitchFamily="34" charset="0"/>
              </a:rPr>
              <a:t>Enriched Prompt</a:t>
            </a:r>
          </a:p>
          <a:p>
            <a:pPr defTabSz="1219170"/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Retrieved data is combined with the original user request via a template to create a knowledge-enhanced prompt for the LLM.</a:t>
            </a:r>
          </a:p>
          <a:p>
            <a:endParaRPr lang="en-US" sz="1200"/>
          </a:p>
          <a:p>
            <a:pPr defTabSz="1219170"/>
            <a:r>
              <a:rPr lang="en-US" sz="1200" b="1" dirty="0">
                <a:solidFill>
                  <a:srgbClr val="00B4D8"/>
                </a:solidFill>
                <a:latin typeface="Calibri" pitchFamily="34" charset="0"/>
              </a:rPr>
              <a:t>Format</a:t>
            </a:r>
          </a:p>
          <a:p>
            <a:pPr defTabSz="1219170"/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Prompt template + supporting chunks + metadata + formatting instructions</a:t>
            </a:r>
          </a:p>
        </p:txBody>
      </p:sp>
      <p:sp>
        <p:nvSpPr>
          <p:cNvPr id="30" name="Card3Bg"/>
          <p:cNvSpPr/>
          <p:nvPr/>
        </p:nvSpPr>
        <p:spPr>
          <a:xfrm>
            <a:off x="8145024" y="1706880"/>
            <a:ext cx="3706560" cy="4315584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Card3TopBar"/>
          <p:cNvSpPr/>
          <p:nvPr/>
        </p:nvSpPr>
        <p:spPr>
          <a:xfrm>
            <a:off x="8145024" y="1706880"/>
            <a:ext cx="3706560" cy="85344"/>
          </a:xfrm>
          <a:prstGeom prst="rect">
            <a:avLst/>
          </a:prstGeom>
          <a:solidFill>
            <a:srgbClr val="00CC6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Card3Circle"/>
          <p:cNvSpPr/>
          <p:nvPr/>
        </p:nvSpPr>
        <p:spPr>
          <a:xfrm>
            <a:off x="8364480" y="1938528"/>
            <a:ext cx="780288" cy="780288"/>
          </a:xfrm>
          <a:prstGeom prst="ellipse">
            <a:avLst/>
          </a:prstGeom>
          <a:solidFill>
            <a:srgbClr val="00CC6A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3" name="Card3Title"/>
          <p:cNvSpPr/>
          <p:nvPr/>
        </p:nvSpPr>
        <p:spPr>
          <a:xfrm>
            <a:off x="9266688" y="1999488"/>
            <a:ext cx="22677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1F3D"/>
                </a:solidFill>
                <a:latin typeface="Calibri" pitchFamily="34" charset="0"/>
              </a:rPr>
              <a:t>Generate</a:t>
            </a:r>
          </a:p>
        </p:txBody>
      </p:sp>
      <p:sp>
        <p:nvSpPr>
          <p:cNvPr id="34" name="Card3Body"/>
          <p:cNvSpPr/>
          <p:nvPr/>
        </p:nvSpPr>
        <p:spPr>
          <a:xfrm>
            <a:off x="8315712" y="2840640"/>
            <a:ext cx="3365184" cy="305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b="1" dirty="0">
                <a:solidFill>
                  <a:srgbClr val="00CC6A"/>
                </a:solidFill>
                <a:latin typeface="Calibri" pitchFamily="34" charset="0"/>
              </a:rPr>
              <a:t>Grounded Response</a:t>
            </a:r>
          </a:p>
          <a:p>
            <a:pPr defTabSz="1219170"/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The augmented prompt is passed to the LLM, which uses retrieved context to generate an accurate, cited, verifiable answer to the user request.</a:t>
            </a:r>
          </a:p>
          <a:p>
            <a:endParaRPr lang="en-US" sz="1200"/>
          </a:p>
          <a:p>
            <a:pPr defTabSz="1219170"/>
            <a:r>
              <a:rPr lang="en-US" sz="1200" b="1" dirty="0">
                <a:solidFill>
                  <a:srgbClr val="00CC6A"/>
                </a:solidFill>
                <a:latin typeface="Calibri" pitchFamily="34" charset="0"/>
              </a:rPr>
              <a:t>Grounding</a:t>
            </a:r>
          </a:p>
          <a:p>
            <a:pPr defTabSz="1219170"/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Reduces hallucinations; cite sources, flag uncertainty via system prompt</a:t>
            </a:r>
          </a:p>
        </p:txBody>
      </p:sp>
      <p:sp>
        <p:nvSpPr>
          <p:cNvPr id="50" name="FooterBar"/>
          <p:cNvSpPr/>
          <p:nvPr/>
        </p:nvSpPr>
        <p:spPr>
          <a:xfrm>
            <a:off x="0" y="6388608"/>
            <a:ext cx="12192000" cy="46939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1" name="FooterText"/>
          <p:cNvSpPr/>
          <p:nvPr/>
        </p:nvSpPr>
        <p:spPr>
          <a:xfrm>
            <a:off x="365760" y="642518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</a:rPr>
              <a:t>Microsoft Agent Framework  ·  learn.microsoft.com/en-us/agent-framework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268224" cy="12192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itle"/>
          <p:cNvSpPr/>
          <p:nvPr/>
        </p:nvSpPr>
        <p:spPr>
          <a:xfrm>
            <a:off x="548640" y="134112"/>
            <a:ext cx="110947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67" b="1" dirty="0">
                <a:solidFill>
                  <a:srgbClr val="FFFFFF"/>
                </a:solidFill>
                <a:latin typeface="Calibri" pitchFamily="34" charset="0"/>
              </a:rPr>
              <a:t>What RAG Is (and Isn’t)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804672"/>
            <a:ext cx="1109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dirty="0">
                <a:solidFill>
                  <a:srgbClr val="C7E0F4"/>
                </a:solidFill>
                <a:latin typeface="Calibri" pitchFamily="34" charset="0"/>
              </a:rPr>
              <a:t>RAG is a focused tool, not a complete AI system — understanding the boundaries helps you use it right</a:t>
            </a:r>
          </a:p>
        </p:txBody>
      </p:sp>
      <p:sp>
        <p:nvSpPr>
          <p:cNvPr id="10" name="LeftPanelBg"/>
          <p:cNvSpPr/>
          <p:nvPr/>
        </p:nvSpPr>
        <p:spPr>
          <a:xfrm>
            <a:off x="341376" y="1280160"/>
            <a:ext cx="5571072" cy="5200704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LeftTopBar"/>
          <p:cNvSpPr/>
          <p:nvPr/>
        </p:nvSpPr>
        <p:spPr>
          <a:xfrm>
            <a:off x="341376" y="1280160"/>
            <a:ext cx="5571072" cy="85344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LeftHeading"/>
          <p:cNvSpPr/>
          <p:nvPr/>
        </p:nvSpPr>
        <p:spPr>
          <a:xfrm>
            <a:off x="512064" y="1414368"/>
            <a:ext cx="5230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1F3D"/>
                </a:solidFill>
                <a:latin typeface="Calibri" pitchFamily="34" charset="0"/>
              </a:rPr>
              <a:t>RAG Is NOT</a:t>
            </a:r>
          </a:p>
        </p:txBody>
      </p:sp>
      <p:sp>
        <p:nvSpPr>
          <p:cNvPr id="13" name="LeftItems"/>
          <p:cNvSpPr/>
          <p:nvPr/>
        </p:nvSpPr>
        <p:spPr>
          <a:xfrm>
            <a:off x="512064" y="1901664"/>
            <a:ext cx="5230080" cy="438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b="1" dirty="0">
                <a:solidFill>
                  <a:srgbClr val="FF4444"/>
                </a:solidFill>
                <a:latin typeface="Calibri" pitchFamily="34" charset="0"/>
              </a:rPr>
              <a:t>✘  Model Training</a:t>
            </a:r>
          </a:p>
          <a:p>
            <a:pPr defTabSz="1219170"/>
            <a:r>
              <a:rPr lang="en-US" sz="1267" dirty="0">
                <a:solidFill>
                  <a:srgbClr val="4A5568"/>
                </a:solidFill>
                <a:latin typeface="Calibri" pitchFamily="34" charset="0"/>
              </a:rPr>
              <a:t>Unlike fine-tuning or pretraining, RAG keeps the model unchanged — it supplements it with fresh context at query time, not permanent weight updates.</a:t>
            </a:r>
          </a:p>
          <a:p>
            <a:endParaRPr lang="en-US" sz="1267"/>
          </a:p>
          <a:p>
            <a:pPr defTabSz="1219170"/>
            <a:r>
              <a:rPr lang="en-US" sz="1467" b="1" dirty="0">
                <a:solidFill>
                  <a:srgbClr val="FF4444"/>
                </a:solidFill>
                <a:latin typeface="Calibri" pitchFamily="34" charset="0"/>
              </a:rPr>
              <a:t>✘  Generic Web Search</a:t>
            </a:r>
          </a:p>
          <a:p>
            <a:pPr defTabSz="1219170"/>
            <a:r>
              <a:rPr lang="en-US" sz="1267" dirty="0">
                <a:solidFill>
                  <a:srgbClr val="4A5568"/>
                </a:solidFill>
                <a:latin typeface="Calibri" pitchFamily="34" charset="0"/>
              </a:rPr>
              <a:t>RAG targets your private data ecosystem — documents, tickets, code, logs — with strict security, access controls, and compliance, not the open web.</a:t>
            </a:r>
          </a:p>
          <a:p>
            <a:endParaRPr lang="en-US" sz="1267"/>
          </a:p>
          <a:p>
            <a:pPr defTabSz="1219170"/>
            <a:r>
              <a:rPr lang="en-US" sz="1467" b="1" dirty="0">
                <a:solidFill>
                  <a:srgbClr val="FF4444"/>
                </a:solidFill>
                <a:latin typeface="Calibri" pitchFamily="34" charset="0"/>
              </a:rPr>
              <a:t>✘  A Complete Agent System</a:t>
            </a:r>
          </a:p>
          <a:p>
            <a:pPr defTabSz="1219170"/>
            <a:r>
              <a:rPr lang="en-US" sz="1267" dirty="0">
                <a:solidFill>
                  <a:srgbClr val="4A5568"/>
                </a:solidFill>
                <a:latin typeface="Calibri" pitchFamily="34" charset="0"/>
              </a:rPr>
              <a:t>Agents coordinate tools, databases, code execution, and APIs. RAG is one crucial tool in that toolkit, not the orchestration layer itself.</a:t>
            </a:r>
          </a:p>
        </p:txBody>
      </p:sp>
      <p:sp>
        <p:nvSpPr>
          <p:cNvPr id="20" name="RightPanelBg"/>
          <p:cNvSpPr/>
          <p:nvPr/>
        </p:nvSpPr>
        <p:spPr>
          <a:xfrm>
            <a:off x="6279552" y="1280160"/>
            <a:ext cx="5571072" cy="5200704"/>
          </a:xfrm>
          <a:prstGeom prst="rect">
            <a:avLst/>
          </a:prstGeom>
          <a:solidFill>
            <a:srgbClr val="1E1E2E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RightTopBar"/>
          <p:cNvSpPr/>
          <p:nvPr/>
        </p:nvSpPr>
        <p:spPr>
          <a:xfrm>
            <a:off x="6279552" y="1280160"/>
            <a:ext cx="5571072" cy="85344"/>
          </a:xfrm>
          <a:prstGeom prst="rect">
            <a:avLst/>
          </a:prstGeom>
          <a:solidFill>
            <a:srgbClr val="00CC6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RightHeading"/>
          <p:cNvSpPr/>
          <p:nvPr/>
        </p:nvSpPr>
        <p:spPr>
          <a:xfrm>
            <a:off x="6449952" y="1414368"/>
            <a:ext cx="5230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0CC6A"/>
                </a:solidFill>
                <a:latin typeface="Calibri" pitchFamily="34" charset="0"/>
              </a:rPr>
              <a:t>RAG Shines When…</a:t>
            </a:r>
          </a:p>
        </p:txBody>
      </p:sp>
      <p:sp>
        <p:nvSpPr>
          <p:cNvPr id="23" name="RightItems"/>
          <p:cNvSpPr/>
          <p:nvPr/>
        </p:nvSpPr>
        <p:spPr>
          <a:xfrm>
            <a:off x="6449952" y="1901664"/>
            <a:ext cx="5230080" cy="438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b="1" dirty="0">
                <a:solidFill>
                  <a:srgbClr val="00CC6A"/>
                </a:solidFill>
                <a:latin typeface="Calibri" pitchFamily="34" charset="0"/>
              </a:rPr>
              <a:t>✔  Knowledge Evolves Regularly</a:t>
            </a:r>
          </a:p>
          <a:p>
            <a:pPr defTabSz="1219170"/>
            <a:r>
              <a:rPr lang="en-US" sz="1267" dirty="0">
                <a:solidFill>
                  <a:srgbClr val="C7E0F4"/>
                </a:solidFill>
                <a:latin typeface="Calibri" pitchFamily="34" charset="0"/>
              </a:rPr>
              <a:t>Documentation, policies, product versions, and support content change faster than you can retrain a model.</a:t>
            </a:r>
          </a:p>
          <a:p>
            <a:endParaRPr lang="en-US" sz="1267"/>
          </a:p>
          <a:p>
            <a:pPr defTabSz="1219170"/>
            <a:r>
              <a:rPr lang="en-US" sz="1467" b="1" dirty="0">
                <a:solidFill>
                  <a:srgbClr val="00CC6A"/>
                </a:solidFill>
                <a:latin typeface="Calibri" pitchFamily="34" charset="0"/>
              </a:rPr>
              <a:t>✔  Content Exceeds Context Window</a:t>
            </a:r>
          </a:p>
          <a:p>
            <a:pPr defTabSz="1219170"/>
            <a:r>
              <a:rPr lang="en-US" sz="1267" dirty="0">
                <a:solidFill>
                  <a:srgbClr val="C7E0F4"/>
                </a:solidFill>
                <a:latin typeface="Calibri" pitchFamily="34" charset="0"/>
              </a:rPr>
              <a:t>More content than can fit in a single prompt — RAG retrieves only what is relevant, keeping costs and latency in check.</a:t>
            </a:r>
          </a:p>
          <a:p>
            <a:endParaRPr lang="en-US" sz="1267"/>
          </a:p>
          <a:p>
            <a:pPr defTabSz="1219170"/>
            <a:r>
              <a:rPr lang="en-US" sz="1467" b="1" dirty="0">
                <a:solidFill>
                  <a:srgbClr val="00CC6A"/>
                </a:solidFill>
                <a:latin typeface="Calibri" pitchFamily="34" charset="0"/>
              </a:rPr>
              <a:t>✔  Traceable, Cited Answers Required</a:t>
            </a:r>
          </a:p>
          <a:p>
            <a:pPr defTabSz="1219170"/>
            <a:r>
              <a:rPr lang="en-US" sz="1267" dirty="0">
                <a:solidFill>
                  <a:srgbClr val="C7E0F4"/>
                </a:solidFill>
                <a:latin typeface="Calibri" pitchFamily="34" charset="0"/>
              </a:rPr>
              <a:t>Responses must reference source material — audit trails, compliance, and user trust demand verifiable, grounded answers.</a:t>
            </a:r>
          </a:p>
        </p:txBody>
      </p:sp>
      <p:sp>
        <p:nvSpPr>
          <p:cNvPr id="50" name="FooterBar"/>
          <p:cNvSpPr/>
          <p:nvPr/>
        </p:nvSpPr>
        <p:spPr>
          <a:xfrm>
            <a:off x="0" y="6388608"/>
            <a:ext cx="12192000" cy="46939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1" name="FooterText"/>
          <p:cNvSpPr/>
          <p:nvPr/>
        </p:nvSpPr>
        <p:spPr>
          <a:xfrm>
            <a:off x="365760" y="642518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</a:rPr>
              <a:t>Microsoft Agent Framework  ·  learn.microsoft.com/en-us/agent-framework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268224" cy="12192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itle"/>
          <p:cNvSpPr/>
          <p:nvPr/>
        </p:nvSpPr>
        <p:spPr>
          <a:xfrm>
            <a:off x="548640" y="134112"/>
            <a:ext cx="110947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67" b="1" dirty="0">
                <a:solidFill>
                  <a:srgbClr val="FFFFFF"/>
                </a:solidFill>
                <a:latin typeface="Calibri" pitchFamily="34" charset="0"/>
              </a:rPr>
              <a:t>RAG Components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804672"/>
            <a:ext cx="1109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dirty="0">
                <a:solidFill>
                  <a:srgbClr val="C7E0F4"/>
                </a:solidFill>
                <a:latin typeface="Calibri" pitchFamily="34" charset="0"/>
              </a:rPr>
              <a:t>Four interconnected layers that take enterprise data from ingestion through grounded response generation</a:t>
            </a:r>
          </a:p>
        </p:txBody>
      </p:sp>
      <p:sp>
        <p:nvSpPr>
          <p:cNvPr id="10" name="FlowLabel"/>
          <p:cNvSpPr/>
          <p:nvPr/>
        </p:nvSpPr>
        <p:spPr>
          <a:xfrm>
            <a:off x="338667" y="1280160"/>
            <a:ext cx="115146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078D4"/>
                </a:solidFill>
                <a:latin typeface="Calibri" pitchFamily="34" charset="0"/>
              </a:rPr>
              <a:t>THE RAG PIPELINE END-TO-END</a:t>
            </a:r>
          </a:p>
        </p:txBody>
      </p:sp>
      <p:sp>
        <p:nvSpPr>
          <p:cNvPr id="11" name="Flow1"/>
          <p:cNvSpPr/>
          <p:nvPr/>
        </p:nvSpPr>
        <p:spPr>
          <a:xfrm>
            <a:off x="338667" y="1609600"/>
            <a:ext cx="1422400" cy="685800"/>
          </a:xfrm>
          <a:prstGeom prst="rect">
            <a:avLst/>
          </a:prstGeom>
          <a:solidFill>
            <a:srgbClr val="0F1F3D"/>
          </a:solidFill>
          <a:ln/>
          <a:effectLst>
            <a:outerShdw blurRad="38100" dist="19050" dir="5400000" rotWithShape="0">
              <a:srgbClr val="000000">
                <a:alpha val="8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ctr" defTabSz="1219170"/>
            <a:r>
              <a:rPr lang="en-US" sz="1133" b="1" dirty="0">
                <a:solidFill>
                  <a:srgbClr val="C7E0F4"/>
                </a:solidFill>
                <a:latin typeface="Calibri" pitchFamily="34" charset="0"/>
              </a:rPr>
              <a:t>Enterprise</a:t>
            </a:r>
          </a:p>
          <a:p>
            <a:pPr algn="ctr" defTabSz="1219170"/>
            <a:r>
              <a:rPr lang="en-US" sz="1133" b="1" dirty="0">
                <a:solidFill>
                  <a:srgbClr val="C7E0F4"/>
                </a:solidFill>
                <a:latin typeface="Calibri" pitchFamily="34" charset="0"/>
              </a:rPr>
              <a:t>Data</a:t>
            </a:r>
          </a:p>
        </p:txBody>
      </p:sp>
      <p:sp>
        <p:nvSpPr>
          <p:cNvPr id="12" name="Arr1"/>
          <p:cNvSpPr/>
          <p:nvPr/>
        </p:nvSpPr>
        <p:spPr>
          <a:xfrm>
            <a:off x="1828800" y="1914400"/>
            <a:ext cx="228600" cy="76200"/>
          </a:xfrm>
          <a:prstGeom prst="rightArrow">
            <a:avLst/>
          </a:prstGeom>
          <a:solidFill>
            <a:srgbClr val="9DB8D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Flow2"/>
          <p:cNvSpPr/>
          <p:nvPr/>
        </p:nvSpPr>
        <p:spPr>
          <a:xfrm>
            <a:off x="2057400" y="1609600"/>
            <a:ext cx="1676400" cy="685800"/>
          </a:xfrm>
          <a:prstGeom prst="rect">
            <a:avLst/>
          </a:prstGeom>
          <a:solidFill>
            <a:srgbClr val="0078D4"/>
          </a:solidFill>
          <a:ln/>
          <a:effectLst>
            <a:outerShdw blurRad="38100" dist="19050" dir="5400000" rotWithShape="0">
              <a:srgbClr val="000000">
                <a:alpha val="8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ctr" defTabSz="1219170"/>
            <a:r>
              <a:rPr lang="en-US" sz="1133" b="1" dirty="0">
                <a:solidFill>
                  <a:srgbClr val="FFFFFF"/>
                </a:solidFill>
                <a:latin typeface="Calibri" pitchFamily="34" charset="0"/>
              </a:rPr>
              <a:t>Data</a:t>
            </a:r>
          </a:p>
          <a:p>
            <a:pPr algn="ctr" defTabSz="1219170"/>
            <a:r>
              <a:rPr lang="en-US" sz="1133" b="1" dirty="0">
                <a:solidFill>
                  <a:srgbClr val="FFFFFF"/>
                </a:solidFill>
                <a:latin typeface="Calibri" pitchFamily="34" charset="0"/>
              </a:rPr>
              <a:t>Pipeline</a:t>
            </a:r>
          </a:p>
        </p:txBody>
      </p:sp>
      <p:sp>
        <p:nvSpPr>
          <p:cNvPr id="14" name="Arr2"/>
          <p:cNvSpPr/>
          <p:nvPr/>
        </p:nvSpPr>
        <p:spPr>
          <a:xfrm>
            <a:off x="3810000" y="1914400"/>
            <a:ext cx="228600" cy="76200"/>
          </a:xfrm>
          <a:prstGeom prst="rightArrow">
            <a:avLst/>
          </a:prstGeom>
          <a:solidFill>
            <a:srgbClr val="9DB8D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Flow3"/>
          <p:cNvSpPr/>
          <p:nvPr/>
        </p:nvSpPr>
        <p:spPr>
          <a:xfrm>
            <a:off x="4114800" y="1609600"/>
            <a:ext cx="1524000" cy="685800"/>
          </a:xfrm>
          <a:prstGeom prst="rect">
            <a:avLst/>
          </a:prstGeom>
          <a:solidFill>
            <a:srgbClr val="00B4D8"/>
          </a:solidFill>
          <a:ln/>
          <a:effectLst>
            <a:outerShdw blurRad="38100" dist="19050" dir="5400000" rotWithShape="0">
              <a:srgbClr val="000000">
                <a:alpha val="8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ctr" defTabSz="1219170"/>
            <a:r>
              <a:rPr lang="en-US" sz="1133" b="1" dirty="0">
                <a:solidFill>
                  <a:srgbClr val="FFFFFF"/>
                </a:solidFill>
                <a:latin typeface="Calibri" pitchFamily="34" charset="0"/>
              </a:rPr>
              <a:t>Vector</a:t>
            </a:r>
          </a:p>
          <a:p>
            <a:pPr algn="ctr" defTabSz="1219170"/>
            <a:r>
              <a:rPr lang="en-US" sz="1133" b="1" dirty="0">
                <a:solidFill>
                  <a:srgbClr val="FFFFFF"/>
                </a:solidFill>
                <a:latin typeface="Calibri" pitchFamily="34" charset="0"/>
              </a:rPr>
              <a:t>Index</a:t>
            </a:r>
          </a:p>
        </p:txBody>
      </p:sp>
      <p:sp>
        <p:nvSpPr>
          <p:cNvPr id="16" name="Arr3"/>
          <p:cNvSpPr/>
          <p:nvPr/>
        </p:nvSpPr>
        <p:spPr>
          <a:xfrm>
            <a:off x="5714400" y="1914400"/>
            <a:ext cx="228600" cy="76200"/>
          </a:xfrm>
          <a:prstGeom prst="rightArrow">
            <a:avLst/>
          </a:prstGeom>
          <a:solidFill>
            <a:srgbClr val="9DB8D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Flow4"/>
          <p:cNvSpPr/>
          <p:nvPr/>
        </p:nvSpPr>
        <p:spPr>
          <a:xfrm>
            <a:off x="6019200" y="1609600"/>
            <a:ext cx="1676400" cy="685800"/>
          </a:xfrm>
          <a:prstGeom prst="rect">
            <a:avLst/>
          </a:prstGeom>
          <a:solidFill>
            <a:srgbClr val="7B2D8B"/>
          </a:solidFill>
          <a:ln/>
          <a:effectLst>
            <a:outerShdw blurRad="38100" dist="19050" dir="5400000" rotWithShape="0">
              <a:srgbClr val="000000">
                <a:alpha val="8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ctr" defTabSz="1219170"/>
            <a:r>
              <a:rPr lang="en-US" sz="1133" b="1" dirty="0">
                <a:solidFill>
                  <a:srgbClr val="FFFFFF"/>
                </a:solidFill>
                <a:latin typeface="Calibri" pitchFamily="34" charset="0"/>
              </a:rPr>
              <a:t>RAG</a:t>
            </a:r>
          </a:p>
          <a:p>
            <a:pPr algn="ctr" defTabSz="1219170"/>
            <a:r>
              <a:rPr lang="en-US" sz="1133" b="1" dirty="0">
                <a:solidFill>
                  <a:srgbClr val="FFFFFF"/>
                </a:solidFill>
                <a:latin typeface="Calibri" pitchFamily="34" charset="0"/>
              </a:rPr>
              <a:t>Chain</a:t>
            </a:r>
          </a:p>
        </p:txBody>
      </p:sp>
      <p:sp>
        <p:nvSpPr>
          <p:cNvPr id="18" name="Arr4"/>
          <p:cNvSpPr/>
          <p:nvPr/>
        </p:nvSpPr>
        <p:spPr>
          <a:xfrm>
            <a:off x="7771800" y="1914400"/>
            <a:ext cx="228600" cy="76200"/>
          </a:xfrm>
          <a:prstGeom prst="rightArrow">
            <a:avLst/>
          </a:prstGeom>
          <a:solidFill>
            <a:srgbClr val="9DB8D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Flow5"/>
          <p:cNvSpPr/>
          <p:nvPr/>
        </p:nvSpPr>
        <p:spPr>
          <a:xfrm>
            <a:off x="8076600" y="1609600"/>
            <a:ext cx="1422400" cy="685800"/>
          </a:xfrm>
          <a:prstGeom prst="rect">
            <a:avLst/>
          </a:prstGeom>
          <a:solidFill>
            <a:srgbClr val="107C10"/>
          </a:solidFill>
          <a:ln/>
          <a:effectLst>
            <a:outerShdw blurRad="38100" dist="19050" dir="5400000" rotWithShape="0">
              <a:srgbClr val="000000">
                <a:alpha val="8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ctr" defTabSz="1219170"/>
            <a:r>
              <a:rPr lang="en-US" sz="1133" b="1" dirty="0">
                <a:solidFill>
                  <a:srgbClr val="FFFFFF"/>
                </a:solidFill>
                <a:latin typeface="Calibri" pitchFamily="34" charset="0"/>
              </a:rPr>
              <a:t>LLM</a:t>
            </a:r>
          </a:p>
          <a:p>
            <a:pPr algn="ctr" defTabSz="1219170"/>
            <a:r>
              <a:rPr lang="en-US" sz="1133" b="1" dirty="0">
                <a:solidFill>
                  <a:srgbClr val="FFFFFF"/>
                </a:solidFill>
                <a:latin typeface="Calibri" pitchFamily="34" charset="0"/>
              </a:rPr>
              <a:t>Generate</a:t>
            </a:r>
          </a:p>
        </p:txBody>
      </p:sp>
      <p:sp>
        <p:nvSpPr>
          <p:cNvPr id="20" name="Arr5"/>
          <p:cNvSpPr/>
          <p:nvPr/>
        </p:nvSpPr>
        <p:spPr>
          <a:xfrm>
            <a:off x="9575400" y="1914400"/>
            <a:ext cx="228600" cy="76200"/>
          </a:xfrm>
          <a:prstGeom prst="rightArrow">
            <a:avLst/>
          </a:prstGeom>
          <a:solidFill>
            <a:srgbClr val="9DB8D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Flow6"/>
          <p:cNvSpPr/>
          <p:nvPr/>
        </p:nvSpPr>
        <p:spPr>
          <a:xfrm>
            <a:off x="9880200" y="1609600"/>
            <a:ext cx="1371600" cy="685800"/>
          </a:xfrm>
          <a:prstGeom prst="rect">
            <a:avLst/>
          </a:prstGeom>
          <a:solidFill>
            <a:srgbClr val="D83B01"/>
          </a:solidFill>
          <a:ln/>
          <a:effectLst>
            <a:outerShdw blurRad="38100" dist="19050" dir="5400000" rotWithShape="0">
              <a:srgbClr val="000000">
                <a:alpha val="8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ctr" defTabSz="1219170"/>
            <a:r>
              <a:rPr lang="en-US" sz="1133" b="1" dirty="0">
                <a:solidFill>
                  <a:srgbClr val="FFFFFF"/>
                </a:solidFill>
                <a:latin typeface="Calibri" pitchFamily="34" charset="0"/>
              </a:rPr>
              <a:t>User</a:t>
            </a:r>
          </a:p>
          <a:p>
            <a:pPr algn="ctr" defTabSz="1219170"/>
            <a:r>
              <a:rPr lang="en-US" sz="1133" b="1" dirty="0">
                <a:solidFill>
                  <a:srgbClr val="FFFFFF"/>
                </a:solidFill>
                <a:latin typeface="Calibri" pitchFamily="34" charset="0"/>
              </a:rPr>
              <a:t>Response</a:t>
            </a:r>
          </a:p>
        </p:txBody>
      </p:sp>
      <p:sp>
        <p:nvSpPr>
          <p:cNvPr id="22" name="EvalBand"/>
          <p:cNvSpPr/>
          <p:nvPr/>
        </p:nvSpPr>
        <p:spPr>
          <a:xfrm>
            <a:off x="338667" y="2362200"/>
            <a:ext cx="11514667" cy="243840"/>
          </a:xfrm>
          <a:prstGeom prst="rect">
            <a:avLst/>
          </a:prstGeom>
          <a:solidFill>
            <a:srgbClr val="FFF4CE"/>
          </a:solidFill>
          <a:ln w="19050">
            <a:solidFill>
              <a:srgbClr val="FF8C00"/>
            </a:solidFill>
          </a:ln>
        </p:spPr>
        <p:txBody>
          <a:bodyPr wrap="square" lIns="91440" tIns="30480" rIns="91440" bIns="30480" rtlCol="0" anchor="ctr"/>
          <a:lstStyle/>
          <a:p>
            <a:pPr algn="ctr" defTabSz="1219170"/>
            <a:r>
              <a:rPr lang="en-US" sz="1067" b="1" dirty="0">
                <a:solidFill>
                  <a:srgbClr val="C05C00"/>
                </a:solidFill>
                <a:latin typeface="Calibri" pitchFamily="34" charset="0"/>
              </a:rPr>
              <a:t>↻  Evaluation &amp; Monitoring loops continuously over all components (recall@k · groundedness · latency · cost)  ↻</a:t>
            </a:r>
          </a:p>
        </p:txBody>
      </p:sp>
      <p:sp>
        <p:nvSpPr>
          <p:cNvPr id="30" name="C1Bg"/>
          <p:cNvSpPr/>
          <p:nvPr/>
        </p:nvSpPr>
        <p:spPr>
          <a:xfrm>
            <a:off x="338667" y="2700240"/>
            <a:ext cx="2743200" cy="3384048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C1Bar"/>
          <p:cNvSpPr/>
          <p:nvPr/>
        </p:nvSpPr>
        <p:spPr>
          <a:xfrm>
            <a:off x="338667" y="2700240"/>
            <a:ext cx="2743200" cy="762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C1Content"/>
          <p:cNvSpPr/>
          <p:nvPr/>
        </p:nvSpPr>
        <p:spPr>
          <a:xfrm>
            <a:off x="490267" y="2806640"/>
            <a:ext cx="2438400" cy="320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Calibri" pitchFamily="34" charset="0"/>
              </a:rPr>
              <a:t>Data Pipeline</a:t>
            </a:r>
          </a:p>
          <a:p>
            <a:pPr defTabSz="1219170"/>
            <a:r>
              <a:rPr lang="en-US" sz="1133" dirty="0">
                <a:solidFill>
                  <a:srgbClr val="4A5568"/>
                </a:solidFill>
                <a:latin typeface="Calibri" pitchFamily="34" charset="0"/>
              </a:rPr>
              <a:t>Prepares raw sources into searchable, indexed assets</a:t>
            </a:r>
          </a:p>
          <a:p>
            <a:endParaRPr lang="en-US" sz="1133"/>
          </a:p>
          <a:p>
            <a:pPr defTabSz="1219170"/>
            <a:r>
              <a:rPr lang="en-US" sz="1067" b="1" dirty="0">
                <a:solidFill>
                  <a:srgbClr val="0078D4"/>
                </a:solidFill>
                <a:latin typeface="Calibri" pitchFamily="34" charset="0"/>
              </a:rPr>
              <a:t>Parse</a:t>
            </a:r>
            <a:r>
              <a:rPr lang="en-US" sz="1067" dirty="0">
                <a:solidFill>
                  <a:srgbClr val="9DB8D2"/>
                </a:solidFill>
                <a:latin typeface="Calibri" pitchFamily="34" charset="0"/>
              </a:rPr>
              <a:t> → </a:t>
            </a:r>
            <a:r>
              <a:rPr lang="en-US" sz="1067" b="1" dirty="0">
                <a:solidFill>
                  <a:srgbClr val="0078D4"/>
                </a:solidFill>
                <a:latin typeface="Calibri" pitchFamily="34" charset="0"/>
              </a:rPr>
              <a:t>Chunk</a:t>
            </a:r>
            <a:r>
              <a:rPr lang="en-US" sz="1067" dirty="0">
                <a:solidFill>
                  <a:srgbClr val="9DB8D2"/>
                </a:solidFill>
                <a:latin typeface="Calibri" pitchFamily="34" charset="0"/>
              </a:rPr>
              <a:t> → </a:t>
            </a:r>
            <a:r>
              <a:rPr lang="en-US" sz="1067" b="1" dirty="0">
                <a:solidFill>
                  <a:srgbClr val="0078D4"/>
                </a:solidFill>
                <a:latin typeface="Calibri" pitchFamily="34" charset="0"/>
              </a:rPr>
              <a:t>Embed</a:t>
            </a:r>
            <a:r>
              <a:rPr lang="en-US" sz="1067" dirty="0">
                <a:solidFill>
                  <a:srgbClr val="9DB8D2"/>
                </a:solidFill>
                <a:latin typeface="Calibri" pitchFamily="34" charset="0"/>
              </a:rPr>
              <a:t> → </a:t>
            </a:r>
            <a:r>
              <a:rPr lang="en-US" sz="1067" b="1" dirty="0">
                <a:solidFill>
                  <a:srgbClr val="0078D4"/>
                </a:solidFill>
                <a:latin typeface="Calibri" pitchFamily="34" charset="0"/>
              </a:rPr>
              <a:t>Index</a:t>
            </a:r>
          </a:p>
          <a:p>
            <a:endParaRPr lang="en-US" sz="1133"/>
          </a:p>
          <a:p>
            <a:pPr defTabSz="1219170"/>
            <a:r>
              <a:rPr lang="en-US" sz="1133" dirty="0">
                <a:solidFill>
                  <a:srgbClr val="4A5568"/>
                </a:solidFill>
                <a:latin typeface="Calibri" pitchFamily="34" charset="0"/>
              </a:rPr>
              <a:t>Sources: PDFs, wikis, tickets, code, tables, APIs</a:t>
            </a:r>
          </a:p>
        </p:txBody>
      </p:sp>
      <p:sp>
        <p:nvSpPr>
          <p:cNvPr id="40" name="C2Bg"/>
          <p:cNvSpPr/>
          <p:nvPr/>
        </p:nvSpPr>
        <p:spPr>
          <a:xfrm>
            <a:off x="3173307" y="2700240"/>
            <a:ext cx="2743200" cy="3384048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1" name="C2Bar"/>
          <p:cNvSpPr/>
          <p:nvPr/>
        </p:nvSpPr>
        <p:spPr>
          <a:xfrm>
            <a:off x="3173307" y="2700240"/>
            <a:ext cx="2743200" cy="7620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" name="C2Content"/>
          <p:cNvSpPr/>
          <p:nvPr/>
        </p:nvSpPr>
        <p:spPr>
          <a:xfrm>
            <a:off x="3324907" y="2806640"/>
            <a:ext cx="2438400" cy="320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b="1" dirty="0">
                <a:solidFill>
                  <a:srgbClr val="7B2D8B"/>
                </a:solidFill>
                <a:latin typeface="Calibri" pitchFamily="34" charset="0"/>
              </a:rPr>
              <a:t>RAG Chain</a:t>
            </a:r>
          </a:p>
          <a:p>
            <a:pPr defTabSz="1219170"/>
            <a:r>
              <a:rPr lang="en-US" sz="1133" dirty="0">
                <a:solidFill>
                  <a:srgbClr val="4A5568"/>
                </a:solidFill>
                <a:latin typeface="Calibri" pitchFamily="34" charset="0"/>
              </a:rPr>
              <a:t>Query-time orchestration: retrieval through response</a:t>
            </a:r>
          </a:p>
          <a:p>
            <a:endParaRPr lang="en-US" sz="1133"/>
          </a:p>
          <a:p>
            <a:pPr defTabSz="1219170"/>
            <a:r>
              <a:rPr lang="en-US" sz="1067" b="1" dirty="0">
                <a:solidFill>
                  <a:srgbClr val="7B2D8B"/>
                </a:solidFill>
                <a:latin typeface="Calibri" pitchFamily="34" charset="0"/>
              </a:rPr>
              <a:t>Query</a:t>
            </a:r>
            <a:r>
              <a:rPr lang="en-US" sz="1067" dirty="0">
                <a:solidFill>
                  <a:srgbClr val="9DB8D2"/>
                </a:solidFill>
                <a:latin typeface="Calibri" pitchFamily="34" charset="0"/>
              </a:rPr>
              <a:t> → </a:t>
            </a:r>
            <a:r>
              <a:rPr lang="en-US" sz="1067" b="1" dirty="0">
                <a:solidFill>
                  <a:srgbClr val="7B2D8B"/>
                </a:solidFill>
                <a:latin typeface="Calibri" pitchFamily="34" charset="0"/>
              </a:rPr>
              <a:t>Retrieve</a:t>
            </a:r>
            <a:r>
              <a:rPr lang="en-US" sz="1067" dirty="0">
                <a:solidFill>
                  <a:srgbClr val="9DB8D2"/>
                </a:solidFill>
                <a:latin typeface="Calibri" pitchFamily="34" charset="0"/>
              </a:rPr>
              <a:t> → </a:t>
            </a:r>
            <a:r>
              <a:rPr lang="en-US" sz="1067" b="1" dirty="0">
                <a:solidFill>
                  <a:srgbClr val="7B2D8B"/>
                </a:solidFill>
                <a:latin typeface="Calibri" pitchFamily="34" charset="0"/>
              </a:rPr>
              <a:t>Augment</a:t>
            </a:r>
            <a:r>
              <a:rPr lang="en-US" sz="1067" dirty="0">
                <a:solidFill>
                  <a:srgbClr val="9DB8D2"/>
                </a:solidFill>
                <a:latin typeface="Calibri" pitchFamily="34" charset="0"/>
              </a:rPr>
              <a:t> → </a:t>
            </a:r>
            <a:r>
              <a:rPr lang="en-US" sz="1067" b="1" dirty="0">
                <a:solidFill>
                  <a:srgbClr val="7B2D8B"/>
                </a:solidFill>
                <a:latin typeface="Calibri" pitchFamily="34" charset="0"/>
              </a:rPr>
              <a:t>Generate</a:t>
            </a:r>
          </a:p>
          <a:p>
            <a:endParaRPr lang="en-US" sz="1133"/>
          </a:p>
          <a:p>
            <a:pPr defTabSz="1219170"/>
            <a:r>
              <a:rPr lang="en-US" sz="1133" dirty="0">
                <a:solidFill>
                  <a:srgbClr val="4A5568"/>
                </a:solidFill>
                <a:latin typeface="Calibri" pitchFamily="34" charset="0"/>
              </a:rPr>
              <a:t>Guardrails applied at each stage for safety</a:t>
            </a:r>
          </a:p>
        </p:txBody>
      </p:sp>
      <p:sp>
        <p:nvSpPr>
          <p:cNvPr id="50" name="C3Bg"/>
          <p:cNvSpPr/>
          <p:nvPr/>
        </p:nvSpPr>
        <p:spPr>
          <a:xfrm>
            <a:off x="6007947" y="2700240"/>
            <a:ext cx="2743200" cy="3384048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1" name="C3Bar"/>
          <p:cNvSpPr/>
          <p:nvPr/>
        </p:nvSpPr>
        <p:spPr>
          <a:xfrm>
            <a:off x="6007947" y="2700240"/>
            <a:ext cx="2743200" cy="7620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2" name="C3Content"/>
          <p:cNvSpPr/>
          <p:nvPr/>
        </p:nvSpPr>
        <p:spPr>
          <a:xfrm>
            <a:off x="6159547" y="2806640"/>
            <a:ext cx="2438400" cy="320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b="1" dirty="0">
                <a:solidFill>
                  <a:srgbClr val="FF8C00"/>
                </a:solidFill>
                <a:latin typeface="Calibri" pitchFamily="34" charset="0"/>
              </a:rPr>
              <a:t>Eval &amp; Monitoring</a:t>
            </a:r>
          </a:p>
          <a:p>
            <a:pPr defTabSz="1219170"/>
            <a:r>
              <a:rPr lang="en-US" sz="1133" dirty="0">
                <a:solidFill>
                  <a:srgbClr val="4A5568"/>
                </a:solidFill>
                <a:latin typeface="Calibri" pitchFamily="34" charset="0"/>
              </a:rPr>
              <a:t>Continuously assess quality, cost and latency</a:t>
            </a:r>
          </a:p>
          <a:p>
            <a:endParaRPr lang="en-US" sz="1133"/>
          </a:p>
          <a:p>
            <a:pPr defTabSz="1219170"/>
            <a:r>
              <a:rPr lang="en-US" sz="1067" b="1" dirty="0">
                <a:solidFill>
                  <a:srgbClr val="FF8C00"/>
                </a:solidFill>
                <a:latin typeface="Calibri" pitchFamily="34" charset="0"/>
              </a:rPr>
              <a:t>Retrieval: </a:t>
            </a: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recall@k, MRR, NDCG</a:t>
            </a:r>
          </a:p>
          <a:p>
            <a:pPr defTabSz="1219170"/>
            <a:r>
              <a:rPr lang="en-US" sz="1067" b="1" dirty="0">
                <a:solidFill>
                  <a:srgbClr val="FF8C00"/>
                </a:solidFill>
                <a:latin typeface="Calibri" pitchFamily="34" charset="0"/>
              </a:rPr>
              <a:t>Answer: </a:t>
            </a: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faithfulness, groundedness</a:t>
            </a:r>
          </a:p>
          <a:p>
            <a:pPr defTabSz="1219170"/>
            <a:r>
              <a:rPr lang="en-US" sz="1067" b="1" dirty="0">
                <a:solidFill>
                  <a:srgbClr val="FF8C00"/>
                </a:solidFill>
                <a:latin typeface="Calibri" pitchFamily="34" charset="0"/>
              </a:rPr>
              <a:t>Ops: </a:t>
            </a: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latency, token cost, error rate</a:t>
            </a:r>
          </a:p>
        </p:txBody>
      </p:sp>
      <p:sp>
        <p:nvSpPr>
          <p:cNvPr id="60" name="C4Bg"/>
          <p:cNvSpPr/>
          <p:nvPr/>
        </p:nvSpPr>
        <p:spPr>
          <a:xfrm>
            <a:off x="8842587" y="2700240"/>
            <a:ext cx="2743200" cy="3384048"/>
          </a:xfrm>
          <a:prstGeom prst="rect">
            <a:avLst/>
          </a:prstGeom>
          <a:solidFill>
            <a:srgbClr val="F3F6FB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1" name="C4Bar"/>
          <p:cNvSpPr/>
          <p:nvPr/>
        </p:nvSpPr>
        <p:spPr>
          <a:xfrm>
            <a:off x="8842587" y="2700240"/>
            <a:ext cx="2743200" cy="76200"/>
          </a:xfrm>
          <a:prstGeom prst="rect">
            <a:avLst/>
          </a:prstGeom>
          <a:solidFill>
            <a:srgbClr val="00CC6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2" name="C4Content"/>
          <p:cNvSpPr/>
          <p:nvPr/>
        </p:nvSpPr>
        <p:spPr>
          <a:xfrm>
            <a:off x="8994187" y="2806640"/>
            <a:ext cx="2438400" cy="320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b="1" dirty="0">
                <a:solidFill>
                  <a:srgbClr val="00CC6A"/>
                </a:solidFill>
                <a:latin typeface="Calibri" pitchFamily="34" charset="0"/>
              </a:rPr>
              <a:t>Governance &amp; LLMOps</a:t>
            </a:r>
          </a:p>
          <a:p>
            <a:pPr defTabSz="1219170"/>
            <a:r>
              <a:rPr lang="en-US" sz="1133" dirty="0">
                <a:solidFill>
                  <a:srgbClr val="4A5568"/>
                </a:solidFill>
                <a:latin typeface="Calibri" pitchFamily="34" charset="0"/>
              </a:rPr>
              <a:t>Lifecycle management across data, models and chains</a:t>
            </a:r>
          </a:p>
          <a:p>
            <a:endParaRPr lang="en-US" sz="1133"/>
          </a:p>
          <a:p>
            <a:pPr defTabSz="1219170"/>
            <a:r>
              <a:rPr lang="en-US" sz="1067" b="1" dirty="0">
                <a:solidFill>
                  <a:srgbClr val="00CC6A"/>
                </a:solidFill>
                <a:latin typeface="Calibri" pitchFamily="34" charset="0"/>
              </a:rPr>
              <a:t>Lineage: </a:t>
            </a: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data provenance &amp; versioning</a:t>
            </a:r>
          </a:p>
          <a:p>
            <a:pPr defTabSz="1219170"/>
            <a:r>
              <a:rPr lang="en-US" sz="1067" b="1" dirty="0">
                <a:solidFill>
                  <a:srgbClr val="00CC6A"/>
                </a:solidFill>
                <a:latin typeface="Calibri" pitchFamily="34" charset="0"/>
              </a:rPr>
              <a:t>Access: </a:t>
            </a: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controls &amp; permissions per user</a:t>
            </a:r>
          </a:p>
          <a:p>
            <a:pPr defTabSz="1219170"/>
            <a:r>
              <a:rPr lang="en-US" sz="1067" b="1" dirty="0">
                <a:solidFill>
                  <a:srgbClr val="00CC6A"/>
                </a:solidFill>
                <a:latin typeface="Calibri" pitchFamily="34" charset="0"/>
              </a:rPr>
              <a:t>Audit: </a:t>
            </a:r>
            <a:r>
              <a:rPr lang="en-US" sz="1067" dirty="0">
                <a:solidFill>
                  <a:srgbClr val="4A5568"/>
                </a:solidFill>
                <a:latin typeface="Calibri" pitchFamily="34" charset="0"/>
              </a:rPr>
              <a:t>decision logs &amp; policy compliance</a:t>
            </a:r>
          </a:p>
        </p:txBody>
      </p:sp>
      <p:sp>
        <p:nvSpPr>
          <p:cNvPr id="70" name="FooterBar"/>
          <p:cNvSpPr/>
          <p:nvPr/>
        </p:nvSpPr>
        <p:spPr>
          <a:xfrm>
            <a:off x="0" y="6388608"/>
            <a:ext cx="12192000" cy="46939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1" name="FooterText"/>
          <p:cNvSpPr/>
          <p:nvPr/>
        </p:nvSpPr>
        <p:spPr>
          <a:xfrm>
            <a:off x="365760" y="642518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6A9CC7"/>
                </a:solidFill>
                <a:latin typeface="Calibri" pitchFamily="34" charset="0"/>
              </a:rPr>
              <a:t>Microsoft Agent Framework  ·  learn.microsoft.com/en-us/agent-framework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E2EA439-3AEE-417A-B995-016E304CC7C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69edd33-d86d-4822-b624-f5474b91e11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6567</TotalTime>
  <Words>2984</Words>
  <Application>Microsoft Office PowerPoint</Application>
  <PresentationFormat>Widescreen</PresentationFormat>
  <Paragraphs>443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Syam</dc:creator>
  <cp:lastModifiedBy>Satya Syam</cp:lastModifiedBy>
  <cp:revision>28</cp:revision>
  <dcterms:created xsi:type="dcterms:W3CDTF">2026-04-14T04:26:27Z</dcterms:created>
  <dcterms:modified xsi:type="dcterms:W3CDTF">2026-04-23T05:04:09Z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ba39d-4745-4e9d-97db-0c1927b54242_Enabled">
    <vt:lpwstr>true</vt:lpwstr>
  </property>
  <property fmtid="{D5CDD505-2E9C-101B-9397-08002B2CF9AE}" pid="3" name="MSIP_Label_71bba39d-4745-4e9d-97db-0c1927b54242_SetDate">
    <vt:lpwstr>2026-04-21T05:45:13Z</vt:lpwstr>
  </property>
  <property fmtid="{D5CDD505-2E9C-101B-9397-08002B2CF9AE}" pid="4" name="MSIP_Label_71bba39d-4745-4e9d-97db-0c1927b54242_Method">
    <vt:lpwstr>Privileged</vt:lpwstr>
  </property>
  <property fmtid="{D5CDD505-2E9C-101B-9397-08002B2CF9AE}" pid="5" name="MSIP_Label_71bba39d-4745-4e9d-97db-0c1927b54242_Name">
    <vt:lpwstr>Internal</vt:lpwstr>
  </property>
  <property fmtid="{D5CDD505-2E9C-101B-9397-08002B2CF9AE}" pid="6" name="MSIP_Label_71bba39d-4745-4e9d-97db-0c1927b54242_SiteId">
    <vt:lpwstr>05d75c05-fa1a-42e7-9cf1-eb416c396f2d</vt:lpwstr>
  </property>
  <property fmtid="{D5CDD505-2E9C-101B-9397-08002B2CF9AE}" pid="7" name="MSIP_Label_71bba39d-4745-4e9d-97db-0c1927b54242_ActionId">
    <vt:lpwstr>06c72246-e3a8-4b8f-afc6-bfcf41b6e319</vt:lpwstr>
  </property>
  <property fmtid="{D5CDD505-2E9C-101B-9397-08002B2CF9AE}" pid="8" name="MSIP_Label_71bba39d-4745-4e9d-97db-0c1927b54242_ContentBits">
    <vt:lpwstr>2</vt:lpwstr>
  </property>
  <property fmtid="{D5CDD505-2E9C-101B-9397-08002B2CF9AE}" pid="9" name="MSIP_Label_71bba39d-4745-4e9d-97db-0c1927b54242_Tag">
    <vt:lpwstr>10, 0, 1, 1</vt:lpwstr>
  </property>
  <property fmtid="{D5CDD505-2E9C-101B-9397-08002B2CF9AE}" pid="10" name="ClassificationContentMarkingFooterLocations">
    <vt:lpwstr>1_Office Theme:3\Office Theme:8</vt:lpwstr>
  </property>
  <property fmtid="{D5CDD505-2E9C-101B-9397-08002B2CF9AE}" pid="11" name="ClassificationContentMarkingFooterText">
    <vt:lpwstr>Classification: Internal</vt:lpwstr>
  </property>
</Properties>
</file>