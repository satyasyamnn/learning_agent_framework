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22"/>
  </p:notesMasterIdLst>
  <p:sldIdLst>
    <p:sldId id="256" r:id="rId3"/>
    <p:sldId id="440" r:id="rId4"/>
    <p:sldId id="488" r:id="rId5"/>
    <p:sldId id="489" r:id="rId6"/>
    <p:sldId id="332" r:id="rId7"/>
    <p:sldId id="259" r:id="rId8"/>
    <p:sldId id="445" r:id="rId9"/>
    <p:sldId id="454" r:id="rId10"/>
    <p:sldId id="447" r:id="rId11"/>
    <p:sldId id="463" r:id="rId12"/>
    <p:sldId id="464" r:id="rId13"/>
    <p:sldId id="476" r:id="rId14"/>
    <p:sldId id="365" r:id="rId15"/>
    <p:sldId id="467" r:id="rId16"/>
    <p:sldId id="473" r:id="rId17"/>
    <p:sldId id="487" r:id="rId18"/>
    <p:sldId id="493" r:id="rId19"/>
    <p:sldId id="494" r:id="rId20"/>
    <p:sldId id="49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01A3E-DC76-4FBF-ADD7-F791ECB5C8F4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4293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7120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2D9BBB-D017-A34F-FDD3-E8BC911C53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375F8-D48F-CCC8-1944-A03911094F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096" y="526694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52160" y="4718304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52160" y="4767072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21843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26720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91840" y="5260848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5309616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5216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52160" y="529132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28C28BA1-9C13-C344-A3D8-A92E209EFE68}"/>
              </a:ext>
            </a:extLst>
          </p:cNvPr>
          <p:cNvSpPr/>
          <p:nvPr/>
        </p:nvSpPr>
        <p:spPr>
          <a:xfrm>
            <a:off x="731520" y="470001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E60242C7-9DF4-8982-1926-70377B683BF2}"/>
              </a:ext>
            </a:extLst>
          </p:cNvPr>
          <p:cNvSpPr/>
          <p:nvPr/>
        </p:nvSpPr>
        <p:spPr>
          <a:xfrm>
            <a:off x="731520" y="474878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10DAF0FF-ED53-4560-8476-0D6206D695D6}"/>
              </a:ext>
            </a:extLst>
          </p:cNvPr>
          <p:cNvSpPr/>
          <p:nvPr/>
        </p:nvSpPr>
        <p:spPr>
          <a:xfrm>
            <a:off x="3291840" y="472440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D189119D-B69B-25F5-4963-9F374C40B50C}"/>
              </a:ext>
            </a:extLst>
          </p:cNvPr>
          <p:cNvSpPr/>
          <p:nvPr/>
        </p:nvSpPr>
        <p:spPr>
          <a:xfrm>
            <a:off x="3291840" y="477316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FooterText">
            <a:extLst>
              <a:ext uri="{FF2B5EF4-FFF2-40B4-BE49-F238E27FC236}">
                <a16:creationId xmlns:a16="http://schemas.microsoft.com/office/drawing/2014/main" id="{86933726-13A8-E2B0-F097-5376D0C7240C}"/>
              </a:ext>
            </a:extLst>
          </p:cNvPr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or minimal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 AI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1152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framework: from purpose to production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60704"/>
            <a:ext cx="64008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8-STEP BUILD PROCESS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2862072" cy="1444752"/>
          </a:xfrm>
          <a:prstGeom prst="rect">
            <a:avLst/>
          </a:prstGeom>
          <a:solidFill>
            <a:srgbClr val="FEFCE8"/>
          </a:solidFill>
          <a:ln w="19050">
            <a:solidFill>
              <a:srgbClr val="EAB308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2862072" cy="5029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1965960"/>
            <a:ext cx="256032" cy="256032"/>
          </a:xfrm>
          <a:prstGeom prst="ellipse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76656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Purpose &amp; 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needs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91256" y="1874520"/>
            <a:ext cx="2862072" cy="1444752"/>
          </a:xfrm>
          <a:prstGeom prst="rect">
            <a:avLst/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191256" y="1874520"/>
            <a:ext cx="2862072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82696" y="1965960"/>
            <a:ext cx="256032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82696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93592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Design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00984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Persona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08192" y="1874520"/>
            <a:ext cx="2862072" cy="1444752"/>
          </a:xfrm>
          <a:prstGeom prst="rect">
            <a:avLst/>
          </a:prstGeom>
          <a:solidFill>
            <a:srgbClr val="FDF2F8"/>
          </a:solidFill>
          <a:ln w="19050">
            <a:solidFill>
              <a:srgbClr val="EC489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08192" y="1874520"/>
            <a:ext cx="2862072" cy="5029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199632" y="1965960"/>
            <a:ext cx="256032" cy="256032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199632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0528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LLM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latency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25128" y="1874520"/>
            <a:ext cx="2862072" cy="1444752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9025128" y="1874520"/>
            <a:ext cx="2862072" cy="502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9116568" y="1965960"/>
            <a:ext cx="256032" cy="25603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9116568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34856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(local)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(web, apps, data)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as a tool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374136"/>
            <a:ext cx="2862072" cy="1444752"/>
          </a:xfrm>
          <a:prstGeom prst="rect">
            <a:avLst/>
          </a:prstGeom>
          <a:solidFill>
            <a:srgbClr val="FAF5FF"/>
          </a:solidFill>
          <a:ln w="1905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74320" y="3374136"/>
            <a:ext cx="2862072" cy="502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365760" y="3465576"/>
            <a:ext cx="256032" cy="25603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6576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Systems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84048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(conversation)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SQL/structured DB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191256" y="3374136"/>
            <a:ext cx="2862072" cy="1444752"/>
          </a:xfrm>
          <a:prstGeom prst="rect">
            <a:avLst/>
          </a:prstGeom>
          <a:solidFill>
            <a:srgbClr val="FDF4FF"/>
          </a:solidFill>
          <a:ln w="19050">
            <a:solidFill>
              <a:srgbClr val="D946EF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191256" y="3374136"/>
            <a:ext cx="2862072" cy="50292"/>
          </a:xfrm>
          <a:prstGeom prst="rect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3282696" y="3465576"/>
            <a:ext cx="256032" cy="256032"/>
          </a:xfrm>
          <a:prstGeom prst="ellipse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82696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93592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00984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/ workflows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Agent2Agent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08192" y="3374136"/>
            <a:ext cx="2862072" cy="1444752"/>
          </a:xfrm>
          <a:prstGeom prst="rect">
            <a:avLst/>
          </a:prstGeom>
          <a:solidFill>
            <a:srgbClr val="F0F9FF"/>
          </a:solidFill>
          <a:ln w="19050">
            <a:solidFill>
              <a:srgbClr val="0EA5E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108192" y="3374136"/>
            <a:ext cx="2862072" cy="502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6199632" y="346557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199632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510528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217920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Discord bot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025128" y="3374136"/>
            <a:ext cx="2862072" cy="1444752"/>
          </a:xfrm>
          <a:prstGeom prst="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9025128" y="3374136"/>
            <a:ext cx="2862072" cy="502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9116568" y="3465576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9116568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427464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9134856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testing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metrics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&amp; improve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PILLARS  —  WHAT MAKES IT AN AGENT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4320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11480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Decision-Making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11480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understands language, context, intent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11480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Goal-oriented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keeps track of objectives across steps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11480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revises plan when new info arrives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11480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decides next action without re-prompting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166616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4303776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Awareness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303776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pulls live info via tools and APIs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4303776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reads prior turns in the conversation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303776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stores and retrieves long-term facts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303776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tracks what has been done in this session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8058912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8196072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Usage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196072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 APIs, run code, read files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196072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connect any MCP-compatible server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196072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not decide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tools do work; LLM chooses which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8196072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chaining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multi-step sequences across tools</a:t>
            </a:r>
            <a:endParaRPr lang="en-US" sz="950" dirty="0"/>
          </a:p>
        </p:txBody>
      </p:sp>
      <p:sp>
        <p:nvSpPr>
          <p:cNvPr id="81" name="DefBg">
            <a:extLst>
              <a:ext uri="{FF2B5EF4-FFF2-40B4-BE49-F238E27FC236}">
                <a16:creationId xmlns:a16="http://schemas.microsoft.com/office/drawing/2014/main" id="{EDED5153-B7A8-D991-8B85-71C44F95CFF5}"/>
              </a:ext>
            </a:extLst>
          </p:cNvPr>
          <p:cNvSpPr>
            <a:spLocks noGrp="1"/>
          </p:cNvSpPr>
          <p:nvPr/>
        </p:nvSpPr>
        <p:spPr>
          <a:xfrm>
            <a:off x="338328" y="1060704"/>
            <a:ext cx="11717867" cy="493776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DefText">
            <a:extLst>
              <a:ext uri="{FF2B5EF4-FFF2-40B4-BE49-F238E27FC236}">
                <a16:creationId xmlns:a16="http://schemas.microsoft.com/office/drawing/2014/main" id="{CBADBFC5-465C-FD98-93B3-5C0C17F05B3C}"/>
              </a:ext>
            </a:extLst>
          </p:cNvPr>
          <p:cNvSpPr>
            <a:spLocks noGrp="1"/>
          </p:cNvSpPr>
          <p:nvPr/>
        </p:nvSpPr>
        <p:spPr>
          <a:xfrm>
            <a:off x="490728" y="1060704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00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and can be built in 8 steps</a:t>
            </a:r>
          </a:p>
        </p:txBody>
      </p:sp>
      <p:sp>
        <p:nvSpPr>
          <p:cNvPr id="83" name="Shape 35">
            <a:extLst>
              <a:ext uri="{FF2B5EF4-FFF2-40B4-BE49-F238E27FC236}">
                <a16:creationId xmlns:a16="http://schemas.microsoft.com/office/drawing/2014/main" id="{70FA2825-A0B4-B4EC-EC35-C70CB85CB4AA}"/>
              </a:ext>
            </a:extLst>
          </p:cNvPr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36">
            <a:extLst>
              <a:ext uri="{FF2B5EF4-FFF2-40B4-BE49-F238E27FC236}">
                <a16:creationId xmlns:a16="http://schemas.microsoft.com/office/drawing/2014/main" id="{D95ED862-AD71-9C20-D253-D06108159F75}"/>
              </a:ext>
            </a:extLst>
          </p:cNvPr>
          <p:cNvSpPr/>
          <p:nvPr/>
        </p:nvSpPr>
        <p:spPr>
          <a:xfrm>
            <a:off x="292608" y="6480048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89738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Abstractions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19456" y="749808"/>
            <a:ext cx="11804904" cy="539496"/>
          </a:xfrm>
          <a:prstGeom prst="rect">
            <a:avLst/>
          </a:prstGeom>
          <a:solidFill>
            <a:srgbClr val="EFF4FB"/>
          </a:solidFill>
          <a:ln w="15240">
            <a:solidFill>
              <a:srgbClr val="3B6CB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  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augmented with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perceive context, reason across steps, use tools, and act toward goals — all orchestrated by the Agent Framework.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335024"/>
            <a:ext cx="11878056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20" y="13441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ABSTRACTION  —  FIVE CONFIGURABLE LAYERS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9456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82880" y="1673352"/>
            <a:ext cx="2221992" cy="4663440"/>
          </a:xfrm>
          <a:prstGeom prst="rect">
            <a:avLst/>
          </a:prstGeom>
          <a:solidFill>
            <a:srgbClr val="EBF2FF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82880" y="1673352"/>
            <a:ext cx="222199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86968" y="1810512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929384"/>
            <a:ext cx="548640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56032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defining identity, persona, goals, and guardrails. Persists across every turn. The foundation of consistent agent behavior.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3959352"/>
            <a:ext cx="2039112" cy="0"/>
          </a:xfrm>
          <a:prstGeom prst="line">
            <a:avLst/>
          </a:prstGeom>
          <a:noFill/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274320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74320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agent role, tone &amp; scope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safety guardrails &amp; limits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domain knowledge &amp; rules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dynamic prompt injection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for traceability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256032" y="5513832"/>
            <a:ext cx="2075688" cy="713232"/>
          </a:xfrm>
          <a:prstGeom prst="rect">
            <a:avLst/>
          </a:prstGeom>
          <a:solidFill>
            <a:srgbClr val="1565C0">
              <a:alpha val="13000"/>
            </a:srgbClr>
          </a:solidFill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301752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"You are a customer support agent for Contoso. Always escalate billing issues to a human."</a:t>
            </a:r>
            <a:endParaRPr lang="en-US" sz="720" dirty="0"/>
          </a:p>
        </p:txBody>
      </p:sp>
      <p:sp>
        <p:nvSpPr>
          <p:cNvPr id="20" name="Shape 17"/>
          <p:cNvSpPr/>
          <p:nvPr/>
        </p:nvSpPr>
        <p:spPr>
          <a:xfrm>
            <a:off x="2624328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587752" y="1673352"/>
            <a:ext cx="2221992" cy="4663440"/>
          </a:xfrm>
          <a:prstGeom prst="rect">
            <a:avLst/>
          </a:prstGeom>
          <a:solidFill>
            <a:srgbClr val="E0F5F7"/>
          </a:solidFill>
          <a:ln w="1905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2587752" y="1673352"/>
            <a:ext cx="2221992" cy="5486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291840" y="1810512"/>
            <a:ext cx="822960" cy="822960"/>
          </a:xfrm>
          <a:prstGeom prst="ellipse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929384"/>
            <a:ext cx="548640" cy="5486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2660904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2679192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declarations and MCP servers the agent can invoke. Enables real-time actions — search, code execution, database reads, API calls.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679192" y="3959352"/>
            <a:ext cx="2039112" cy="0"/>
          </a:xfrm>
          <a:prstGeom prst="line">
            <a:avLst/>
          </a:prstGeom>
          <a:noFill/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4"/>
          <p:cNvSpPr/>
          <p:nvPr/>
        </p:nvSpPr>
        <p:spPr>
          <a:xfrm>
            <a:off x="2679192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679192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&amp; webhook integrations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interpreter &amp; file I/O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vector store queries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 for tool discovery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result handling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2660904" y="5513832"/>
            <a:ext cx="2075688" cy="713232"/>
          </a:xfrm>
          <a:prstGeom prst="rect">
            <a:avLst/>
          </a:prstGeom>
          <a:solidFill>
            <a:srgbClr val="00838F">
              <a:alpha val="13000"/>
            </a:srgbClr>
          </a:solidFill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2706624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search_web(), run_sql(), send_email(), get_calendar_events()</a:t>
            </a:r>
            <a:endParaRPr lang="en-US" sz="720" dirty="0"/>
          </a:p>
        </p:txBody>
      </p:sp>
      <p:sp>
        <p:nvSpPr>
          <p:cNvPr id="32" name="Shape 28"/>
          <p:cNvSpPr/>
          <p:nvPr/>
        </p:nvSpPr>
        <p:spPr>
          <a:xfrm>
            <a:off x="5029200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9"/>
          <p:cNvSpPr/>
          <p:nvPr/>
        </p:nvSpPr>
        <p:spPr>
          <a:xfrm>
            <a:off x="4992624" y="1673352"/>
            <a:ext cx="2221992" cy="4663440"/>
          </a:xfrm>
          <a:prstGeom prst="rect">
            <a:avLst/>
          </a:prstGeom>
          <a:solidFill>
            <a:srgbClr val="F3E8FF"/>
          </a:solidFill>
          <a:ln w="1905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0"/>
          <p:cNvSpPr/>
          <p:nvPr/>
        </p:nvSpPr>
        <p:spPr>
          <a:xfrm>
            <a:off x="4992624" y="1673352"/>
            <a:ext cx="2221992" cy="5486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1"/>
          <p:cNvSpPr/>
          <p:nvPr/>
        </p:nvSpPr>
        <p:spPr>
          <a:xfrm>
            <a:off x="5696712" y="1810512"/>
            <a:ext cx="822960" cy="8229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1929384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5065776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5084064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 and memory store. Gives the agent continuity and recall across turns within a session or across sessions.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5084064" y="3959352"/>
            <a:ext cx="2039112" cy="0"/>
          </a:xfrm>
          <a:prstGeom prst="line">
            <a:avLst/>
          </a:prstGeom>
          <a:noFill/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5"/>
          <p:cNvSpPr/>
          <p:nvPr/>
        </p:nvSpPr>
        <p:spPr>
          <a:xfrm>
            <a:off x="5084064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5084064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in-context chat history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external memory store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 via embeddings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isolation &amp; user scoping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management</a:t>
            </a:r>
            <a:endParaRPr lang="en-US" sz="780" dirty="0"/>
          </a:p>
        </p:txBody>
      </p:sp>
      <p:sp>
        <p:nvSpPr>
          <p:cNvPr id="42" name="Shape 37"/>
          <p:cNvSpPr/>
          <p:nvPr/>
        </p:nvSpPr>
        <p:spPr>
          <a:xfrm>
            <a:off x="5065776" y="5513832"/>
            <a:ext cx="2075688" cy="713232"/>
          </a:xfrm>
          <a:prstGeom prst="rect">
            <a:avLst/>
          </a:prstGeom>
          <a:solidFill>
            <a:srgbClr val="6A1B9A">
              <a:alpha val="13000"/>
            </a:srgbClr>
          </a:solidFill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38"/>
          <p:cNvSpPr/>
          <p:nvPr/>
        </p:nvSpPr>
        <p:spPr>
          <a:xfrm>
            <a:off x="5111496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Remembers user's project name and preferences across 10+ sessions</a:t>
            </a:r>
            <a:endParaRPr lang="en-US" sz="720" dirty="0"/>
          </a:p>
        </p:txBody>
      </p:sp>
      <p:sp>
        <p:nvSpPr>
          <p:cNvPr id="44" name="Shape 39"/>
          <p:cNvSpPr/>
          <p:nvPr/>
        </p:nvSpPr>
        <p:spPr>
          <a:xfrm>
            <a:off x="7434072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7397496" y="1673352"/>
            <a:ext cx="2221992" cy="4663440"/>
          </a:xfrm>
          <a:prstGeom prst="rect">
            <a:avLst/>
          </a:prstGeom>
          <a:solidFill>
            <a:srgbClr val="FFF3EE"/>
          </a:solidFill>
          <a:ln w="1905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1"/>
          <p:cNvSpPr/>
          <p:nvPr/>
        </p:nvSpPr>
        <p:spPr>
          <a:xfrm>
            <a:off x="7397496" y="1673352"/>
            <a:ext cx="2221992" cy="54864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2"/>
          <p:cNvSpPr/>
          <p:nvPr/>
        </p:nvSpPr>
        <p:spPr>
          <a:xfrm>
            <a:off x="8101584" y="1810512"/>
            <a:ext cx="822960" cy="822960"/>
          </a:xfrm>
          <a:prstGeom prst="ellipse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1929384"/>
            <a:ext cx="548640" cy="54864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7470648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7488936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interceptors for auth, rate-limiting, logging, and PII filtering. Applied before and after every LLM call.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7488936" y="3959352"/>
            <a:ext cx="2039112" cy="0"/>
          </a:xfrm>
          <a:prstGeom prst="line">
            <a:avLst/>
          </a:prstGeom>
          <a:noFill/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6"/>
          <p:cNvSpPr/>
          <p:nvPr/>
        </p:nvSpPr>
        <p:spPr>
          <a:xfrm>
            <a:off x="7488936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7488936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/ API key auth enforcement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quota control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&amp; data masking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audit logging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logic &amp; error handling</a:t>
            </a:r>
            <a:endParaRPr lang="en-US" sz="780" dirty="0"/>
          </a:p>
        </p:txBody>
      </p:sp>
      <p:sp>
        <p:nvSpPr>
          <p:cNvPr id="54" name="Shape 48"/>
          <p:cNvSpPr/>
          <p:nvPr/>
        </p:nvSpPr>
        <p:spPr>
          <a:xfrm>
            <a:off x="7470648" y="5513832"/>
            <a:ext cx="2075688" cy="713232"/>
          </a:xfrm>
          <a:prstGeom prst="rect">
            <a:avLst/>
          </a:prstGeom>
          <a:solidFill>
            <a:srgbClr val="BF360C">
              <a:alpha val="13000"/>
            </a:srgbClr>
          </a:solidFill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49"/>
          <p:cNvSpPr/>
          <p:nvPr/>
        </p:nvSpPr>
        <p:spPr>
          <a:xfrm>
            <a:off x="7516368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Strip credit card numbers from user input before sending to the LLM</a:t>
            </a:r>
            <a:endParaRPr lang="en-US" sz="720" dirty="0"/>
          </a:p>
        </p:txBody>
      </p:sp>
      <p:sp>
        <p:nvSpPr>
          <p:cNvPr id="56" name="Shape 50"/>
          <p:cNvSpPr/>
          <p:nvPr/>
        </p:nvSpPr>
        <p:spPr>
          <a:xfrm>
            <a:off x="9838944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1"/>
          <p:cNvSpPr/>
          <p:nvPr/>
        </p:nvSpPr>
        <p:spPr>
          <a:xfrm>
            <a:off x="9802368" y="1673352"/>
            <a:ext cx="2221992" cy="4663440"/>
          </a:xfrm>
          <a:prstGeom prst="rect">
            <a:avLst/>
          </a:prstGeom>
          <a:solidFill>
            <a:srgbClr val="EDFAEE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2"/>
          <p:cNvSpPr/>
          <p:nvPr/>
        </p:nvSpPr>
        <p:spPr>
          <a:xfrm>
            <a:off x="9802368" y="1673352"/>
            <a:ext cx="222199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3"/>
          <p:cNvSpPr/>
          <p:nvPr/>
        </p:nvSpPr>
        <p:spPr>
          <a:xfrm>
            <a:off x="10506456" y="1810512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3616" y="1929384"/>
            <a:ext cx="548640" cy="548640"/>
          </a:xfrm>
          <a:prstGeom prst="rect">
            <a:avLst/>
          </a:prstGeom>
        </p:spPr>
      </p:pic>
      <p:sp>
        <p:nvSpPr>
          <p:cNvPr id="61" name="Text 54"/>
          <p:cNvSpPr/>
          <p:nvPr/>
        </p:nvSpPr>
        <p:spPr>
          <a:xfrm>
            <a:off x="9875520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</a:t>
            </a:r>
            <a:endParaRPr lang="en-US" sz="1300" dirty="0"/>
          </a:p>
        </p:txBody>
      </p:sp>
      <p:sp>
        <p:nvSpPr>
          <p:cNvPr id="62" name="Text 55"/>
          <p:cNvSpPr/>
          <p:nvPr/>
        </p:nvSpPr>
        <p:spPr>
          <a:xfrm>
            <a:off x="9893808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model (GPT-4o, Claude, Gemini…). Swappable without changing agent logic — just update the provider config.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9893808" y="3959352"/>
            <a:ext cx="2039112" cy="0"/>
          </a:xfrm>
          <a:prstGeom prst="line">
            <a:avLst/>
          </a:prstGeom>
          <a:noFill/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57"/>
          <p:cNvSpPr/>
          <p:nvPr/>
        </p:nvSpPr>
        <p:spPr>
          <a:xfrm>
            <a:off x="9893808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9893808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aliasing &amp; versioning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chains for reliability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async completions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 for cost savings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 support</a:t>
            </a:r>
            <a:endParaRPr lang="en-US" sz="780" dirty="0"/>
          </a:p>
        </p:txBody>
      </p:sp>
      <p:sp>
        <p:nvSpPr>
          <p:cNvPr id="66" name="Shape 59"/>
          <p:cNvSpPr/>
          <p:nvPr/>
        </p:nvSpPr>
        <p:spPr>
          <a:xfrm>
            <a:off x="9875520" y="5513832"/>
            <a:ext cx="2075688" cy="713232"/>
          </a:xfrm>
          <a:prstGeom prst="rect">
            <a:avLst/>
          </a:prstGeom>
          <a:solidFill>
            <a:srgbClr val="2E7D32">
              <a:alpha val="13000"/>
            </a:srgbClr>
          </a:solidFill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0"/>
          <p:cNvSpPr/>
          <p:nvPr/>
        </p:nvSpPr>
        <p:spPr>
          <a:xfrm>
            <a:off x="9921240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Switch from GPT-4o to Claude 3.5 by changing one config value</a:t>
            </a:r>
            <a:endParaRPr lang="en-US" sz="72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B3A1BCC9-CBD2-BD52-3230-2F92B9BE4AAB}"/>
              </a:ext>
            </a:extLst>
          </p:cNvPr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FF9C74E3-4608-C84B-0A3C-0F28FF30081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Shape 4">
            <a:extLst>
              <a:ext uri="{FF2B5EF4-FFF2-40B4-BE49-F238E27FC236}">
                <a16:creationId xmlns:a16="http://schemas.microsoft.com/office/drawing/2014/main" id="{6CB8DDE5-8CEC-F0C2-2A42-F172AF04C81C}"/>
              </a:ext>
            </a:extLst>
          </p:cNvPr>
          <p:cNvSpPr/>
          <p:nvPr/>
        </p:nvSpPr>
        <p:spPr>
          <a:xfrm>
            <a:off x="160020" y="740664"/>
            <a:ext cx="59436" cy="5608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 · Public Preview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 (prerelease).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from Day One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</a:t>
            </a:r>
            <a:r>
              <a:rPr lang="en-US" sz="1307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MessageStore</a:t>
            </a:r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Pass the same Session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05984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and arguments decorated with [Description]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Middleware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Intercept, modify, and enhance agent interactions at every layer of execution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Middleware?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pipeline of functions that wrap agent runs, function calls, and LLM requests — enabling cross-cutting concerns without touching core logic.</a:t>
            </a: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39292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02792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3 Middleware Types — Execution Pipeline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20292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softEdge rad="12700"/>
          </a:effectLst>
        </p:spPr>
        <p:txBody>
          <a:bodyPr vert="horz" lIns="91440" tIns="45720" rIns="91440" bIns="45720" anchor="ctr"/>
          <a:lstStyle/>
          <a:p>
            <a:pPr algn="ctr"/>
            <a:r>
              <a:rPr lang="en-US" sz="933" b="1">
                <a:solidFill>
                  <a:srgbClr val="FFFFFF"/>
                </a:solidFill>
                <a:latin typeface="Calibri" pitchFamily="34" charset="0"/>
              </a:rPr>
              <a:t>Agent
Middleware</a:t>
            </a:r>
            <a:endParaRPr lang="en-US" sz="933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20292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Function
Middleware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20292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Chat
Middleware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20292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
Call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20292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Response
Returned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171376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Agent Run Middleware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Outermost layer — fires once per agent turn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Wraps entire run: inspect inputs &amp; outputs end-to-end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Implement via .Use() delegate or IAgentMiddleware class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171376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&amp; Chat Middleware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Function MW: intercepts every tool call — validate, transform, block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Chat MW: intercepts raw LLM requests — inspect messages &amp; responses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All types support function-based and class-based (.NET) styles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32584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32584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545284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🔗 Chain Order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Registered order = execution order in chain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⛔ Early Termination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Skip call_next() to short-circuit pipeline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Block sensitive inputs before they reach the LLM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🧩 Composability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Stack multiple middleware via builder pattern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learn.microsoft.com/en-us/agent-framework/agents/middleware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Middleware?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Logging &amp; observability: trace every turn and tool call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Security validation: block or transform inputs before they reach the agent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Error handling &amp; rate limiting: control flow without changing business logic</a:t>
            </a:r>
          </a:p>
        </p:txBody>
      </p:sp>
    </p:spTree>
    <p:extLst>
      <p:ext uri="{BB962C8B-B14F-4D97-AF65-F5344CB8AC3E}">
        <p14:creationId xmlns:p14="http://schemas.microsoft.com/office/powerpoint/2010/main" val="740217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 Skills are a lightweight, open format for extending AI agent capabilities with </a:t>
            </a:r>
            <a:r>
              <a:rPr lang="en-US" sz="1000" dirty="0" err="1">
                <a:solidFill>
                  <a:srgbClr val="4A5568"/>
                </a:solidFill>
                <a:latin typeface="Calibri" pitchFamily="34" charset="0"/>
              </a:rPr>
              <a:t>specialised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knowledge and workflows. A folder of instructions, scripts, and resources that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3469899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3355599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3949700" y="4264152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3956812" y="4264152"/>
            <a:ext cx="3534156" cy="45719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4127500" y="4416552"/>
            <a:ext cx="3269996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4127500" y="4721352"/>
            <a:ext cx="3269996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  <p:sp>
        <p:nvSpPr>
          <p:cNvPr id="9" name="WireBg">
            <a:extLst>
              <a:ext uri="{FF2B5EF4-FFF2-40B4-BE49-F238E27FC236}">
                <a16:creationId xmlns:a16="http://schemas.microsoft.com/office/drawing/2014/main" id="{CDA53953-F4BD-EB4B-C2A2-5F1804CAF8B6}"/>
              </a:ext>
            </a:extLst>
          </p:cNvPr>
          <p:cNvSpPr>
            <a:spLocks noGrp="1"/>
          </p:cNvSpPr>
          <p:nvPr/>
        </p:nvSpPr>
        <p:spPr>
          <a:xfrm>
            <a:off x="7668768" y="4270756"/>
            <a:ext cx="3534156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" name="WireAccent">
            <a:extLst>
              <a:ext uri="{FF2B5EF4-FFF2-40B4-BE49-F238E27FC236}">
                <a16:creationId xmlns:a16="http://schemas.microsoft.com/office/drawing/2014/main" id="{FAF633CF-1095-31B5-5601-2C20A9D04E72}"/>
              </a:ext>
            </a:extLst>
          </p:cNvPr>
          <p:cNvSpPr>
            <a:spLocks noGrp="1"/>
          </p:cNvSpPr>
          <p:nvPr/>
        </p:nvSpPr>
        <p:spPr>
          <a:xfrm>
            <a:off x="7675880" y="4270756"/>
            <a:ext cx="3534156" cy="45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" name="WireTitle">
            <a:extLst>
              <a:ext uri="{FF2B5EF4-FFF2-40B4-BE49-F238E27FC236}">
                <a16:creationId xmlns:a16="http://schemas.microsoft.com/office/drawing/2014/main" id="{E50DDCC4-D089-BBDF-10D5-08CE1481266A}"/>
              </a:ext>
            </a:extLst>
          </p:cNvPr>
          <p:cNvSpPr>
            <a:spLocks noGrp="1"/>
          </p:cNvSpPr>
          <p:nvPr/>
        </p:nvSpPr>
        <p:spPr>
          <a:xfrm>
            <a:off x="7800848" y="4394200"/>
            <a:ext cx="3269996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Skill 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E9EF72-96B0-8619-8C25-0D3B62C59FE0}"/>
              </a:ext>
            </a:extLst>
          </p:cNvPr>
          <p:cNvSpPr txBox="1"/>
          <p:nvPr/>
        </p:nvSpPr>
        <p:spPr>
          <a:xfrm>
            <a:off x="7835900" y="4598705"/>
            <a:ext cx="3280664" cy="915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my-skill/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SKILL.md          # Required: instructions + metadata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scripts/          # Optional: executable code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├── references/       # Optional: documentation</a:t>
            </a:r>
          </a:p>
          <a:p>
            <a:r>
              <a:rPr lang="en-IN" sz="107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└── assets/           # Optional: templates, resources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>
            <a:spLocks noGrp="1"/>
          </p:cNvSpPr>
          <p:nvPr/>
        </p:nvSpPr>
        <p:spPr>
          <a:xfrm>
            <a:off x="0" y="0"/>
            <a:ext cx="266700" cy="1066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 txBox="1">
            <a:spLocks noGrp="1"/>
          </p:cNvSpPr>
          <p:nvPr/>
        </p:nvSpPr>
        <p:spPr>
          <a:xfrm>
            <a:off x="546100" y="101600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Agent Tools  vs.  Agent Skills</a:t>
            </a:r>
          </a:p>
        </p:txBody>
      </p:sp>
      <p:sp>
        <p:nvSpPr>
          <p:cNvPr id="103" name="Subtitle"/>
          <p:cNvSpPr txBox="1">
            <a:spLocks noGrp="1"/>
          </p:cNvSpPr>
          <p:nvPr/>
        </p:nvSpPr>
        <p:spPr>
          <a:xfrm>
            <a:off x="546100" y="685800"/>
            <a:ext cx="11087100" cy="304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 lnSpcReduction="10000"/>
          </a:bodyPr>
          <a:lstStyle/>
          <a:p>
            <a:pPr>
              <a:buNone/>
            </a:pPr>
            <a:r>
              <a:rPr lang="en-US" sz="1400" i="1" dirty="0">
                <a:solidFill>
                  <a:srgbClr val="C7E0F4"/>
                </a:solidFill>
                <a:latin typeface="Calibri" pitchFamily="34" charset="0"/>
              </a:rPr>
              <a:t>Two complementary building blocks — understanding when to use each</a:t>
            </a:r>
          </a:p>
        </p:txBody>
      </p:sp>
      <p:sp>
        <p:nvSpPr>
          <p:cNvPr id="120" name="LColHdr"/>
          <p:cNvSpPr>
            <a:spLocks noGrp="1"/>
          </p:cNvSpPr>
          <p:nvPr/>
        </p:nvSpPr>
        <p:spPr>
          <a:xfrm>
            <a:off x="346996" y="1778000"/>
            <a:ext cx="5537200" cy="279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LColHdrTxt"/>
          <p:cNvSpPr txBox="1">
            <a:spLocks noGrp="1"/>
          </p:cNvSpPr>
          <p:nvPr/>
        </p:nvSpPr>
        <p:spPr>
          <a:xfrm>
            <a:off x="-1574230" y="179832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⚙  AGENT TOOLS — the verbs</a:t>
            </a:r>
          </a:p>
        </p:txBody>
      </p:sp>
      <p:sp>
        <p:nvSpPr>
          <p:cNvPr id="122" name="RColHdr"/>
          <p:cNvSpPr>
            <a:spLocks noGrp="1"/>
          </p:cNvSpPr>
          <p:nvPr/>
        </p:nvSpPr>
        <p:spPr>
          <a:xfrm>
            <a:off x="6286500" y="1778000"/>
            <a:ext cx="5537200" cy="279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RColHdrTxt"/>
          <p:cNvSpPr txBox="1">
            <a:spLocks noGrp="1"/>
          </p:cNvSpPr>
          <p:nvPr/>
        </p:nvSpPr>
        <p:spPr>
          <a:xfrm>
            <a:off x="4503420" y="178816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📋  AGENT SKILLS — the expertise</a:t>
            </a:r>
          </a:p>
        </p:txBody>
      </p:sp>
      <p:sp>
        <p:nvSpPr>
          <p:cNvPr id="200" name="LBg0"/>
          <p:cNvSpPr>
            <a:spLocks noGrp="1"/>
          </p:cNvSpPr>
          <p:nvPr/>
        </p:nvSpPr>
        <p:spPr>
          <a:xfrm>
            <a:off x="342900" y="2070100"/>
            <a:ext cx="5537200" cy="9398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LAcc0"/>
          <p:cNvSpPr>
            <a:spLocks noGrp="1"/>
          </p:cNvSpPr>
          <p:nvPr/>
        </p:nvSpPr>
        <p:spPr>
          <a:xfrm>
            <a:off x="342900" y="207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Tx0"/>
          <p:cNvSpPr txBox="1">
            <a:spLocks noGrp="1"/>
          </p:cNvSpPr>
          <p:nvPr/>
        </p:nvSpPr>
        <p:spPr>
          <a:xfrm>
            <a:off x="431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discrete capability the agent can directly invoke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One atomic action: API call, file read, search, or calculation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Stateless — no memory or logic about when to use itself</a:t>
            </a:r>
          </a:p>
        </p:txBody>
      </p:sp>
      <p:sp>
        <p:nvSpPr>
          <p:cNvPr id="203" name="RBg0"/>
          <p:cNvSpPr>
            <a:spLocks noGrp="1"/>
          </p:cNvSpPr>
          <p:nvPr/>
        </p:nvSpPr>
        <p:spPr>
          <a:xfrm>
            <a:off x="6311900" y="2070100"/>
            <a:ext cx="5537200" cy="9398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RAcc0"/>
          <p:cNvSpPr>
            <a:spLocks noGrp="1"/>
          </p:cNvSpPr>
          <p:nvPr/>
        </p:nvSpPr>
        <p:spPr>
          <a:xfrm>
            <a:off x="6292236" y="207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RTx0"/>
          <p:cNvSpPr txBox="1">
            <a:spLocks noGrp="1"/>
          </p:cNvSpPr>
          <p:nvPr/>
        </p:nvSpPr>
        <p:spPr>
          <a:xfrm>
            <a:off x="6400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SKILL.md playbook the agent reads before tackling a task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Encodes expert best-practices: which tools to call and in what order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Not invoked like a tool — consulted like a guide</a:t>
            </a:r>
          </a:p>
        </p:txBody>
      </p:sp>
      <p:sp>
        <p:nvSpPr>
          <p:cNvPr id="206" name="LBg1"/>
          <p:cNvSpPr>
            <a:spLocks noGrp="1"/>
          </p:cNvSpPr>
          <p:nvPr/>
        </p:nvSpPr>
        <p:spPr>
          <a:xfrm>
            <a:off x="342900" y="3048000"/>
            <a:ext cx="5537200" cy="7620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LAcc1"/>
          <p:cNvSpPr>
            <a:spLocks noGrp="1"/>
          </p:cNvSpPr>
          <p:nvPr/>
        </p:nvSpPr>
        <p:spPr>
          <a:xfrm>
            <a:off x="342900" y="30480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Tx1"/>
          <p:cNvSpPr txBox="1">
            <a:spLocks noGrp="1"/>
          </p:cNvSpPr>
          <p:nvPr/>
        </p:nvSpPr>
        <p:spPr>
          <a:xfrm>
            <a:off x="431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picks a tool, sends parameters, and gets a result back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Direct invocation — one call, one result, done</a:t>
            </a:r>
          </a:p>
        </p:txBody>
      </p:sp>
      <p:sp>
        <p:nvSpPr>
          <p:cNvPr id="209" name="RBg1"/>
          <p:cNvSpPr>
            <a:spLocks noGrp="1"/>
          </p:cNvSpPr>
          <p:nvPr/>
        </p:nvSpPr>
        <p:spPr>
          <a:xfrm>
            <a:off x="6311900" y="3048000"/>
            <a:ext cx="5537200" cy="7620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RAcc1"/>
          <p:cNvSpPr>
            <a:spLocks noGrp="1"/>
          </p:cNvSpPr>
          <p:nvPr/>
        </p:nvSpPr>
        <p:spPr>
          <a:xfrm>
            <a:off x="6311900" y="30480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RTx1"/>
          <p:cNvSpPr txBox="1">
            <a:spLocks noGrp="1"/>
          </p:cNvSpPr>
          <p:nvPr/>
        </p:nvSpPr>
        <p:spPr>
          <a:xfrm>
            <a:off x="6400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reads the SKILL.md first, then chains tools following that guide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May sequence: bash_tool → create_file → execute → present_files</a:t>
            </a:r>
          </a:p>
        </p:txBody>
      </p:sp>
      <p:sp>
        <p:nvSpPr>
          <p:cNvPr id="212" name="LBg2"/>
          <p:cNvSpPr>
            <a:spLocks noGrp="1"/>
          </p:cNvSpPr>
          <p:nvPr/>
        </p:nvSpPr>
        <p:spPr>
          <a:xfrm>
            <a:off x="342900" y="3848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LAcc2"/>
          <p:cNvSpPr>
            <a:spLocks noGrp="1"/>
          </p:cNvSpPr>
          <p:nvPr/>
        </p:nvSpPr>
        <p:spPr>
          <a:xfrm>
            <a:off x="342900" y="3848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Tx2"/>
          <p:cNvSpPr txBox="1">
            <a:spLocks noGrp="1"/>
          </p:cNvSpPr>
          <p:nvPr/>
        </p:nvSpPr>
        <p:spPr>
          <a:xfrm>
            <a:off x="431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Atomic — one action, one result. No internal memory or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a library function — does exactly one thing</a:t>
            </a:r>
          </a:p>
        </p:txBody>
      </p:sp>
      <p:sp>
        <p:nvSpPr>
          <p:cNvPr id="215" name="RBg2"/>
          <p:cNvSpPr>
            <a:spLocks noGrp="1"/>
          </p:cNvSpPr>
          <p:nvPr/>
        </p:nvSpPr>
        <p:spPr>
          <a:xfrm>
            <a:off x="6311900" y="3848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RAcc2"/>
          <p:cNvSpPr>
            <a:spLocks noGrp="1"/>
          </p:cNvSpPr>
          <p:nvPr/>
        </p:nvSpPr>
        <p:spPr>
          <a:xfrm>
            <a:off x="6311900" y="3848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RTx2"/>
          <p:cNvSpPr txBox="1">
            <a:spLocks noGrp="1"/>
          </p:cNvSpPr>
          <p:nvPr/>
        </p:nvSpPr>
        <p:spPr>
          <a:xfrm>
            <a:off x="6400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Composite — orchestrates multiple tools with embedded expert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design patterns that show how to combine the functions</a:t>
            </a:r>
          </a:p>
        </p:txBody>
      </p:sp>
      <p:sp>
        <p:nvSpPr>
          <p:cNvPr id="218" name="LBg3"/>
          <p:cNvSpPr>
            <a:spLocks noGrp="1"/>
          </p:cNvSpPr>
          <p:nvPr/>
        </p:nvSpPr>
        <p:spPr>
          <a:xfrm>
            <a:off x="342900" y="4610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LAcc3"/>
          <p:cNvSpPr>
            <a:spLocks noGrp="1"/>
          </p:cNvSpPr>
          <p:nvPr/>
        </p:nvSpPr>
        <p:spPr>
          <a:xfrm>
            <a:off x="342900" y="461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Tx3"/>
          <p:cNvSpPr txBox="1">
            <a:spLocks noGrp="1"/>
          </p:cNvSpPr>
          <p:nvPr/>
        </p:nvSpPr>
        <p:spPr>
          <a:xfrm>
            <a:off x="431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web_search · run_code · send_email · read_file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bash_tool · create_file · call_api · present_files</a:t>
            </a:r>
          </a:p>
        </p:txBody>
      </p:sp>
      <p:sp>
        <p:nvSpPr>
          <p:cNvPr id="221" name="RBg3"/>
          <p:cNvSpPr>
            <a:spLocks noGrp="1"/>
          </p:cNvSpPr>
          <p:nvPr/>
        </p:nvSpPr>
        <p:spPr>
          <a:xfrm>
            <a:off x="6311900" y="4610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RAcc3"/>
          <p:cNvSpPr>
            <a:spLocks noGrp="1"/>
          </p:cNvSpPr>
          <p:nvPr/>
        </p:nvSpPr>
        <p:spPr>
          <a:xfrm>
            <a:off x="6311900" y="461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RTx3"/>
          <p:cNvSpPr txBox="1">
            <a:spLocks noGrp="1"/>
          </p:cNvSpPr>
          <p:nvPr/>
        </p:nvSpPr>
        <p:spPr>
          <a:xfrm>
            <a:off x="6400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docx skill · pptx skill · pdf skill · xlsx skill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frontend-design skill · competitive-analysis skill</a:t>
            </a:r>
          </a:p>
        </p:txBody>
      </p:sp>
      <p:sp>
        <p:nvSpPr>
          <p:cNvPr id="224" name="LBg4"/>
          <p:cNvSpPr>
            <a:spLocks noGrp="1"/>
          </p:cNvSpPr>
          <p:nvPr/>
        </p:nvSpPr>
        <p:spPr>
          <a:xfrm>
            <a:off x="342900" y="5372100"/>
            <a:ext cx="5537200" cy="7874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5" name="LAcc4"/>
          <p:cNvSpPr>
            <a:spLocks noGrp="1"/>
          </p:cNvSpPr>
          <p:nvPr/>
        </p:nvSpPr>
        <p:spPr>
          <a:xfrm>
            <a:off x="342900" y="5372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6" name="LTx4"/>
          <p:cNvSpPr txBox="1">
            <a:spLocks noGrp="1"/>
          </p:cNvSpPr>
          <p:nvPr/>
        </p:nvSpPr>
        <p:spPr>
          <a:xfrm>
            <a:off x="431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one concrete action: search, write, delete, send, read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Output is data or a side-effect — not guidance</a:t>
            </a:r>
          </a:p>
        </p:txBody>
      </p:sp>
      <p:sp>
        <p:nvSpPr>
          <p:cNvPr id="227" name="RBg4"/>
          <p:cNvSpPr>
            <a:spLocks noGrp="1"/>
          </p:cNvSpPr>
          <p:nvPr/>
        </p:nvSpPr>
        <p:spPr>
          <a:xfrm>
            <a:off x="6311900" y="5372100"/>
            <a:ext cx="5537200" cy="7874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8" name="RAcc4"/>
          <p:cNvSpPr>
            <a:spLocks noGrp="1"/>
          </p:cNvSpPr>
          <p:nvPr/>
        </p:nvSpPr>
        <p:spPr>
          <a:xfrm>
            <a:off x="6311900" y="5372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9" name="RTx4"/>
          <p:cNvSpPr txBox="1">
            <a:spLocks noGrp="1"/>
          </p:cNvSpPr>
          <p:nvPr/>
        </p:nvSpPr>
        <p:spPr>
          <a:xfrm>
            <a:off x="6400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quality output for a known task category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The skill encodes hard-won best-practices so you don't reinvent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" name="RelBg"/>
          <p:cNvSpPr>
            <a:spLocks noGrp="1"/>
          </p:cNvSpPr>
          <p:nvPr/>
        </p:nvSpPr>
        <p:spPr>
          <a:xfrm>
            <a:off x="317500" y="1114425"/>
            <a:ext cx="11518900" cy="5842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RelBar"/>
          <p:cNvSpPr>
            <a:spLocks noGrp="1"/>
          </p:cNvSpPr>
          <p:nvPr/>
        </p:nvSpPr>
        <p:spPr>
          <a:xfrm>
            <a:off x="330200" y="1120775"/>
            <a:ext cx="88900" cy="584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RelTxt"/>
          <p:cNvSpPr txBox="1">
            <a:spLocks noGrp="1"/>
          </p:cNvSpPr>
          <p:nvPr/>
        </p:nvSpPr>
        <p:spPr>
          <a:xfrm>
            <a:off x="361950" y="1139825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>
              <a:buNone/>
            </a:pP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The relationship: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Skills orchestrate Tools — a skill tells the agent which tools to invoke, in what order, and how to handle pitfalls. Skills provide strategy; Tools provide execution.</a:t>
            </a:r>
          </a:p>
        </p:txBody>
      </p:sp>
      <p:sp>
        <p:nvSpPr>
          <p:cNvPr id="310" name="VsBadgeBg"/>
          <p:cNvSpPr>
            <a:spLocks noGrp="1"/>
          </p:cNvSpPr>
          <p:nvPr/>
        </p:nvSpPr>
        <p:spPr>
          <a:xfrm>
            <a:off x="5905500" y="3924300"/>
            <a:ext cx="381000" cy="381000"/>
          </a:xfrm>
          <a:prstGeom prst="ellipse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VsBadgeTxt"/>
          <p:cNvSpPr txBox="1">
            <a:spLocks noGrp="1"/>
          </p:cNvSpPr>
          <p:nvPr/>
        </p:nvSpPr>
        <p:spPr>
          <a:xfrm>
            <a:off x="5905500" y="39243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8B1079DF-1437-CA09-F414-610370332EF3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612284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is Retrieval-Augmented Generation?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Combining LLMs with real-time retrieval to deliver accurate, grounded, up-to-date responses</a:t>
            </a:r>
          </a:p>
        </p:txBody>
      </p:sp>
      <p:sp>
        <p:nvSpPr>
          <p:cNvPr id="6" name="IntroBand"/>
          <p:cNvSpPr/>
          <p:nvPr/>
        </p:nvSpPr>
        <p:spPr>
          <a:xfrm>
            <a:off x="341376" y="1219200"/>
            <a:ext cx="11509248" cy="39014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lIns="91440" tIns="45720" rIns="91440" bIns="45720" rtlCol="0" anchor="ctr"/>
          <a:lstStyle/>
          <a:p>
            <a:pPr defTabSz="1219170"/>
            <a:r>
              <a:rPr lang="en-US" sz="1267" dirty="0">
                <a:solidFill>
                  <a:srgbClr val="0F1F3D"/>
                </a:solidFill>
                <a:latin typeface="Calibri" pitchFamily="34" charset="0"/>
              </a:rPr>
              <a:t>A RAG agent performs three core steps: retrieving supporting data, augmenting the prompt with that context, and generating a grounded response. It excels at proprietary, frequently-changing, or domain-specific knowledge.</a:t>
            </a:r>
          </a:p>
        </p:txBody>
      </p:sp>
      <p:sp>
        <p:nvSpPr>
          <p:cNvPr id="10" name="Card1Bg"/>
          <p:cNvSpPr/>
          <p:nvPr/>
        </p:nvSpPr>
        <p:spPr>
          <a:xfrm>
            <a:off x="341376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Card1TopBar"/>
          <p:cNvSpPr/>
          <p:nvPr/>
        </p:nvSpPr>
        <p:spPr>
          <a:xfrm>
            <a:off x="341376" y="1706880"/>
            <a:ext cx="370656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Card1Circle"/>
          <p:cNvSpPr/>
          <p:nvPr/>
        </p:nvSpPr>
        <p:spPr>
          <a:xfrm>
            <a:off x="560832" y="193852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3" name="Card1Title"/>
          <p:cNvSpPr/>
          <p:nvPr/>
        </p:nvSpPr>
        <p:spPr>
          <a:xfrm>
            <a:off x="1463040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Retrieve</a:t>
            </a:r>
          </a:p>
        </p:txBody>
      </p:sp>
      <p:sp>
        <p:nvSpPr>
          <p:cNvPr id="14" name="Card1Body"/>
          <p:cNvSpPr/>
          <p:nvPr/>
        </p:nvSpPr>
        <p:spPr>
          <a:xfrm>
            <a:off x="512064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Supporting Data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User request queries an external knowledge base (vector store, keyword search, or SQL DB) to retrieve context for the LLM response.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Sources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PDFs, wikis, tickets, logs, code, tables, APIs, SQL databases</a:t>
            </a:r>
          </a:p>
        </p:txBody>
      </p:sp>
      <p:sp>
        <p:nvSpPr>
          <p:cNvPr id="20" name="Card2Bg"/>
          <p:cNvSpPr/>
          <p:nvPr/>
        </p:nvSpPr>
        <p:spPr>
          <a:xfrm>
            <a:off x="4243200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Card2TopBar"/>
          <p:cNvSpPr/>
          <p:nvPr/>
        </p:nvSpPr>
        <p:spPr>
          <a:xfrm>
            <a:off x="4243200" y="1706880"/>
            <a:ext cx="370656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Card2Circle"/>
          <p:cNvSpPr/>
          <p:nvPr/>
        </p:nvSpPr>
        <p:spPr>
          <a:xfrm>
            <a:off x="4462656" y="193852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3" name="Card2Title"/>
          <p:cNvSpPr/>
          <p:nvPr/>
        </p:nvSpPr>
        <p:spPr>
          <a:xfrm>
            <a:off x="5364864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Augment</a:t>
            </a:r>
          </a:p>
        </p:txBody>
      </p:sp>
      <p:sp>
        <p:nvSpPr>
          <p:cNvPr id="24" name="Card2Body"/>
          <p:cNvSpPr/>
          <p:nvPr/>
        </p:nvSpPr>
        <p:spPr>
          <a:xfrm>
            <a:off x="4413888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Enriched Prompt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Retrieved data is combined with the original user request via a template to create a knowledge-enhanced prompt for the LLM.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Format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Prompt template + supporting chunks + metadata + formatting instructions</a:t>
            </a:r>
          </a:p>
        </p:txBody>
      </p:sp>
      <p:sp>
        <p:nvSpPr>
          <p:cNvPr id="30" name="Card3Bg"/>
          <p:cNvSpPr/>
          <p:nvPr/>
        </p:nvSpPr>
        <p:spPr>
          <a:xfrm>
            <a:off x="8145024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ard3TopBar"/>
          <p:cNvSpPr/>
          <p:nvPr/>
        </p:nvSpPr>
        <p:spPr>
          <a:xfrm>
            <a:off x="8145024" y="1706880"/>
            <a:ext cx="370656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ard3Circle"/>
          <p:cNvSpPr/>
          <p:nvPr/>
        </p:nvSpPr>
        <p:spPr>
          <a:xfrm>
            <a:off x="8364480" y="1938528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3" name="Card3Title"/>
          <p:cNvSpPr/>
          <p:nvPr/>
        </p:nvSpPr>
        <p:spPr>
          <a:xfrm>
            <a:off x="9266688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34" name="Card3Body"/>
          <p:cNvSpPr/>
          <p:nvPr/>
        </p:nvSpPr>
        <p:spPr>
          <a:xfrm>
            <a:off x="8315712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Grounded Response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The augmented prompt is passed to the LLM, which uses retrieved context to generate an accurate, cited, verifiable answer to the user request.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Grounding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Reduces hallucinations; cite sources, flag uncertainty via system prompt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RAG Is (and Isn’t)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RAG is a focused tool, not a complete AI system — understanding the boundaries helps you use it right</a:t>
            </a:r>
          </a:p>
        </p:txBody>
      </p:sp>
      <p:sp>
        <p:nvSpPr>
          <p:cNvPr id="10" name="LeftPanelBg"/>
          <p:cNvSpPr/>
          <p:nvPr/>
        </p:nvSpPr>
        <p:spPr>
          <a:xfrm>
            <a:off x="341376" y="1280160"/>
            <a:ext cx="5571072" cy="52007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LeftTopBar"/>
          <p:cNvSpPr/>
          <p:nvPr/>
        </p:nvSpPr>
        <p:spPr>
          <a:xfrm>
            <a:off x="341376" y="1280160"/>
            <a:ext cx="5571072" cy="85344"/>
          </a:xfrm>
          <a:prstGeom prst="rect">
            <a:avLst/>
          </a:prstGeom>
          <a:solidFill>
            <a:srgbClr val="FF444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LeftHeading"/>
          <p:cNvSpPr/>
          <p:nvPr/>
        </p:nvSpPr>
        <p:spPr>
          <a:xfrm>
            <a:off x="512064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RAG Is NOT</a:t>
            </a:r>
          </a:p>
        </p:txBody>
      </p:sp>
      <p:sp>
        <p:nvSpPr>
          <p:cNvPr id="13" name="LeftItems"/>
          <p:cNvSpPr/>
          <p:nvPr/>
        </p:nvSpPr>
        <p:spPr>
          <a:xfrm>
            <a:off x="512064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Model Training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Unlike fine-tuning or pretraining, RAG keeps the model unchanged — it supplements it with fresh context at query time, not permanent weight updates.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Generic Web Search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RAG targets your private data ecosystem — documents, tickets, code, logs — with strict security, access controls, and compliance, not the open web.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A Complete Agent System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Agents coordinate tools, databases, code execution, and APIs. RAG is one crucial tool in that toolkit, not the orchestration layer itself.</a:t>
            </a:r>
          </a:p>
        </p:txBody>
      </p:sp>
      <p:sp>
        <p:nvSpPr>
          <p:cNvPr id="20" name="RightPanelBg"/>
          <p:cNvSpPr/>
          <p:nvPr/>
        </p:nvSpPr>
        <p:spPr>
          <a:xfrm>
            <a:off x="6279552" y="1280160"/>
            <a:ext cx="5571072" cy="5200704"/>
          </a:xfrm>
          <a:prstGeom prst="rect">
            <a:avLst/>
          </a:prstGeom>
          <a:solidFill>
            <a:srgbClr val="1E1E2E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RightTopBar"/>
          <p:cNvSpPr/>
          <p:nvPr/>
        </p:nvSpPr>
        <p:spPr>
          <a:xfrm>
            <a:off x="6279552" y="1280160"/>
            <a:ext cx="5571072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RightHeading"/>
          <p:cNvSpPr/>
          <p:nvPr/>
        </p:nvSpPr>
        <p:spPr>
          <a:xfrm>
            <a:off x="6449952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0CC6A"/>
                </a:solidFill>
                <a:latin typeface="Calibri" pitchFamily="34" charset="0"/>
              </a:rPr>
              <a:t>RAG Shines When…</a:t>
            </a:r>
          </a:p>
        </p:txBody>
      </p:sp>
      <p:sp>
        <p:nvSpPr>
          <p:cNvPr id="23" name="RightItems"/>
          <p:cNvSpPr/>
          <p:nvPr/>
        </p:nvSpPr>
        <p:spPr>
          <a:xfrm>
            <a:off x="6449952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Knowledge Evolves Regularly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Documentation, policies, product versions, and support content change faster than you can retrain a model.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Content Exceeds Context Window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More content than can fit in a single prompt — RAG retrieves only what is relevant, keeping costs and latency in check.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Traceable, Cited Answers Required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Responses must reference source material — audit trails, compliance, and user trust demand verifiable, grounded answers.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RAG Components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Four interconnected layers that take enterprise data from ingestion through grounded response generation</a:t>
            </a:r>
          </a:p>
        </p:txBody>
      </p:sp>
      <p:sp>
        <p:nvSpPr>
          <p:cNvPr id="10" name="FlowLabel"/>
          <p:cNvSpPr/>
          <p:nvPr/>
        </p:nvSpPr>
        <p:spPr>
          <a:xfrm>
            <a:off x="338667" y="1280160"/>
            <a:ext cx="11514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RAG PIPELINE END-TO-END</a:t>
            </a:r>
          </a:p>
        </p:txBody>
      </p:sp>
      <p:sp>
        <p:nvSpPr>
          <p:cNvPr id="11" name="Flow1"/>
          <p:cNvSpPr/>
          <p:nvPr/>
        </p:nvSpPr>
        <p:spPr>
          <a:xfrm>
            <a:off x="338667" y="1609600"/>
            <a:ext cx="1422400" cy="685800"/>
          </a:xfrm>
          <a:prstGeom prst="rect">
            <a:avLst/>
          </a:prstGeom>
          <a:solidFill>
            <a:srgbClr val="0F1F3D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Enterprise</a:t>
            </a:r>
          </a:p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Data</a:t>
            </a:r>
          </a:p>
        </p:txBody>
      </p:sp>
      <p:sp>
        <p:nvSpPr>
          <p:cNvPr id="12" name="Arr1"/>
          <p:cNvSpPr/>
          <p:nvPr/>
        </p:nvSpPr>
        <p:spPr>
          <a:xfrm>
            <a:off x="1828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Flow2"/>
          <p:cNvSpPr/>
          <p:nvPr/>
        </p:nvSpPr>
        <p:spPr>
          <a:xfrm>
            <a:off x="2057400" y="1609600"/>
            <a:ext cx="1676400" cy="685800"/>
          </a:xfrm>
          <a:prstGeom prst="rect">
            <a:avLst/>
          </a:prstGeom>
          <a:solidFill>
            <a:srgbClr val="0078D4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Data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Pipeline</a:t>
            </a:r>
          </a:p>
        </p:txBody>
      </p:sp>
      <p:sp>
        <p:nvSpPr>
          <p:cNvPr id="14" name="Arr2"/>
          <p:cNvSpPr/>
          <p:nvPr/>
        </p:nvSpPr>
        <p:spPr>
          <a:xfrm>
            <a:off x="38100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Flow3"/>
          <p:cNvSpPr/>
          <p:nvPr/>
        </p:nvSpPr>
        <p:spPr>
          <a:xfrm>
            <a:off x="4114800" y="1609600"/>
            <a:ext cx="1524000" cy="685800"/>
          </a:xfrm>
          <a:prstGeom prst="rect">
            <a:avLst/>
          </a:prstGeom>
          <a:solidFill>
            <a:srgbClr val="00B4D8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Vector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Index</a:t>
            </a:r>
          </a:p>
        </p:txBody>
      </p:sp>
      <p:sp>
        <p:nvSpPr>
          <p:cNvPr id="16" name="Arr3"/>
          <p:cNvSpPr/>
          <p:nvPr/>
        </p:nvSpPr>
        <p:spPr>
          <a:xfrm>
            <a:off x="5714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Flow4"/>
          <p:cNvSpPr/>
          <p:nvPr/>
        </p:nvSpPr>
        <p:spPr>
          <a:xfrm>
            <a:off x="6019200" y="1609600"/>
            <a:ext cx="1676400" cy="685800"/>
          </a:xfrm>
          <a:prstGeom prst="rect">
            <a:avLst/>
          </a:prstGeom>
          <a:solidFill>
            <a:srgbClr val="7B2D8B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RAG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Chain</a:t>
            </a:r>
          </a:p>
        </p:txBody>
      </p:sp>
      <p:sp>
        <p:nvSpPr>
          <p:cNvPr id="18" name="Arr4"/>
          <p:cNvSpPr/>
          <p:nvPr/>
        </p:nvSpPr>
        <p:spPr>
          <a:xfrm>
            <a:off x="7771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Flow5"/>
          <p:cNvSpPr/>
          <p:nvPr/>
        </p:nvSpPr>
        <p:spPr>
          <a:xfrm>
            <a:off x="8076600" y="1609600"/>
            <a:ext cx="1422400" cy="685800"/>
          </a:xfrm>
          <a:prstGeom prst="rect">
            <a:avLst/>
          </a:prstGeom>
          <a:solidFill>
            <a:srgbClr val="107C10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LLM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20" name="Arr5"/>
          <p:cNvSpPr/>
          <p:nvPr/>
        </p:nvSpPr>
        <p:spPr>
          <a:xfrm>
            <a:off x="9575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Flow6"/>
          <p:cNvSpPr/>
          <p:nvPr/>
        </p:nvSpPr>
        <p:spPr>
          <a:xfrm>
            <a:off x="9880200" y="1609600"/>
            <a:ext cx="1371600" cy="685800"/>
          </a:xfrm>
          <a:prstGeom prst="rect">
            <a:avLst/>
          </a:prstGeom>
          <a:solidFill>
            <a:srgbClr val="D83B01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User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Response</a:t>
            </a:r>
          </a:p>
        </p:txBody>
      </p:sp>
      <p:sp>
        <p:nvSpPr>
          <p:cNvPr id="22" name="EvalBand"/>
          <p:cNvSpPr/>
          <p:nvPr/>
        </p:nvSpPr>
        <p:spPr>
          <a:xfrm>
            <a:off x="338667" y="2362200"/>
            <a:ext cx="11514667" cy="243840"/>
          </a:xfrm>
          <a:prstGeom prst="rect">
            <a:avLst/>
          </a:prstGeom>
          <a:solidFill>
            <a:srgbClr val="FFF4CE"/>
          </a:solidFill>
          <a:ln w="19050">
            <a:solidFill>
              <a:srgbClr val="FF8C00"/>
            </a:solidFill>
          </a:ln>
        </p:spPr>
        <p:txBody>
          <a:bodyPr wrap="square" lIns="91440" tIns="30480" rIns="91440" bIns="30480" rtlCol="0" anchor="ctr"/>
          <a:lstStyle/>
          <a:p>
            <a:pPr algn="ctr" defTabSz="1219170"/>
            <a:r>
              <a:rPr lang="en-US" sz="1067" b="1" dirty="0">
                <a:solidFill>
                  <a:srgbClr val="C05C00"/>
                </a:solidFill>
                <a:latin typeface="Calibri" pitchFamily="34" charset="0"/>
              </a:rPr>
              <a:t>↻  Evaluation &amp; Monitoring loops continuously over all components (recall@k · groundedness · latency · cost)  ↻</a:t>
            </a:r>
          </a:p>
        </p:txBody>
      </p:sp>
      <p:sp>
        <p:nvSpPr>
          <p:cNvPr id="30" name="C1Bg"/>
          <p:cNvSpPr/>
          <p:nvPr/>
        </p:nvSpPr>
        <p:spPr>
          <a:xfrm>
            <a:off x="33866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1Bar"/>
          <p:cNvSpPr/>
          <p:nvPr/>
        </p:nvSpPr>
        <p:spPr>
          <a:xfrm>
            <a:off x="338667" y="2700240"/>
            <a:ext cx="2743200" cy="76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1Content"/>
          <p:cNvSpPr/>
          <p:nvPr/>
        </p:nvSpPr>
        <p:spPr>
          <a:xfrm>
            <a:off x="49026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Data Pipeline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Prepares raw sources into searchable, indexed assets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Parse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Chunk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Embed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Index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Sources: PDFs, wikis, tickets, code, tables, APIs</a:t>
            </a:r>
          </a:p>
        </p:txBody>
      </p:sp>
      <p:sp>
        <p:nvSpPr>
          <p:cNvPr id="40" name="C2Bg"/>
          <p:cNvSpPr/>
          <p:nvPr/>
        </p:nvSpPr>
        <p:spPr>
          <a:xfrm>
            <a:off x="317330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1" name="C2Bar"/>
          <p:cNvSpPr/>
          <p:nvPr/>
        </p:nvSpPr>
        <p:spPr>
          <a:xfrm>
            <a:off x="3173307" y="2700240"/>
            <a:ext cx="2743200" cy="76200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2" name="C2Content"/>
          <p:cNvSpPr/>
          <p:nvPr/>
        </p:nvSpPr>
        <p:spPr>
          <a:xfrm>
            <a:off x="332490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7B2D8B"/>
                </a:solidFill>
                <a:latin typeface="Calibri" pitchFamily="34" charset="0"/>
              </a:rPr>
              <a:t>RAG Chain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Query-time orchestration: retrieval through response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Query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Retrieve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Augment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Generate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Guardrails applied at each stage for safety</a:t>
            </a:r>
          </a:p>
        </p:txBody>
      </p:sp>
      <p:sp>
        <p:nvSpPr>
          <p:cNvPr id="50" name="C3Bg"/>
          <p:cNvSpPr/>
          <p:nvPr/>
        </p:nvSpPr>
        <p:spPr>
          <a:xfrm>
            <a:off x="600794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1" name="C3Bar"/>
          <p:cNvSpPr/>
          <p:nvPr/>
        </p:nvSpPr>
        <p:spPr>
          <a:xfrm>
            <a:off x="6007947" y="2700240"/>
            <a:ext cx="2743200" cy="7620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2" name="C3Content"/>
          <p:cNvSpPr/>
          <p:nvPr/>
        </p:nvSpPr>
        <p:spPr>
          <a:xfrm>
            <a:off x="615954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8C00"/>
                </a:solidFill>
                <a:latin typeface="Calibri" pitchFamily="34" charset="0"/>
              </a:rPr>
              <a:t>Eval &amp; Monitoring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Continuously assess quality, cost and latency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Retrieval: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recall@k, MRR, NDCG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Answer: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faithfulness, groundedness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Ops: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latency, token cost, error rate</a:t>
            </a:r>
          </a:p>
        </p:txBody>
      </p:sp>
      <p:sp>
        <p:nvSpPr>
          <p:cNvPr id="60" name="C4Bg"/>
          <p:cNvSpPr/>
          <p:nvPr/>
        </p:nvSpPr>
        <p:spPr>
          <a:xfrm>
            <a:off x="884258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1" name="C4Bar"/>
          <p:cNvSpPr/>
          <p:nvPr/>
        </p:nvSpPr>
        <p:spPr>
          <a:xfrm>
            <a:off x="8842587" y="2700240"/>
            <a:ext cx="2743200" cy="76200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2" name="C4Content"/>
          <p:cNvSpPr/>
          <p:nvPr/>
        </p:nvSpPr>
        <p:spPr>
          <a:xfrm>
            <a:off x="899418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Governance &amp; LLMOps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Lifecycle management across data, models and chains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Lineage: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data provenance &amp; versioning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Access: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controls &amp; permissions per user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Audit: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decision logs &amp; policy compliance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6174</TotalTime>
  <Words>4584</Words>
  <Application>Microsoft Office PowerPoint</Application>
  <PresentationFormat>Widescreen</PresentationFormat>
  <Paragraphs>638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Syam Satya</cp:lastModifiedBy>
  <cp:revision>20</cp:revision>
  <dcterms:created xsi:type="dcterms:W3CDTF">2026-04-14T04:26:27Z</dcterms:created>
  <dcterms:modified xsi:type="dcterms:W3CDTF">2026-04-22T04:13:32Z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ba39d-4745-4e9d-97db-0c1927b54242_Enabled">
    <vt:lpwstr>true</vt:lpwstr>
  </property>
  <property fmtid="{D5CDD505-2E9C-101B-9397-08002B2CF9AE}" pid="3" name="MSIP_Label_71bba39d-4745-4e9d-97db-0c1927b54242_SetDate">
    <vt:lpwstr>2026-04-21T05:45:13Z</vt:lpwstr>
  </property>
  <property fmtid="{D5CDD505-2E9C-101B-9397-08002B2CF9AE}" pid="4" name="MSIP_Label_71bba39d-4745-4e9d-97db-0c1927b54242_Method">
    <vt:lpwstr>Privileged</vt:lpwstr>
  </property>
  <property fmtid="{D5CDD505-2E9C-101B-9397-08002B2CF9AE}" pid="5" name="MSIP_Label_71bba39d-4745-4e9d-97db-0c1927b54242_Name">
    <vt:lpwstr>Internal</vt:lpwstr>
  </property>
  <property fmtid="{D5CDD505-2E9C-101B-9397-08002B2CF9AE}" pid="6" name="MSIP_Label_71bba39d-4745-4e9d-97db-0c1927b54242_SiteId">
    <vt:lpwstr>05d75c05-fa1a-42e7-9cf1-eb416c396f2d</vt:lpwstr>
  </property>
  <property fmtid="{D5CDD505-2E9C-101B-9397-08002B2CF9AE}" pid="7" name="MSIP_Label_71bba39d-4745-4e9d-97db-0c1927b54242_ActionId">
    <vt:lpwstr>06c72246-e3a8-4b8f-afc6-bfcf41b6e319</vt:lpwstr>
  </property>
  <property fmtid="{D5CDD505-2E9C-101B-9397-08002B2CF9AE}" pid="8" name="MSIP_Label_71bba39d-4745-4e9d-97db-0c1927b54242_ContentBits">
    <vt:lpwstr>2</vt:lpwstr>
  </property>
  <property fmtid="{D5CDD505-2E9C-101B-9397-08002B2CF9AE}" pid="9" name="MSIP_Label_71bba39d-4745-4e9d-97db-0c1927b54242_Tag">
    <vt:lpwstr>10, 0, 1, 1</vt:lpwstr>
  </property>
  <property fmtid="{D5CDD505-2E9C-101B-9397-08002B2CF9AE}" pid="10" name="ClassificationContentMarkingFooterLocations">
    <vt:lpwstr>1_Office Theme:3\Office Theme:8</vt:lpwstr>
  </property>
  <property fmtid="{D5CDD505-2E9C-101B-9397-08002B2CF9AE}" pid="11" name="ClassificationContentMarkingFooterText">
    <vt:lpwstr>Classification: Internal</vt:lpwstr>
  </property>
</Properties>
</file>